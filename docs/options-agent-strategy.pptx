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2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F"/>
                </a:solidFill>
                <a:latin typeface="Cambria"/>
              </a:defRPr>
            </a:pPr>
            <a:r>
              <a:rPr sz="1300" b="0" i="0" u="none" strike="noStrike">
                <a:solidFill>
                  <a:srgbClr val="16202F"/>
                </a:solidFill>
                <a:latin typeface="Cambria"/>
              </a:rPr>
              <a:t>Net P&amp;L by book (USD)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Net P&amp;L</c:v>
                </c:pt>
              </c:strCache>
            </c:strRef>
          </c:tx>
          <c:spPr>
            <a:solidFill>
              <a:srgbClr val="2FBF71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620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FBF7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5484D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vol_carry</c:v>
                  </c:pt>
                  <c:pt idx="1">
                    <c:v>intraday_momentum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18782</c:v>
                </c:pt>
                <c:pt idx="1">
                  <c:v>-5018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620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77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4E8EF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77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Rejections</c:v>
                </c:pt>
              </c:strCache>
            </c:strRef>
          </c:tx>
          <c:spPr>
            <a:solidFill>
              <a:srgbClr val="1B2A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620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Sheet1!$A$2:$A$15</c:f>
              <c:multiLvlStrCache>
                <c:ptCount val="14"/>
                <c:lvl>
                  <c:pt idx="0">
                    <c:v>premium</c:v>
                  </c:pt>
                  <c:pt idx="1">
                    <c:v>time_of_day</c:v>
                  </c:pt>
                  <c:pt idx="2">
                    <c:v>spread</c:v>
                  </c:pt>
                  <c:pt idx="3">
                    <c:v>trend</c:v>
                  </c:pt>
                  <c:pt idx="4">
                    <c:v>scheduled_event</c:v>
                  </c:pt>
                  <c:pt idx="5">
                    <c:v>structure</c:v>
                  </c:pt>
                  <c:pt idx="6">
                    <c:v>momentum</c:v>
                  </c:pt>
                  <c:pt idx="7">
                    <c:v>concentration</c:v>
                  </c:pt>
                  <c:pt idx="8">
                    <c:v>selection</c:v>
                  </c:pt>
                  <c:pt idx="9">
                    <c:v>duplicate_structure</c:v>
                  </c:pt>
                  <c:pt idx="10">
                    <c:v>reentry_cooldown</c:v>
                  </c:pt>
                  <c:pt idx="11">
                    <c:v>confirmation</c:v>
                  </c:pt>
                  <c:pt idx="12">
                    <c:v>max_positions</c:v>
                  </c:pt>
                  <c:pt idx="13">
                    <c:v>critic</c:v>
                  </c:pt>
                </c:lvl>
              </c:multiLvlStrCache>
            </c:multiLvl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15334</c:v>
                </c:pt>
                <c:pt idx="1">
                  <c:v>12199</c:v>
                </c:pt>
                <c:pt idx="2">
                  <c:v>10184</c:v>
                </c:pt>
                <c:pt idx="3">
                  <c:v>9504</c:v>
                </c:pt>
                <c:pt idx="4">
                  <c:v>5918</c:v>
                </c:pt>
                <c:pt idx="5">
                  <c:v>5284</c:v>
                </c:pt>
                <c:pt idx="6">
                  <c:v>2811</c:v>
                </c:pt>
                <c:pt idx="7">
                  <c:v>2788</c:v>
                </c:pt>
                <c:pt idx="8">
                  <c:v>2210</c:v>
                </c:pt>
                <c:pt idx="9">
                  <c:v>1768</c:v>
                </c:pt>
                <c:pt idx="10">
                  <c:v>1725</c:v>
                </c:pt>
                <c:pt idx="11">
                  <c:v>1181</c:v>
                </c:pt>
                <c:pt idx="12">
                  <c:v>972</c:v>
                </c:pt>
                <c:pt idx="13">
                  <c:v>811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620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620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E4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77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headline number is the combined book on real bars. Both strategies are shown separately later - the carry book carries it and the intraday book loses money. That is stated deliberately.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bug worth mentioning out loud: demoting the catalyst to a vote exposed that CatalystEngine.gate() returned OK immediately when required=False, before measuring anything. The catalyst had been deleted from the decision, not demoted.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dossier is evidence, never authority: Dossier.lean() is journalled but never enforced, so a week of bearish notes ending in a bullish call is logged as the disagreement it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-1463040"/>
            <a:ext cx="5120640" cy="5120640"/>
          </a:xfrm>
          <a:prstGeom prst="ellipse">
            <a:avLst/>
          </a:prstGeom>
          <a:solidFill>
            <a:srgbClr val="1B2A45"/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4206240"/>
            <a:ext cx="2926080" cy="2926080"/>
          </a:xfrm>
          <a:prstGeom prst="ellipse">
            <a:avLst/>
          </a:prstGeom>
          <a:solidFill>
            <a:srgbClr val="1B2A4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417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 AGENT · ALPACA HACKATHON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74520"/>
            <a:ext cx="8595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books,</a:t>
            </a:r>
            <a:endParaRPr lang="en-US" sz="52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pipeline.</a:t>
            </a:r>
            <a:endParaRPr lang="en-US" sz="5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88620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short-volatility carry book, a long-gamma intraday book and an LLM-driven earnings book — run through one gated decision pipeline in which no model is allowed to approve a trade.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0749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+13.8%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5778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months, carry + intraday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00400" y="50749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2.42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3200400" y="55778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577840" y="50749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-3.6%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5577840" y="55778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drawdown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50749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5.1%</a:t>
            </a:r>
            <a:endParaRPr lang="en-US" sz="2700" dirty="0"/>
          </a:p>
        </p:txBody>
      </p:sp>
      <p:sp>
        <p:nvSpPr>
          <p:cNvPr id="14" name="Text 12"/>
          <p:cNvSpPr txBox="1"/>
          <p:nvPr/>
        </p:nvSpPr>
        <p:spPr>
          <a:xfrm>
            <a:off x="7955280" y="55778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ideas approved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6172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Backtested on real Alpaca bars, Feb–Aug 2026 · 441 closed trades · costs and spread charged inside every fill. The events book has no usable backtest and says so.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14630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THESIS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bets that fail in different weather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070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Uncorrelated in signal, opposite in volatility exposure, and only one of them needs a market condition to occur. A dry week for one is not a dry week for the account.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502152" cy="4480560"/>
          </a:xfrm>
          <a:prstGeom prst="roundRect">
            <a:avLst>
              <a:gd name="adj" fmla="val 1567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1938528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1938528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286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vol_carry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633472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i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Options are priced for more movement than actually happens.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493008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349300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 movement, paid up front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950208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645920" y="395020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 condor, 25Δ, 7–14 DTE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4407408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Wants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645920" y="440740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happen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4864608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645920" y="486460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3–10 sessions, overnight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5321808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645920" y="532180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IV − RV spread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68680" y="5779008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645920" y="577900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gamma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325112" y="1737360"/>
            <a:ext cx="3502152" cy="4480560"/>
          </a:xfrm>
          <a:prstGeom prst="roundRect">
            <a:avLst>
              <a:gd name="adj" fmla="val 1567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53712" y="1938528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53712" y="1938528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INTRADAY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553712" y="2286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intraday_momentum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4553712" y="2633472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i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move with a mechanism behind it keeps going for a while.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4553712" y="3493008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330952" y="349300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the continuation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553712" y="3950208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330952" y="395020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0–2 DTE, or a vertical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4553712" y="4407408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Wants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5330952" y="440740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to happen, fast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553712" y="4864608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5330952" y="486460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Minutes, flat by 15:10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4553712" y="5321808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5330952" y="532180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Directional continuation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4553712" y="5779008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5330952" y="577900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cost, signal decay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8010144" y="1737360"/>
            <a:ext cx="3502152" cy="4480560"/>
          </a:xfrm>
          <a:prstGeom prst="roundRect">
            <a:avLst>
              <a:gd name="adj" fmla="val 1567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38744" y="1938528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238744" y="1938528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8238744" y="2286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earnings_event_directional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8238744" y="2633472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i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scheduled print is an event the option market has to price.</a:t>
            </a:r>
            <a:endParaRPr lang="en-US" sz="1350" dirty="0"/>
          </a:p>
        </p:txBody>
      </p:sp>
      <p:sp>
        <p:nvSpPr>
          <p:cNvPr id="44" name="Text 42"/>
          <p:cNvSpPr txBox="1"/>
          <p:nvPr/>
        </p:nvSpPr>
        <p:spPr>
          <a:xfrm>
            <a:off x="8238744" y="3493008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9015984" y="349300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 the mispriced move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8238744" y="3950208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9015984" y="395020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Condor if rich, vertical if cheap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8238744" y="4407408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Wants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9015984" y="440740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priced move to be wrong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8238744" y="4864608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9015984" y="486460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night, flat by 09:45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8238744" y="5321808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9015984" y="532180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Implied vs realised reaction</a:t>
            </a:r>
            <a:endParaRPr lang="en-US" sz="1100" dirty="0"/>
          </a:p>
        </p:txBody>
      </p:sp>
      <p:sp>
        <p:nvSpPr>
          <p:cNvPr id="54" name="Text 52"/>
          <p:cNvSpPr txBox="1"/>
          <p:nvPr/>
        </p:nvSpPr>
        <p:spPr>
          <a:xfrm>
            <a:off x="8238744" y="5779008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9015984" y="577900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— bounded by structure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640080" y="6236208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and intraday share one pool of capital, so a firewall — not politeness — keeps them apart. The events book leases none of it and is bounded by size instead.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14630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BOOK · VOL_CARRY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hard gates, then economics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070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gates, not a blended score. A score would let a rich IV reading paper over an earnings date — the one trade this book must never take.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881360" cy="932688"/>
          </a:xfrm>
          <a:prstGeom prst="roundRect">
            <a:avLst>
              <a:gd name="adj" fmla="val 5882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6112" y="2057400"/>
            <a:ext cx="384048" cy="384048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19110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Premium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2402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BF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 rank ≥ 0.35  AND  IV − RV ≥ 3 vol points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0" y="1929384"/>
            <a:ext cx="5349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says vol is high for this name. The spread says you are paid more than it has actually been moving. The spread is the edge; the rank is only a regime filter.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2843784"/>
            <a:ext cx="10881360" cy="932688"/>
          </a:xfrm>
          <a:prstGeom prst="roundRect">
            <a:avLst>
              <a:gd name="adj" fmla="val 5882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96112" y="3118104"/>
            <a:ext cx="384048" cy="384048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96112" y="3118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29718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Trend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30098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BF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ADX ≤ 25  and  |trend strength| ≤ 0.60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0" y="2990088"/>
            <a:ext cx="5349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premium is short movement. A name that is going somewhere is disqualified before anything else is measured.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904488"/>
            <a:ext cx="10881360" cy="932688"/>
          </a:xfrm>
          <a:prstGeom prst="roundRect">
            <a:avLst>
              <a:gd name="adj" fmla="val 5882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96112" y="4178808"/>
            <a:ext cx="384048" cy="384048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403250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43616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BF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earnings in the expiry window · no ex-div under a short call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4050792"/>
            <a:ext cx="5349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before earnings is elevated because of the event. Selling it is selling a coin flip at fair odds.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" y="4965192"/>
            <a:ext cx="10881360" cy="932688"/>
          </a:xfrm>
          <a:prstGeom prst="roundRect">
            <a:avLst>
              <a:gd name="adj" fmla="val 5882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96112" y="5239512"/>
            <a:ext cx="384048" cy="384048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96112" y="5239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463040" y="509320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Macro lens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1463040" y="542239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BF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Sector-wide vol → sell.  Idiosyncratic → veto.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943600" y="5111496"/>
            <a:ext cx="5349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shared move has no single headline behind it. A name-specific one does, and a short condor has no defence against the next one.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6053328"/>
            <a:ext cx="10881360" cy="603504"/>
          </a:xfrm>
          <a:prstGeom prst="roundRect">
            <a:avLst>
              <a:gd name="adj" fmla="val 9091"/>
            </a:avLst>
          </a:prstGeom>
          <a:solidFill>
            <a:srgbClr val="0F1A2E"/>
          </a:solidFill>
          <a:ln w="12700">
            <a:solidFill>
              <a:srgbClr val="0F1A2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4400" y="6053328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cost gate: 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round-trip spread ≤ 20% of the credit received</a:t>
            </a:r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 four-leg condor crosses eight half-spreads on a round trip, so this is most of the P&amp;L, not a nicety.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14630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BOOK · EXITS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exit pair sets the hit rate you need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070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Breakeven hit rate  =  stop ÷ (target + stop).  It is arithmetic, and it is decided before any trade is taken.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12080" cy="2148840"/>
          </a:xfrm>
          <a:prstGeom prst="roundRect">
            <a:avLst>
              <a:gd name="adj" fmla="val 2553"/>
            </a:avLst>
          </a:prstGeom>
          <a:solidFill>
            <a:srgbClr val="0F1A2E"/>
          </a:solidFill>
          <a:ln w="12700">
            <a:solidFill>
              <a:srgbClr val="0F1A2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19659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Old:  30% target / 2.0× stop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2860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87.0%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651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needed, before any spread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0632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 win rate was 88%. One point of margin — and the 20% cost ceiling implied 95.7%, so the gate was admitting trades the arithmetic said would lose.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309360" y="1783080"/>
            <a:ext cx="5212080" cy="2148840"/>
          </a:xfrm>
          <a:prstGeom prst="roundRect">
            <a:avLst>
              <a:gd name="adj" fmla="val 2553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29400" y="19659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Now:  50% target / 1.5× stop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629400" y="22860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FBF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75.0%</a:t>
            </a:r>
            <a:endParaRPr lang="en-US" sz="48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0" y="2651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needed, before any spread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30632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20% cost ceiling now implies 85% — three points of margin. Same gate, opposite meaning, because the exits changed underneath it.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Checked in this order, every cycle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526280"/>
            <a:ext cx="3474720" cy="603504"/>
          </a:xfrm>
          <a:prstGeom prst="roundRect">
            <a:avLst>
              <a:gd name="adj" fmla="val 9091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5720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$450 hard dollar stop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8463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first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97680" y="4526280"/>
            <a:ext cx="3474720" cy="603504"/>
          </a:xfrm>
          <a:prstGeom prst="roundRect">
            <a:avLst>
              <a:gd name="adj" fmla="val 9091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480560" y="45720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of max profit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480560" y="48463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955280" y="4526280"/>
            <a:ext cx="3474720" cy="603504"/>
          </a:xfrm>
          <a:prstGeom prst="roundRect">
            <a:avLst>
              <a:gd name="adj" fmla="val 9091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138160" y="45720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= 1.5× credit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8138160" y="48463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5239512"/>
            <a:ext cx="3474720" cy="603504"/>
          </a:xfrm>
          <a:prstGeom prst="roundRect">
            <a:avLst>
              <a:gd name="adj" fmla="val 9091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2960" y="528523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DTE floor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822960" y="555955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regardless of P&amp;L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297680" y="5239512"/>
            <a:ext cx="3474720" cy="603504"/>
          </a:xfrm>
          <a:prstGeom prst="roundRect">
            <a:avLst>
              <a:gd name="adj" fmla="val 9091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480560" y="528523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strike touched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4480560" y="555955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tested side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955280" y="5239512"/>
            <a:ext cx="3474720" cy="603504"/>
          </a:xfrm>
          <a:prstGeom prst="roundRect">
            <a:avLst>
              <a:gd name="adj" fmla="val 9091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138160" y="528523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flag / flatten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8138160" y="555955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at next open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60350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dollar stop was $900 and never fired: the six largest losses were $780–868, all sitting just underneath it, and every one exited on the DTE floor instead — which realises whatever has accumulated rather than capping it. A stop set above the loss distribution is decoration.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14630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INTRADAY BOOK · INTRADAY_MOMENTUM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indicators, three different questions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070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VWAP has an opinion on direction, so the other two cannot quietly agree with it and call that confluence.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6949440" cy="1078992"/>
          </a:xfrm>
          <a:prstGeom prst="roundRect">
            <a:avLst>
              <a:gd name="adj" fmla="val 5085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084832"/>
            <a:ext cx="475488" cy="47548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600200" y="1929384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VWAP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196596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2258568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VWAP cross, or price on the band within 2.0× the session's usual dispersion. Searched over the last 15 one-minute bars — exactly one polling gap, so a cross cannot fall between two cycles unseen.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2990088"/>
            <a:ext cx="6949440" cy="1078992"/>
          </a:xfrm>
          <a:prstGeom prst="roundRect">
            <a:avLst>
              <a:gd name="adj" fmla="val 5085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291840"/>
            <a:ext cx="475488" cy="475488"/>
          </a:xfrm>
          <a:prstGeom prst="ellipse">
            <a:avLst/>
          </a:prstGeom>
          <a:solidFill>
            <a:srgbClr val="4C8DF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600200" y="313639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Bollinger width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317296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4C8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3465576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Width, not position. Position is a mean-reversion signal and would fight VWAP on every candidate. Width asks one thing: is the volatility regime expanding?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4197096"/>
            <a:ext cx="6949440" cy="1078992"/>
          </a:xfrm>
          <a:prstGeom prst="roundRect">
            <a:avLst>
              <a:gd name="adj" fmla="val 5085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498848"/>
            <a:ext cx="475488" cy="475488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600200" y="43434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RSI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526280" y="437997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VETO ONLY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600200" y="4672584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One-sided, at 80/20 rather than 70/30. Strong momentum carries elevated RSI for long stretches, so a tight threshold rejects exactly the trades this book exists to take.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863840" y="1783080"/>
            <a:ext cx="3657600" cy="3529584"/>
          </a:xfrm>
          <a:prstGeom prst="roundRect">
            <a:avLst>
              <a:gd name="adj" fmla="val 1554"/>
            </a:avLst>
          </a:prstGeom>
          <a:solidFill>
            <a:srgbClr val="0F1A2E"/>
          </a:solidFill>
          <a:ln w="12700">
            <a:solidFill>
              <a:srgbClr val="0F1A2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83880" y="19659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non-generic layer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8183880" y="23774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VWAP cross with no reason behind it is drift, and drift reverts. A cross with a mechanism persists.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183880" y="31546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Catalyst score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183880" y="34747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0" y="34747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183880" y="380390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Breadth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515600" y="380390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0.35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183880" y="41330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participation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515600" y="413308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0.15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183880" y="45262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Rank-normalised within each source before the weights are applied — raw units across sources are not comparable. Deterministic by default: an LLM call inside a loop whose signal decays in minutes is a latency risk.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40080" y="5440680"/>
            <a:ext cx="10881360" cy="1143000"/>
          </a:xfrm>
          <a:prstGeom prst="roundRect">
            <a:avLst>
              <a:gd name="adj" fmla="val 48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14400" y="555955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Hard, always: the spread gate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914400" y="5870448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548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(ask − bid) / mid ≤ 4%   and   round-trip spread ≤ 30% of target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6766560" y="5559552"/>
            <a:ext cx="4526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profit is $10–30 on a $2.00 contract. A $0.10-wide single-name quote costs $20 round trip — the whole target. Index ETFs only; the ceiling was 2% until measurement showed the tightest quote in the universe was 2.84%, so the gate was rejecting the market rather than selecting within it.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14630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INTRADAY BOOK · THE DESIGN DECISION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vetoes in a row is not a strategy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070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gate passed roughly 70% of candidates. Stacked as hard vetoes, that is 0.7⁸ ≈ 6% — a book arithmetically designed almost never to fire.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029200" cy="2286000"/>
          </a:xfrm>
          <a:prstGeom prst="roundRect">
            <a:avLst>
              <a:gd name="adj" fmla="val 2400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19659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over 864 candidates, 9 sessions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2860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424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2743200" y="2606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died on the volume gate alone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01752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31089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survived the whole chain. Loosening any one gate simply promoted the next one to being the wall.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0" y="1783080"/>
            <a:ext cx="5577840" cy="2286000"/>
          </a:xfrm>
          <a:prstGeom prst="roundRect">
            <a:avLst>
              <a:gd name="adj" fmla="val 2400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63640" y="19659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fix: two hard gates, everything else votes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263640" y="23774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VWAP trigger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001000" y="23774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stays HARD — it decides direction. Without it there is no trade to make.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29260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gate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001000" y="29260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stays HARD — it is economics, not evidence.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34747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001000" y="34747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votes. Three of the available votes must agree.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2976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seven voters — each asks a question the others cannot answer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4663440"/>
            <a:ext cx="2606040" cy="749808"/>
          </a:xfrm>
          <a:prstGeom prst="roundRect">
            <a:avLst>
              <a:gd name="adj" fmla="val 7317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47365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z ≥ 0.5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501091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same time-of-day bucket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410712" y="4663440"/>
            <a:ext cx="2606040" cy="749808"/>
          </a:xfrm>
          <a:prstGeom prst="roundRect">
            <a:avLst>
              <a:gd name="adj" fmla="val 7317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593592" y="47365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3593592" y="501091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bars — not a single-bar spike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181344" y="4663440"/>
            <a:ext cx="2606040" cy="749808"/>
          </a:xfrm>
          <a:prstGeom prst="roundRect">
            <a:avLst>
              <a:gd name="adj" fmla="val 7317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364224" y="47365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 width rising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364224" y="501091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regime expanding?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951976" y="4663440"/>
            <a:ext cx="2606040" cy="749808"/>
          </a:xfrm>
          <a:prstGeom prst="roundRect">
            <a:avLst>
              <a:gd name="adj" fmla="val 7317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34856" y="47365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timeframe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9134856" y="501091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hour with us or against?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532120"/>
            <a:ext cx="2606040" cy="749808"/>
          </a:xfrm>
          <a:prstGeom prst="roundRect">
            <a:avLst>
              <a:gd name="adj" fmla="val 7317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2960" y="56052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structure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822960" y="587959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surface expect anything?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10712" y="5532120"/>
            <a:ext cx="2606040" cy="749808"/>
          </a:xfrm>
          <a:prstGeom prst="roundRect">
            <a:avLst>
              <a:gd name="adj" fmla="val 7317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593592" y="56052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3593592" y="587959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we buying exhaustion?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181344" y="5532120"/>
            <a:ext cx="2606040" cy="749808"/>
          </a:xfrm>
          <a:prstGeom prst="roundRect">
            <a:avLst>
              <a:gd name="adj" fmla="val 7317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364224" y="56052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Catalyst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6364224" y="587959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 mechanism?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8951976" y="5532120"/>
            <a:ext cx="2606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“Unmeasurable” is not “failed”: needed = min(3, possible), so a vote that cannot be evaluated raises neither side and costs a candidate nothing.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14630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BOOK · EARNINGS_EVENT_DIRECTIONAL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only book whose gate opens on a date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070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two wait for a market condition to cross a threshold, and the recurring failure is that it never crosses. Broadcom reports on 2 September whether or not any indicator agrees.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12080" cy="1965960"/>
          </a:xfrm>
          <a:prstGeom prst="roundRect">
            <a:avLst>
              <a:gd name="adj" fmla="val 2791"/>
            </a:avLst>
          </a:prstGeom>
          <a:solidFill>
            <a:srgbClr val="0F1A2E"/>
          </a:solidFill>
          <a:ln w="12700">
            <a:solidFill>
              <a:srgbClr val="0F1A2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193852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measured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30428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implied move  ÷  median |reaction|, last 4 prints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6974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a volatility reading — how far the option market's priced move for this print sits from what the name actually does when it reports. It is a ranking device, not an edge estimate: four quarters per name is not a sample you can walk forward.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309360" y="1783080"/>
            <a:ext cx="5212080" cy="1965960"/>
          </a:xfrm>
          <a:prstGeom prst="roundRect">
            <a:avLst>
              <a:gd name="adj" fmla="val 2791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29400" y="193852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 gates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233172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Implied move ≥ 3%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23500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that, no event is priced in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267919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 spread ≤ 25%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binding gate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629400" y="302666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Expiry contains the print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9052560" y="30449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expensive mistake available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629400" y="337413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names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9052560" y="339242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night's risk budget, shared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3977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proposes. A file confirms.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640080" y="4389120"/>
            <a:ext cx="10881360" cy="1234440"/>
          </a:xfrm>
          <a:prstGeom prst="roundRect">
            <a:avLst>
              <a:gd name="adj" fmla="val 4444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" y="452628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Featherless serves open-weight models whose weights were frozen months ago. Asked to list next week's reporters, one answers fluently and sometimes wrongly — and a wrong date is not a bad trade, it is a position opened against no event at all. So the model only proposes candidates; config/events/earnings_calendar.json confirms every one of them. Anything unverified is logged and never armed.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869680" y="45720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548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CPRT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8869680" y="4919472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ships with confirmed: false because Copart had not announced its date. It will not trade.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605332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 is bounded three ways instead of by the firewall: 1.2% per name · 4% shared across everything opened that night · 10 contracts absolute, a ceiling that does not scale with equity.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14630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BOOK · WHERE THE MODEL EARNS ITS KEEP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the name for days, not for one minute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070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information that decides a print does not arrive in a single window. A snapshot sees the last item on the wire and calls it the picture.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2084832" cy="2148840"/>
          </a:xfrm>
          <a:prstGeom prst="roundRect">
            <a:avLst>
              <a:gd name="adj" fmla="val 2632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965960"/>
            <a:ext cx="384048" cy="384048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5059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944368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Hourly, 04:00–16:00 ET, from three days before a confirmed report. Alpaca news plus StockTwits.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852928" y="1783080"/>
            <a:ext cx="2084832" cy="2148840"/>
          </a:xfrm>
          <a:prstGeom prst="roundRect">
            <a:avLst>
              <a:gd name="adj" fmla="val 2632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35808" y="1965960"/>
            <a:ext cx="384048" cy="384048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035808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035808" y="245059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Deduplicate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3035808" y="2944368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item already read is discarded — keyed by a hash of its timestamp and text.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65776" y="1783080"/>
            <a:ext cx="2084832" cy="2148840"/>
          </a:xfrm>
          <a:prstGeom prst="roundRect">
            <a:avLst>
              <a:gd name="adj" fmla="val 2632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248656" y="1965960"/>
            <a:ext cx="384048" cy="384048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24865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248656" y="245059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new?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248656" y="2944368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Stop. No model call, no note, no tokens. A quiet name is a real state and is reported as one.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278624" y="1783080"/>
            <a:ext cx="2084832" cy="2148840"/>
          </a:xfrm>
          <a:prstGeom prst="roundRect">
            <a:avLst>
              <a:gd name="adj" fmla="val 2632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61504" y="1965960"/>
            <a:ext cx="384048" cy="384048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461504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461504" y="245059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the new items only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7461504" y="2944368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narrow question: is this material to how the stock trades on the print, and which way does it point?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491472" y="1783080"/>
            <a:ext cx="2084832" cy="2148840"/>
          </a:xfrm>
          <a:prstGeom prst="roundRect">
            <a:avLst>
              <a:gd name="adj" fmla="val 2632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674352" y="1965960"/>
            <a:ext cx="384048" cy="384048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674352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9674352" y="245059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or drop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9674352" y="2944368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as a dated note if salience ≥ 0.35. Aged out at 10 days, capped at 40.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406908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stops at the print. The day after a name reports its dossier is retired — post-print commentary left in a live dossier would be read by a later cycle as pre-print evidence, which is the most expensive kind of quiet error this book can make.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40080" y="4498848"/>
            <a:ext cx="5212080" cy="1920240"/>
          </a:xfrm>
          <a:prstGeom prst="roundRect">
            <a:avLst>
              <a:gd name="adj" fmla="val 2857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60120" y="464515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roles, two models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960120" y="50292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triage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2560320" y="50292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~40 calls/day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931920" y="50292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Qwen3-8B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960120" y="54864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call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2560320" y="54864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per name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3931920" y="54864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Qwen3-32B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960120" y="59436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triage is narrow, schema-bound and usually right to say “immaterial”. Running the big model on it spends the direction call's budget on noise.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309360" y="4498848"/>
            <a:ext cx="5120640" cy="1920240"/>
          </a:xfrm>
          <a:prstGeom prst="roundRect">
            <a:avLst>
              <a:gd name="adj" fmla="val 2857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629400" y="464515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bounds the model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6629400" y="501091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floor 0.55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8915400" y="501091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it sets the size, so a marginal call trades small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6629400" y="5358384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required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915400" y="535838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confident call citing nothing is a guess with a number attached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6629400" y="5705856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Abstention rate journalled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8915400" y="570585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abstentions logs a warning — a model that never declines is not filtering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6629400" y="605332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is untrusted text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8915400" y="60533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fenced, stripped, truncated, parsed to a fixed schema, every field clamped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14630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BOOK · THE CORRECTION THAT MATTERED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measured volatility and traded direction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070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directional structure bought at a fair-to-rich implied move, on a direction call no better than a coin flip, returns minus the round trip in expectation. That is arithmetic, not a sample-size problem.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3474720" cy="1783080"/>
          </a:xfrm>
          <a:prstGeom prst="roundRect">
            <a:avLst>
              <a:gd name="adj" fmla="val 3077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9659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FBF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≥ 1.35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2834640" y="208483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4688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Iron condor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852928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shorts placed OUTSIDE the implied move. The edge is the overpricing itself.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97680" y="1783080"/>
            <a:ext cx="3474720" cy="1783080"/>
          </a:xfrm>
          <a:prstGeom prst="roundRect">
            <a:avLst>
              <a:gd name="adj" fmla="val 3077"/>
            </a:avLst>
          </a:prstGeom>
          <a:solidFill>
            <a:srgbClr val="EDF0F5"/>
          </a:solidFill>
          <a:ln w="12700">
            <a:solidFill>
              <a:srgbClr val="EDF0F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26280" y="19659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A67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0.80 – 1.35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208483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24688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trade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26280" y="2852928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measurable mispricing here. This band is where the book used to do ALL of its trading.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955280" y="1783080"/>
            <a:ext cx="3474720" cy="1783080"/>
          </a:xfrm>
          <a:prstGeom prst="roundRect">
            <a:avLst>
              <a:gd name="adj" fmla="val 3077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183880" y="19659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≤ 0.80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0" y="208483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183880" y="24688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Debit vertical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183880" y="2852928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called direction. The edge is the underpricing.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3730752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implied move ÷ realised reaction  ·  thresholds sit well clear of 1.0 because the ratio is computed off four prints — a name at 1.10 is inside its own sampling error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206240"/>
            <a:ext cx="5120640" cy="2103120"/>
          </a:xfrm>
          <a:prstGeom prst="roundRect">
            <a:avLst>
              <a:gd name="adj" fmla="val 2609"/>
            </a:avLst>
          </a:prstGeom>
          <a:solidFill>
            <a:srgbClr val="0F1A2E"/>
          </a:solidFill>
          <a:ln w="12700">
            <a:solidFill>
              <a:srgbClr val="0F1A2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60120" y="437083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Strikes by distance, not delta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960120" y="471830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shorts at  spot ± 1.0 × implied move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60120" y="5074920"/>
            <a:ext cx="4480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front-weekly surface across a print is too deformed for delta to stand in for distance: a 16-delta strike lands inside or outside the priced move depending only on how the wings are skewed. Where the shorts sit relative to that move IS the thesis — so a coarse strike ladder that snaps one back inside is declined, not quietly downgraded.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309360" y="4206240"/>
            <a:ext cx="5120640" cy="2103120"/>
          </a:xfrm>
          <a:prstGeom prst="roundRect">
            <a:avLst>
              <a:gd name="adj" fmla="val 2609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29400" y="437083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direction call is now a tilt, not the thesis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629400" y="4736592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picks the side of the debit vertical, and on the condor it pushes the threatened short further out — never pulls the other one in, because collecting more premium by moving a short inside the implied move surrenders the one property the structure is built on.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629400" y="5669280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i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honest backtest made the point in one trade: 22 ideas, 1 approved, full defined risk lost on DG. The structure was doing exactly what it was built to do.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14630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pipeline. Nothing but the risk engine can approve.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070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live agent and the replay run the same ordered stages, from the same objects. A backtest that skips a stage is a backtest of a different system.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3474720" cy="1691640"/>
          </a:xfrm>
          <a:prstGeom prst="roundRect">
            <a:avLst>
              <a:gd name="adj" fmla="val 3243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011680"/>
            <a:ext cx="384048" cy="384048"/>
          </a:xfrm>
          <a:prstGeom prst="ellipse">
            <a:avLst/>
          </a:prstGeom>
          <a:solidFill>
            <a:srgbClr val="0F1A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02082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Strategy gates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496312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a TradeIdea, or a rejection carrying the gate and the number that stopped it.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97680" y="1783080"/>
            <a:ext cx="3474720" cy="1691640"/>
          </a:xfrm>
          <a:prstGeom prst="roundRect">
            <a:avLst>
              <a:gd name="adj" fmla="val 3243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26280" y="2011680"/>
            <a:ext cx="384048" cy="384048"/>
          </a:xfrm>
          <a:prstGeom prst="ellipse">
            <a:avLst/>
          </a:prstGeom>
          <a:solidFill>
            <a:srgbClr val="0F1A2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2628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0" y="202082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Modelled cost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26280" y="2496312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round-trip estimate attached before anything judges it — so even a rejection carries what it would have cost.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955280" y="1783080"/>
            <a:ext cx="3474720" cy="1691640"/>
          </a:xfrm>
          <a:prstGeom prst="roundRect">
            <a:avLst>
              <a:gd name="adj" fmla="val 3243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83880" y="2011680"/>
            <a:ext cx="384048" cy="384048"/>
          </a:xfrm>
          <a:prstGeom prst="ellipse">
            <a:avLst/>
          </a:prstGeom>
          <a:solidFill>
            <a:srgbClr val="0F1A2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8388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0" y="202082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Critic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183880" y="2496312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and writes reasoning. It can decline. It cannot approve.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3657600"/>
            <a:ext cx="3474720" cy="1691640"/>
          </a:xfrm>
          <a:prstGeom prst="roundRect">
            <a:avLst>
              <a:gd name="adj" fmla="val 3243"/>
            </a:avLst>
          </a:prstGeom>
          <a:solidFill>
            <a:srgbClr val="0F1A2E"/>
          </a:solidFill>
          <a:ln w="12700">
            <a:solidFill>
              <a:srgbClr val="0F1A2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" y="388620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6868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389534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engine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68680" y="4370832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approver. Fifteen deterministic checks, then a signed stamp.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297680" y="3657600"/>
            <a:ext cx="3474720" cy="1691640"/>
          </a:xfrm>
          <a:prstGeom prst="roundRect">
            <a:avLst>
              <a:gd name="adj" fmla="val 3243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26280" y="3886200"/>
            <a:ext cx="384048" cy="384048"/>
          </a:xfrm>
          <a:prstGeom prst="ellipse">
            <a:avLst/>
          </a:prstGeom>
          <a:solidFill>
            <a:srgbClr val="0F1A2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52628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5029200" y="389534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Partner veto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4526280" y="4370832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hook points. Veto only — nothing a partner returns can turn a rejection into an approval.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7955280" y="3657600"/>
            <a:ext cx="3474720" cy="1691640"/>
          </a:xfrm>
          <a:prstGeom prst="roundRect">
            <a:avLst>
              <a:gd name="adj" fmla="val 3243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83880" y="3886200"/>
            <a:ext cx="384048" cy="384048"/>
          </a:xfrm>
          <a:prstGeom prst="ellipse">
            <a:avLst/>
          </a:prstGeom>
          <a:solidFill>
            <a:srgbClr val="0F1A2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18388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0" y="389534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Execution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8183880" y="4370832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Atomic combo order, deterministic client_order_id, pre-submit existence check so a retry cannot double-fill.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566928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14400" y="57790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Sizing is from max loss, not from capital.</a:t>
            </a:r>
            <a:endParaRPr lang="en-US" sz="1350" dirty="0"/>
          </a:p>
        </p:txBody>
      </p:sp>
      <p:sp>
        <p:nvSpPr>
          <p:cNvPr id="37" name="Text 35"/>
          <p:cNvSpPr txBox="1"/>
          <p:nvPr/>
        </p:nvSpPr>
        <p:spPr>
          <a:xfrm>
            <a:off x="914400" y="608076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 without a computable max loss is refused outright — which is also what makes a stray undefined-risk idea impossible to execute by accident.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6858000" y="589788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FBF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8,569 ideas generated  →  441 approved  ·  5.1%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14630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Fifteen checks, in a fixed order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070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Hard, deterministic limits enforced in Python before any order is routed. No model can talk its way past them.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2084832" cy="457200"/>
          </a:xfrm>
          <a:prstGeom prst="roundRect">
            <a:avLst>
              <a:gd name="adj" fmla="val 120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783080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firewall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852928" y="1783080"/>
            <a:ext cx="2084832" cy="457200"/>
          </a:xfrm>
          <a:prstGeom prst="roundRect">
            <a:avLst>
              <a:gd name="adj" fmla="val 120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52928" y="1783080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halted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65776" y="1783080"/>
            <a:ext cx="2084832" cy="457200"/>
          </a:xfrm>
          <a:prstGeom prst="roundRect">
            <a:avLst>
              <a:gd name="adj" fmla="val 120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65776" y="1783080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market_open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278624" y="1783080"/>
            <a:ext cx="2084832" cy="457200"/>
          </a:xfrm>
          <a:prstGeom prst="roundRect">
            <a:avLst>
              <a:gd name="adj" fmla="val 120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278624" y="1783080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undefined_risk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491472" y="1783080"/>
            <a:ext cx="2084832" cy="457200"/>
          </a:xfrm>
          <a:prstGeom prst="roundRect">
            <a:avLst>
              <a:gd name="adj" fmla="val 120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491472" y="1783080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unknown_risk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2350008"/>
            <a:ext cx="2084832" cy="457200"/>
          </a:xfrm>
          <a:prstGeom prst="roundRect">
            <a:avLst>
              <a:gd name="adj" fmla="val 120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2350008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leg_count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852928" y="2350008"/>
            <a:ext cx="2084832" cy="457200"/>
          </a:xfrm>
          <a:prstGeom prst="roundRect">
            <a:avLst>
              <a:gd name="adj" fmla="val 120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852928" y="2350008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duplicate_legs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65776" y="2350008"/>
            <a:ext cx="2084832" cy="457200"/>
          </a:xfrm>
          <a:prstGeom prst="roundRect">
            <a:avLst>
              <a:gd name="adj" fmla="val 120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065776" y="2350008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max_positions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278624" y="2350008"/>
            <a:ext cx="2084832" cy="457200"/>
          </a:xfrm>
          <a:prstGeom prst="roundRect">
            <a:avLst>
              <a:gd name="adj" fmla="val 120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78624" y="2350008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max_new_per_day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491472" y="2350008"/>
            <a:ext cx="2084832" cy="457200"/>
          </a:xfrm>
          <a:prstGeom prst="roundRect">
            <a:avLst>
              <a:gd name="adj" fmla="val 12000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491472" y="2350008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duplicate_structure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2916936"/>
            <a:ext cx="2084832" cy="457200"/>
          </a:xfrm>
          <a:prstGeom prst="roundRect">
            <a:avLst>
              <a:gd name="adj" fmla="val 12000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0080" y="2916936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reentry_cooldown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852928" y="2916936"/>
            <a:ext cx="2084832" cy="457200"/>
          </a:xfrm>
          <a:prstGeom prst="roundRect">
            <a:avLst>
              <a:gd name="adj" fmla="val 120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852928" y="2916936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concentration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65776" y="2916936"/>
            <a:ext cx="2084832" cy="457200"/>
          </a:xfrm>
          <a:prstGeom prst="roundRect">
            <a:avLst>
              <a:gd name="adj" fmla="val 120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065776" y="2916936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sizing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278624" y="2916936"/>
            <a:ext cx="2084832" cy="457200"/>
          </a:xfrm>
          <a:prstGeom prst="roundRect">
            <a:avLst>
              <a:gd name="adj" fmla="val 120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278624" y="2916936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portfolio_risk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491472" y="2916936"/>
            <a:ext cx="2084832" cy="457200"/>
          </a:xfrm>
          <a:prstGeom prst="roundRect">
            <a:avLst>
              <a:gd name="adj" fmla="val 120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491472" y="2916936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cash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35204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highlighted checks exist because brokers net identical option symbols: opening the same condor twice does not create a second position, it doubles the quantity on the same four contracts — so every count-based limit was blind to it. Nearly invisible at four cycles a day; severe at twelve.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40080" y="4114800"/>
            <a:ext cx="5212080" cy="2286000"/>
          </a:xfrm>
          <a:prstGeom prst="roundRect">
            <a:avLst>
              <a:gd name="adj" fmla="val 2400"/>
            </a:avLst>
          </a:prstGeom>
          <a:solidFill>
            <a:srgbClr val="0F1A2E"/>
          </a:solidFill>
          <a:ln w="12700">
            <a:solidFill>
              <a:srgbClr val="0F1A2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60120" y="427939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capital firewall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960120" y="468172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15:15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1874520" y="4681728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Transient books liquidated and polled until confirmed flat. Carry is untouched.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960120" y="5266944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15:45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874520" y="5266944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Reg T poll: zero transient exposure, carry margin covered with headroom.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960120" y="585216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Failure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874520" y="585216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Transient books disabled for the following session. A book that needed rescuing does not get fresh leverage.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309360" y="4114800"/>
            <a:ext cx="5212080" cy="2286000"/>
          </a:xfrm>
          <a:prstGeom prst="roundRect">
            <a:avLst>
              <a:gd name="adj" fmla="val 24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629400" y="427939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Judged account limits</a:t>
            </a:r>
            <a:endParaRPr lang="en-US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6629400" y="469087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per trade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9372600" y="4690872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1.5% of equity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6629400" y="50292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Positions / underlying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9372600" y="502920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6629400" y="536752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loss halt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9372600" y="5367528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3%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6629400" y="570585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delta cap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9372600" y="5705856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5.5× (observed max 5.24)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6629400" y="6044184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vega cap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9372600" y="6044184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 per vol pt (obs. 27)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14630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· REAL ALPACA BARS, FEB–AUG 2026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carry book carries it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070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441 closed trades, 14 index and sector ETFs, spread and fees charged inside every fill.</a:t>
            </a:r>
            <a:endParaRPr lang="en-US" sz="14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1783080"/>
          <a:ext cx="54864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400800" y="1783080"/>
            <a:ext cx="2468880" cy="822960"/>
          </a:xfrm>
          <a:prstGeom prst="roundRect">
            <a:avLst>
              <a:gd name="adj" fmla="val 6667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83680" y="1856232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+$13,765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6583680" y="22677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net P&amp;L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9006840" y="1783080"/>
            <a:ext cx="2468880" cy="822960"/>
          </a:xfrm>
          <a:prstGeom prst="roundRect">
            <a:avLst>
              <a:gd name="adj" fmla="val 6667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189720" y="1856232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2.42</a:t>
            </a:r>
            <a:endParaRPr lang="en-US" sz="2100" dirty="0"/>
          </a:p>
        </p:txBody>
      </p:sp>
      <p:sp>
        <p:nvSpPr>
          <p:cNvPr id="11" name="Text 8"/>
          <p:cNvSpPr txBox="1"/>
          <p:nvPr/>
        </p:nvSpPr>
        <p:spPr>
          <a:xfrm>
            <a:off x="9189720" y="22677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400800" y="2715768"/>
            <a:ext cx="2468880" cy="822960"/>
          </a:xfrm>
          <a:prstGeom prst="roundRect">
            <a:avLst>
              <a:gd name="adj" fmla="val 6667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83680" y="27889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-3.6%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6583680" y="32004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drawdown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9006840" y="2715768"/>
            <a:ext cx="2468880" cy="822960"/>
          </a:xfrm>
          <a:prstGeom prst="roundRect">
            <a:avLst>
              <a:gd name="adj" fmla="val 6667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89720" y="27889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1.40</a:t>
            </a:r>
            <a:endParaRPr lang="en-US" sz="2100" dirty="0"/>
          </a:p>
        </p:txBody>
      </p:sp>
      <p:sp>
        <p:nvSpPr>
          <p:cNvPr id="17" name="Text 14"/>
          <p:cNvSpPr txBox="1"/>
          <p:nvPr/>
        </p:nvSpPr>
        <p:spPr>
          <a:xfrm>
            <a:off x="9189720" y="32004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factor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400800" y="3648456"/>
            <a:ext cx="2468880" cy="822960"/>
          </a:xfrm>
          <a:prstGeom prst="roundRect">
            <a:avLst>
              <a:gd name="adj" fmla="val 6667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372160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46.5%</a:t>
            </a:r>
            <a:endParaRPr lang="en-US" sz="2100" dirty="0"/>
          </a:p>
        </p:txBody>
      </p:sp>
      <p:sp>
        <p:nvSpPr>
          <p:cNvPr id="20" name="Text 17"/>
          <p:cNvSpPr txBox="1"/>
          <p:nvPr/>
        </p:nvSpPr>
        <p:spPr>
          <a:xfrm>
            <a:off x="6583680" y="41330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rate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006840" y="3648456"/>
            <a:ext cx="2468880" cy="822960"/>
          </a:xfrm>
          <a:prstGeom prst="roundRect">
            <a:avLst>
              <a:gd name="adj" fmla="val 6667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189720" y="372160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$12,990</a:t>
            </a:r>
            <a:endParaRPr lang="en-US" sz="2100" dirty="0"/>
          </a:p>
        </p:txBody>
      </p:sp>
      <p:sp>
        <p:nvSpPr>
          <p:cNvPr id="23" name="Text 20"/>
          <p:cNvSpPr txBox="1"/>
          <p:nvPr/>
        </p:nvSpPr>
        <p:spPr>
          <a:xfrm>
            <a:off x="9189720" y="41330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in spread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640080" y="4754880"/>
            <a:ext cx="10881360" cy="1828800"/>
          </a:xfrm>
          <a:prstGeom prst="roundRect">
            <a:avLst>
              <a:gd name="adj" fmla="val 3000"/>
            </a:avLst>
          </a:prstGeom>
          <a:solidFill>
            <a:srgbClr val="0F1A2E"/>
          </a:solidFill>
          <a:ln w="12700">
            <a:solidFill>
              <a:srgbClr val="0F1A2E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60120" y="491947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the spread number first.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960120" y="5285232"/>
            <a:ext cx="5943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P&amp;L was $13,973 and the spread cost $12,990 — the book paid out roughly its own gross profit in execution cost and the net still came from somewhere. That is the whole reason a cost gate sits in front of every trade and the spread is charged inside the fills rather than added beside them.</a:t>
            </a:r>
            <a:endParaRPr lang="en-US" sz="1250" dirty="0"/>
          </a:p>
        </p:txBody>
      </p:sp>
      <p:sp>
        <p:nvSpPr>
          <p:cNvPr id="27" name="Text 24"/>
          <p:cNvSpPr txBox="1"/>
          <p:nvPr/>
        </p:nvSpPr>
        <p:spPr>
          <a:xfrm>
            <a:off x="7315200" y="51206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vol_carry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7315200" y="53949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 trades · 54% win · +$18,782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7315200" y="5806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intraday_momentum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7315200" y="60807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243 trades · 40% win · −$5,018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14630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· WHERE THE MONEY ACTUALLY CAME FROM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exits are the strategy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070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closed trade in the run, grouped by the rule that closed it — net P&amp;L in USD, trade count in brackets. Entry gates choose the trade; the exit pair decides what it is worth.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3209544" y="1755648"/>
            <a:ext cx="10973" cy="4014216"/>
          </a:xfrm>
          <a:prstGeom prst="rect">
            <a:avLst/>
          </a:prstGeom>
          <a:solidFill>
            <a:srgbClr val="C7D0D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80136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Carry: profit target (61)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7560" y="1828800"/>
            <a:ext cx="3101703" cy="310896"/>
          </a:xfrm>
          <a:prstGeom prst="rect">
            <a:avLst/>
          </a:prstGeom>
          <a:solidFill>
            <a:srgbClr val="2FBF7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48991" y="180136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+$28,992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36829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Carry: DTE floor (37)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37560" y="2395728"/>
            <a:ext cx="231729" cy="310896"/>
          </a:xfrm>
          <a:prstGeom prst="rect">
            <a:avLst/>
          </a:prstGeom>
          <a:solidFill>
            <a:srgbClr val="2FBF7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79017" y="236829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+$2,166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93522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Carry: short strike touched (94)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337560" y="2962656"/>
            <a:ext cx="1247550" cy="310896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94838" y="293522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−$11,661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350215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Intraday: target 10% (75)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337560" y="3529584"/>
            <a:ext cx="1116493" cy="310896"/>
          </a:xfrm>
          <a:prstGeom prst="rect">
            <a:avLst/>
          </a:prstGeom>
          <a:solidFill>
            <a:srgbClr val="2FBF7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63781" y="350215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+$10,436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0690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Intraday: time stop (70)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337560" y="4096512"/>
            <a:ext cx="131698" cy="310896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578986" y="40690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−$1,231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463600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Intraday: VWAP re-cross (55)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337560" y="4663440"/>
            <a:ext cx="398518" cy="310896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845806" y="463600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−$3,725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520293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Intraday: stop 15% (43)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337560" y="5230368"/>
            <a:ext cx="1123019" cy="310896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70307" y="520293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−$10,497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046720" y="178308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29600" y="18745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Short-strike touches are the carry book's cost of doing business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8229600" y="231343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 defensive closes for −$11,661, against 61 profit targets for +$28,992. Closing the tested side early is what keeps a defined-risk structure defined.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046720" y="306324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29600" y="31546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intraday stop is wider than its target on purpose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8229600" y="359359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 targets at +$139 average against 43 stops at −$244. Premium is noisy and a tight stop is hit by spread flicker alone — but it means the book needs a ~60% hit rate, and it is not getting one.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8046720" y="434340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29600" y="44348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VWAP re-cross exit is the current net drag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8229600" y="487375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exits for −$3,725. It is doing its job — cutting a thesis that stopped being true — but it is where the next round of work goes.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571500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Carry-only, Jan–Aug 2026, 14 symbols: +$14,366 · Sharpe 2.48 · 216 trades · 51.9% win · 3.98-day average hold.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14630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know is wrong with it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070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is measured and in the repo. A deck that only lists strengths is a deck that has not been tested.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3474720" cy="2103120"/>
          </a:xfrm>
          <a:prstGeom prst="roundRect">
            <a:avLst>
              <a:gd name="adj" fmla="val 2609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01168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Exit code is not shared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65176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is genuinely the same objects live and in replay. Exit is reimplemented in the backtest engine, and nothing asserts the two agree — including a known live defect that compares P&amp;L per leg and can close one leg of a condor on its own.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1828800"/>
            <a:ext cx="3474720" cy="2103120"/>
          </a:xfrm>
          <a:prstGeom prst="roundRect">
            <a:avLst>
              <a:gd name="adj" fmla="val 2609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26280" y="201168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Intraday marks are coarse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265176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marks in replay are far coarser than a 20-minute hold. The intraday book's replayed P&amp;L is readable for candidate flow, not for edge.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955280" y="1828800"/>
            <a:ext cx="3474720" cy="2103120"/>
          </a:xfrm>
          <a:prstGeom prst="roundRect">
            <a:avLst>
              <a:gd name="adj" fmla="val 2609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201168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Paper fills flatter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265176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 fills, no queue, no partials — and spread cost is the primary loss mechanism, which is exactly what paper does not simulate.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4069080"/>
            <a:ext cx="3474720" cy="2103120"/>
          </a:xfrm>
          <a:prstGeom prst="roundRect">
            <a:avLst>
              <a:gd name="adj" fmla="val 2609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425196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sessions is not a sample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489204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10–20 trades in the judged window. That cannot distinguish edge from luck in either direction, and no result from it should be read as if it could.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297680" y="4069080"/>
            <a:ext cx="3474720" cy="2103120"/>
          </a:xfrm>
          <a:prstGeom prst="roundRect">
            <a:avLst>
              <a:gd name="adj" fmla="val 2609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26280" y="425196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settings are hypotheses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26280" y="489204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25Δ shorts and the term-structure band are labelled as under measurement, not as conclusions. If the realised hit rate falls below breakeven, the delta goes back to 0.14.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955280" y="4069080"/>
            <a:ext cx="3474720" cy="2103120"/>
          </a:xfrm>
          <a:prstGeom prst="roundRect">
            <a:avLst>
              <a:gd name="adj" fmla="val 2609"/>
            </a:avLst>
          </a:prstGeom>
          <a:solidFill>
            <a:srgbClr val="1B2A45"/>
          </a:solidFill>
          <a:ln w="12700">
            <a:solidFill>
              <a:srgbClr val="1B2A4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83880" y="425196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tail is correlated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183880" y="489204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cap is per underlying and blind to correlation. Ten symbols measured as ~2.4 independent bets; the daily loss halt catches the next day, not the same one.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737360" y="3291840"/>
            <a:ext cx="4937760" cy="4937760"/>
          </a:xfrm>
          <a:prstGeom prst="ellipse">
            <a:avLst/>
          </a:prstGeom>
          <a:solidFill>
            <a:srgbClr val="1B2A4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58368" y="14630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ARGUMENT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7315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agent's job is</a:t>
            </a:r>
            <a:endParaRPr lang="en-US" sz="44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decline.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10896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8,569 ideas were generated and 441 were taken. The interesting artefact is not the equity curve — it is the rejection log: every declined trade recorded with the gate that stopped it and the number it measured.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955280" y="1837944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75320" y="17830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are hard, not scored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75320" y="203911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blended score lets a rich IV reading paper over an earnings date.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955280" y="2706624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75320" y="265176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model can approve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290779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critic and the partners may only decline. One deterministic engine signs.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955280" y="3575304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75320" y="35204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is defended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75320" y="377647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threshold in the config carries the measurement that set it — and the ones that are still guesses say so.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44348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8,569</a:t>
            </a:r>
            <a:endParaRPr lang="en-US" sz="32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0292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ideas generated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3108960" y="44348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441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3108960" y="50292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trades taken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577840" y="44348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72,753</a:t>
            </a:r>
            <a:endParaRPr lang="en-US" sz="3200" dirty="0"/>
          </a:p>
        </p:txBody>
      </p:sp>
      <p:sp>
        <p:nvSpPr>
          <p:cNvPr id="20" name="Text 18"/>
          <p:cNvSpPr txBox="1"/>
          <p:nvPr/>
        </p:nvSpPr>
        <p:spPr>
          <a:xfrm>
            <a:off x="5577840" y="50292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rejections logged with a reason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follows: full parameter sets for all three books, the gate funnel, and the universe rule.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14630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vol_carry — every parameter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GATES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10881360" cy="292608"/>
          </a:xfrm>
          <a:prstGeom prst="roundRect">
            <a:avLst>
              <a:gd name="adj" fmla="val 1875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5564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iv_rank_min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3703320" y="17556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0.35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303520" y="175564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Regime filter. Was 0.70, which rejected 304 of 304 replayed candidates.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02996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iv_rv_spread_min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3703320" y="202996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0.03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303520" y="202996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vol points. This is the gate carrying the actual edge.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2286000"/>
            <a:ext cx="10881360" cy="292608"/>
          </a:xfrm>
          <a:prstGeom prst="roundRect">
            <a:avLst>
              <a:gd name="adj" fmla="val 1875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230428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adx_max / trend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230428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0.60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5303520" y="230428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premium is short movement.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257860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exclude_earnings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3703320" y="25786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303520" y="257860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is elevated because of the event.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2962656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3236976"/>
            <a:ext cx="10881360" cy="292608"/>
          </a:xfrm>
          <a:prstGeom prst="roundRect">
            <a:avLst>
              <a:gd name="adj" fmla="val 1875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325526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short_delta_target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3703320" y="325526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0.25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303520" y="325526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Credit-to-width ~30% vs 17% at 14Δ. Hypothesis under measurement.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352958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wing_width_pct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3703320" y="352958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0.015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303520" y="352958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 of spot, so it means the same on TLT as on SPY.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3785616"/>
            <a:ext cx="10881360" cy="292608"/>
          </a:xfrm>
          <a:prstGeom prst="roundRect">
            <a:avLst>
              <a:gd name="adj" fmla="val 1875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2960" y="380390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dte_min / dte_max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3703320" y="380390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14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303520" y="380390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10 DTE a five-session hold captures most of the remaining decay.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822960" y="407822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min_credit_to_width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3703320" y="407822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0.15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5303520" y="407822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this the credit is not paying for the tail.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4462272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EXITS AND COST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4736592"/>
            <a:ext cx="10881360" cy="292608"/>
          </a:xfrm>
          <a:prstGeom prst="roundRect">
            <a:avLst>
              <a:gd name="adj" fmla="val 1875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22960" y="475488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profit_target_pct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3703320" y="475488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0.50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5303520" y="4754880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1.5× stop this sets breakeven at 75%.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822960" y="502920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max_loss_usd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3703320" y="50292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450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5303520" y="5029200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900 and never fired — the six largest losses were $780–868.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40080" y="5285232"/>
            <a:ext cx="10881360" cy="292608"/>
          </a:xfrm>
          <a:prstGeom prst="roundRect">
            <a:avLst>
              <a:gd name="adj" fmla="val 1875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22960" y="53035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reentry_cooldown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3703320" y="530352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1440 min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5303520" y="5303520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entry per underlying per session for this book.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822960" y="557784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max_spread_cost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3703320" y="557784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0.20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5303520" y="5577840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credit received. A condor crosses eight half-spreads round trip.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640080" y="619963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Universe: SPY QQQ IWM DIA XLF XLE TLT GLD XLV XLU EEM EFA FXI SLV — chosen on measured spread and independence, not on P&amp;L.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14630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B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intraday_momentum — every parameter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10881360" cy="292608"/>
          </a:xfrm>
          <a:prstGeom prst="roundRect">
            <a:avLst>
              <a:gd name="adj" fmla="val 1875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5564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band_dispersion_mult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3703320" y="17556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303520" y="175564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Swept on real bars; below 1.5 the band was still the wall.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02996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cross_lookback_bars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3703320" y="202996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303520" y="202996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1-minute bars = exactly one polling gap.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2286000"/>
            <a:ext cx="10881360" cy="292608"/>
          </a:xfrm>
          <a:prstGeom prst="roundRect">
            <a:avLst>
              <a:gd name="adj" fmla="val 1875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230428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volume_zscore_min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230428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5303520" y="230428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~31% of that time-of-day bucket. Was 1.0.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257860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confirmations_required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3703320" y="25786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303520" y="257860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up to seven votes. needed = min(3, possible).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0080" y="2834640"/>
            <a:ext cx="10881360" cy="292608"/>
          </a:xfrm>
          <a:prstGeom prst="roundRect">
            <a:avLst>
              <a:gd name="adj" fmla="val 1875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285292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term_structure band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3703320" y="285292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−0.10 to 0.25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303520" y="285292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measured prints; the modelled chain's slope is a constant.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3236976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AND TIMING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3511296"/>
            <a:ext cx="10881360" cy="292608"/>
          </a:xfrm>
          <a:prstGeom prst="roundRect">
            <a:avLst>
              <a:gd name="adj" fmla="val 1875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" y="352958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max_relative_spread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3703320" y="352958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0.04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303520" y="352958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2% was below the tightest quote in the universe — unpassable.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380390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spread_cost / target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3703320" y="380390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0.30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303520" y="380390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binding, economically meaningful test.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40080" y="4059936"/>
            <a:ext cx="10881360" cy="292608"/>
          </a:xfrm>
          <a:prstGeom prst="roundRect">
            <a:avLst>
              <a:gd name="adj" fmla="val 1875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2960" y="407822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 window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3703320" y="407822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09:45–14:45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303520" y="407822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Lunch 11:30–13:30 skipped.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822960" y="435254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dte_max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3703320" y="435254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5303520" y="435254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Front-expiry gamma is the point.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640080" y="4736592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AND EXITS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40080" y="5010912"/>
            <a:ext cx="10881360" cy="292608"/>
          </a:xfrm>
          <a:prstGeom prst="roundRect">
            <a:avLst>
              <a:gd name="adj" fmla="val 1875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22960" y="502920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iv_rank_no_trade_above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3703320" y="50292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5303520" y="5029200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Declining when the move is already priced in.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822960" y="53035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max_option_price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3703320" y="530352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$25.00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5303520" y="5303520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Stops selection landing on a deep-ITM contract.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640080" y="5559552"/>
            <a:ext cx="10881360" cy="292608"/>
          </a:xfrm>
          <a:prstGeom prst="roundRect">
            <a:avLst>
              <a:gd name="adj" fmla="val 1875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22960" y="557784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 / stop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3703320" y="557784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/ 15%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5303520" y="5577840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wider on purpose; implies a ~60% breakeven hit rate.</a:t>
            </a:r>
            <a:endParaRPr lang="en-US" sz="1050" dirty="0"/>
          </a:p>
        </p:txBody>
      </p:sp>
      <p:sp>
        <p:nvSpPr>
          <p:cNvPr id="50" name="Text 48"/>
          <p:cNvSpPr txBox="1"/>
          <p:nvPr/>
        </p:nvSpPr>
        <p:spPr>
          <a:xfrm>
            <a:off x="822960" y="585216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time_stop / flat_by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3703320" y="585216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 / 15:10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5303520" y="5852160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five minutes ahead of the firewall cutoff.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640080" y="619963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Universe: SPY QQQ IWM DIA XLF XLE TLT GLD — index products only; a $0.10-wide single-name quote costs $20 round trip against a $10–30 target.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14630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C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earnings_event_directional — every parameter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AND CALENDAR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10881360" cy="292608"/>
          </a:xfrm>
          <a:prstGeom prst="roundRect">
            <a:avLst>
              <a:gd name="adj" fmla="val 1875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5564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min_implied_move_pct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3703320" y="17556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303520" y="175564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this no event is priced in, and the round trip still costs four spreads.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02996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max_relative_spread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3703320" y="202996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0.25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303520" y="202996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binding gate. GTLB at $45 pays ~$80 of a ~$120 credit to the market maker.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2286000"/>
            <a:ext cx="10881360" cy="292608"/>
          </a:xfrm>
          <a:prstGeom prst="roundRect">
            <a:avLst>
              <a:gd name="adj" fmla="val 1875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230428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top_n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230428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5303520" y="230428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LLM call each; ten positions sharing one night's risk budget.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257860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calendar confirmation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3703320" y="25786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303520" y="257860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proposes; the calendar file confirms. Unverified names never arm.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2962656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AND DIRECTION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3236976"/>
            <a:ext cx="10881360" cy="292608"/>
          </a:xfrm>
          <a:prstGeom prst="roundRect">
            <a:avLst>
              <a:gd name="adj" fmla="val 1875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325526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lookahead_days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3703320" y="325526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303520" y="325526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polls from three days out. No new items means no model call.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352958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min_salience / max_notes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3703320" y="352958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0.35 / 40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303520" y="352958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low-salience notes dilute the two that matter.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3785616"/>
            <a:ext cx="10881360" cy="292608"/>
          </a:xfrm>
          <a:prstGeom prst="roundRect">
            <a:avLst>
              <a:gd name="adj" fmla="val 1875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2960" y="380390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min_confidence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3703320" y="380390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0.55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303520" y="380390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most important number in the file — and it sets the size.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822960" y="407822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expected_abstention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3703320" y="407822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0.40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5303520" y="407822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zero abstention rate logs a warning: that model is not filtering.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4462272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AND SIZE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4736592"/>
            <a:ext cx="10881360" cy="292608"/>
          </a:xfrm>
          <a:prstGeom prst="roundRect">
            <a:avLst>
              <a:gd name="adj" fmla="val 1875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22960" y="475488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rich / cheap threshold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3703320" y="475488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1.35 / 0.80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5303520" y="4754880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these, the expression follows the sign. Between them, no trade.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822960" y="502920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shorts_at_implied_move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3703320" y="50292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5303520" y="5029200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Distance, not delta. min_shorts_clearance 0.85 declines a coarse ladder.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40080" y="5285232"/>
            <a:ext cx="10881360" cy="292608"/>
          </a:xfrm>
          <a:prstGeom prst="roundRect">
            <a:avLst>
              <a:gd name="adj" fmla="val 1875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22960" y="53035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nightly_risk_budget_pct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3703320" y="530352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0.04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5303520" y="5303520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across every name opened that night; 1.2% per name.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822960" y="557784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arm / flatten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3703320" y="557784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15:45 / 09:45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5303520" y="5577840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overnight hold. No intraday management, by design.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640080" y="619963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firewall tenant: a book whose entire life is one overnight hold does not fit the intraday/carry tenancy model, so it is bounded by size instead.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14630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D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rejection funnel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70432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72,753 rejections across the Feb–Aug run, by the gate that stopped the candidate. This log — not the equity curve — is the artefact that shows an agent declining trades with the number that caused it.</a:t>
            </a:r>
            <a:endParaRPr lang="en-US" sz="13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1691640"/>
          <a:ext cx="731520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138160" y="1691640"/>
            <a:ext cx="3383280" cy="1371600"/>
          </a:xfrm>
          <a:prstGeom prst="roundRect">
            <a:avLst>
              <a:gd name="adj" fmla="val 40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321040" y="180136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premium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8321040" y="225856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carry book's regime filter, and the largest single rejector. It is a filter working, not a block: entries occurred on 43% of sessions.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138160" y="3200400"/>
            <a:ext cx="3383280" cy="1371600"/>
          </a:xfrm>
          <a:prstGeom prst="roundRect">
            <a:avLst>
              <a:gd name="adj" fmla="val 40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321040" y="33101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spread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8321040" y="376732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largest, and the one that should be large. Execution cost is the binding constraint on both books.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138160" y="4709160"/>
            <a:ext cx="3383280" cy="1371600"/>
          </a:xfrm>
          <a:prstGeom prst="roundRect">
            <a:avLst>
              <a:gd name="adj" fmla="val 4000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21040" y="48188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duplicate_structure + reentry_cooldown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8321040" y="527608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3,493 rejections that did not exist before 27 Aug, when the book was silently doubling positions instead of opening new ones.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6263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it with `oaa backtest --why 15`, which groups by reason and normalises the numbers inside each one.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14630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universe is a rule, not a list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7043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conditions, applied mechanically, so the list follows the measurement rather than the last backtest.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3474720" cy="1691640"/>
          </a:xfrm>
          <a:prstGeom prst="roundRect">
            <a:avLst>
              <a:gd name="adj" fmla="val 3243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1847088"/>
            <a:ext cx="384048" cy="384048"/>
          </a:xfrm>
          <a:prstGeom prst="ellipse">
            <a:avLst/>
          </a:prstGeom>
          <a:solidFill>
            <a:srgbClr val="0F1A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30428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option spread ≤ 2% of mid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8529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cost decides whether an edge survives at all.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0" y="1691640"/>
            <a:ext cx="3474720" cy="1691640"/>
          </a:xfrm>
          <a:prstGeom prst="roundRect">
            <a:avLst>
              <a:gd name="adj" fmla="val 3243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26280" y="1847088"/>
            <a:ext cx="384048" cy="384048"/>
          </a:xfrm>
          <a:prstGeom prst="ellipse">
            <a:avLst/>
          </a:prstGeom>
          <a:solidFill>
            <a:srgbClr val="0F1A2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2628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230428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must raise the number of effective independent bets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526280" y="28529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ticker count. Ten symbols measured as ~2.4 independent bets.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955280" y="1691640"/>
            <a:ext cx="3474720" cy="1691640"/>
          </a:xfrm>
          <a:prstGeom prst="roundRect">
            <a:avLst>
              <a:gd name="adj" fmla="val 3243"/>
            </a:avLst>
          </a:prstGeom>
          <a:solidFill>
            <a:srgbClr val="F1F4F9"/>
          </a:solidFill>
          <a:ln w="12700">
            <a:solidFill>
              <a:srgbClr val="F1F4F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83880" y="1847088"/>
            <a:ext cx="384048" cy="384048"/>
          </a:xfrm>
          <a:prstGeom prst="ellipse">
            <a:avLst/>
          </a:prstGeom>
          <a:solidFill>
            <a:srgbClr val="0F1A2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8388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183880" y="230428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idiosyncratic event risk in a short-vol book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183880" y="28529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event gate excludes scheduled earnings. Nothing protects a short condor from a surprise product headline.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3520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rule removed, and what it kept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3931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2103120" y="3931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spread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3657600" y="3931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 vs QQQ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5669280" y="3931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0080" y="4215384"/>
            <a:ext cx="10881360" cy="420624"/>
          </a:xfrm>
          <a:prstGeom prst="roundRect">
            <a:avLst>
              <a:gd name="adj" fmla="val 13043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2960" y="425196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XLK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2103120" y="425196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27.94%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3657600" y="425196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0.96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0" y="4251960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— worst on both criteria at once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" y="469087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SMH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2103120" y="46908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12.49%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3657600" y="469087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0.91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5669280" y="4690872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— same argument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40080" y="5093208"/>
            <a:ext cx="10881360" cy="420624"/>
          </a:xfrm>
          <a:prstGeom prst="roundRect">
            <a:avLst>
              <a:gd name="adj" fmla="val 13043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2960" y="512978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QQQ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2103120" y="512978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2.85%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3657600" y="512978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669280" y="5129784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— it is what XLK was duplicating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" y="556869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XLE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2103120" y="556869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11.79%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3657600" y="556869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−0.18 to −0.36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5669280" y="5568696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despite the spread — the only negative correlation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40080" y="617220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short-premium book's entire failure mode is every position losing at once, so a negatively correlated name is worth more than three more equity ETFs — even an expensive one.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2026-08-30T16:48:38Z</dcterms:created>
  <dcterms:modified xsi:type="dcterms:W3CDTF">2026-08-30T16:48:38Z</dcterms:modified>
</cp:coreProperties>
</file>