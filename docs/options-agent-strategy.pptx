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Rejections</c:v>
                </c:pt>
              </c:strCache>
            </c:strRef>
          </c:tx>
          <c:spPr>
            <a:solidFill>
              <a:srgbClr val="1B2A45"/>
            </a:solidFill>
            <a:effectLst/>
          </c:spPr>
          <c:invertIfNegative val="0"/>
          <c:dLbls>
            <c:numFmt formatCode="#,##0" sourceLinked="0"/>
            <c:txPr>
              <a:bodyPr/>
              <a:lstStyle/>
              <a:p>
                <a:pPr>
                  <a:defRPr b="0" i="0" strike="noStrike" sz="1000" u="none">
                    <a:solidFill>
                      <a:srgbClr val="16202F"/>
                    </a:solidFill>
                    <a:latin typeface="Arial"/>
                  </a:defRPr>
                </a:pPr>
              </a:p>
            </c:txPr>
            <c:showLegendKey val="0"/>
            <c:showVal val="1"/>
            <c:showCatName val="0"/>
            <c:showSerName val="0"/>
            <c:showPercent val="0"/>
            <c:showBubbleSize val="0"/>
            <c:showLeaderLines val="0"/>
          </c:dLbls>
          <c:cat>
            <c:multiLvlStrRef>
              <c:f>Sheet1!$A$2:$A$15</c:f>
              <c:multiLvlStrCache>
                <c:ptCount val="14"/>
                <c:lvl>
                  <c:pt idx="0">
                    <c:v>premium</c:v>
                  </c:pt>
                  <c:pt idx="1">
                    <c:v>time_of_day</c:v>
                  </c:pt>
                  <c:pt idx="2">
                    <c:v>spread</c:v>
                  </c:pt>
                  <c:pt idx="3">
                    <c:v>trend</c:v>
                  </c:pt>
                  <c:pt idx="4">
                    <c:v>scheduled_event</c:v>
                  </c:pt>
                  <c:pt idx="5">
                    <c:v>structure</c:v>
                  </c:pt>
                  <c:pt idx="6">
                    <c:v>momentum</c:v>
                  </c:pt>
                  <c:pt idx="7">
                    <c:v>concentration</c:v>
                  </c:pt>
                  <c:pt idx="8">
                    <c:v>selection</c:v>
                  </c:pt>
                  <c:pt idx="9">
                    <c:v>duplicate_structure</c:v>
                  </c:pt>
                  <c:pt idx="10">
                    <c:v>reentry_cooldown</c:v>
                  </c:pt>
                  <c:pt idx="11">
                    <c:v>confirmation</c:v>
                  </c:pt>
                  <c:pt idx="12">
                    <c:v>max_positions</c:v>
                  </c:pt>
                  <c:pt idx="13">
                    <c:v>critic</c:v>
                  </c:pt>
                </c:lvl>
              </c:multiLvlStrCache>
            </c:multiLvlStrRef>
          </c:cat>
          <c:val>
            <c:numRef>
              <c:f>Sheet1!$B$2:$B$15</c:f>
              <c:numCache>
                <c:formatCode>General</c:formatCode>
                <c:ptCount val="14"/>
                <c:pt idx="0">
                  <c:v>15334</c:v>
                </c:pt>
                <c:pt idx="1">
                  <c:v>12199</c:v>
                </c:pt>
                <c:pt idx="2">
                  <c:v>10184</c:v>
                </c:pt>
                <c:pt idx="3">
                  <c:v>9504</c:v>
                </c:pt>
                <c:pt idx="4">
                  <c:v>5918</c:v>
                </c:pt>
                <c:pt idx="5">
                  <c:v>5284</c:v>
                </c:pt>
                <c:pt idx="6">
                  <c:v>2811</c:v>
                </c:pt>
                <c:pt idx="7">
                  <c:v>2788</c:v>
                </c:pt>
                <c:pt idx="8">
                  <c:v>2210</c:v>
                </c:pt>
                <c:pt idx="9">
                  <c:v>1768</c:v>
                </c:pt>
                <c:pt idx="10">
                  <c:v>1725</c:v>
                </c:pt>
                <c:pt idx="11">
                  <c:v>1181</c:v>
                </c:pt>
                <c:pt idx="12">
                  <c:v>972</c:v>
                </c:pt>
                <c:pt idx="13">
                  <c:v>811</c:v>
                </c:pt>
              </c:numCache>
            </c:numRef>
          </c:val>
        </c:ser>
        <c:dLbls>
          <c:numFmt formatCode="#,##0" sourceLinked="0"/>
          <c:txPr>
            <a:bodyPr/>
            <a:lstStyle/>
            <a:p>
              <a:pPr>
                <a:defRPr b="0" i="0" strike="noStrike" sz="1000" u="none">
                  <a:solidFill>
                    <a:srgbClr val="1620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6202F"/>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4E8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77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 is the combined book on real bars. Both strategies are shown separately later - the carry book carries it and the intraday book loses money. That is stated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0:25-1:20. Not three variations on one idea - deliberately opposite. Carry sells movement and wants nothing to happen; intraday buys continuation and wants something fast. One short vol, one long vol, so a week that kills one is often good for the other. Events exists because of a specific failure: the other books wait for a threshold that never crosses. Here the entry condition is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detail on any one book, the appendix has a full slide per book plus every parameter with the measurement behind it.1:20-2:20. Hard gates, not a score - a score lets a rich IV reading paper over an earnings date. Land the closing point: every threshold here was moved by measurement. IV floor 0.70 rejected 304 of 304. Intraday spread ceiling 2% was below the tightest quote in the universe. Eight stacked vetoes = 0.7^8 = 6%: eight vetoes in a row is not a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2:20-3:10. Same stages live and in replay, from the same objects. Critic declines but cannot approve; the events LLM cannot either. Stage 4 signs the ticket. The two gold checks exist because brokers NET identical option symbols - re-opening the same condor doubles one position rather than creating a second, so every count-based limit was blind to it. Sizing from max loss, not capital. 15:15 liquidates transient books and polls until confirmed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3:10-4:10. Read the red number: gross $13,973 against $12,990 of spread - the book paid out roughly its own gross profit in execution cost, WITH a cost gate in front of every trade. The bars say the exits are the strategy. Short-strike touches are the cost of keeping a defined-risk structure defined. Intraday stop is wider than target on purpose and you can see the price: 75 wins at +$139 vs 43 stops at -$244. Say the split out loud - carry carries it, intraday lost $5,018, events has no usable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4:10-5:00. Four measured defects, all in the repo. Then the claim: the agent's job is to decline. 8,569 ideas, 441 taken, 72,753 rejections each logged with the gate and the number. Gates are hard, no model can approve, every number is defended - including the ones that are still guesses, which say so. Offer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bug worth mentioning out loud: demoting the catalyst to a vote exposed that CatalystEngine.gate() returned OK immediately when required=False, before measuring anything. The catalyst had been deleted from the decision, not demoted.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dossier is evidence, never authority: Dossier.lean() is journalled but never enforced, so a week of bearish notes ending in a bullish call is logged as the disagreement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1B2A45"/>
          </a:solidFill>
          <a:ln/>
        </p:spPr>
      </p:sp>
      <p:sp>
        <p:nvSpPr>
          <p:cNvPr id="3" name="Shape 1"/>
          <p:cNvSpPr/>
          <p:nvPr/>
        </p:nvSpPr>
        <p:spPr>
          <a:xfrm>
            <a:off x="10241280" y="4206240"/>
            <a:ext cx="2926080" cy="2926080"/>
          </a:xfrm>
          <a:prstGeom prst="ellipse">
            <a:avLst/>
          </a:prstGeom>
          <a:solidFill>
            <a:srgbClr val="1B2A45"/>
          </a:solidFill>
          <a:ln/>
        </p:spPr>
      </p:sp>
      <p:sp>
        <p:nvSpPr>
          <p:cNvPr id="4" name="Text 2"/>
          <p:cNvSpPr txBox="1"/>
          <p:nvPr/>
        </p:nvSpPr>
        <p:spPr>
          <a:xfrm>
            <a:off x="822960" y="1417320"/>
            <a:ext cx="8229600"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OPTIONS AGENT · ALPACA HACKATHON</a:t>
            </a:r>
            <a:endParaRPr lang="en-US" sz="1250" dirty="0"/>
          </a:p>
        </p:txBody>
      </p:sp>
      <p:sp>
        <p:nvSpPr>
          <p:cNvPr id="5" name="Text 3"/>
          <p:cNvSpPr txBox="1"/>
          <p:nvPr/>
        </p:nvSpPr>
        <p:spPr>
          <a:xfrm>
            <a:off x="822960" y="1874520"/>
            <a:ext cx="8595360" cy="1828800"/>
          </a:xfrm>
          <a:prstGeom prst="rect">
            <a:avLst/>
          </a:prstGeom>
          <a:noFill/>
          <a:ln/>
        </p:spPr>
        <p:txBody>
          <a:bodyPr wrap="square" lIns="0" tIns="0" rIns="0" bIns="0" rtlCol="0" anchor="ctr"/>
          <a:lstStyle/>
          <a:p>
            <a:pPr indent="0" marL="0">
              <a:lnSpc>
                <a:spcPts val="5400"/>
              </a:lnSpc>
              <a:buNone/>
            </a:pPr>
            <a:r>
              <a:rPr lang="en-US" sz="5200" b="1" dirty="0">
                <a:solidFill>
                  <a:srgbClr val="FFFFFF"/>
                </a:solidFill>
                <a:latin typeface="Cambria" pitchFamily="34" charset="0"/>
                <a:ea typeface="Cambria" pitchFamily="34" charset="-122"/>
                <a:cs typeface="Cambria" pitchFamily="34" charset="-120"/>
              </a:rPr>
              <a:t>Three books,</a:t>
            </a:r>
            <a:endParaRPr lang="en-US" sz="5200" dirty="0"/>
          </a:p>
          <a:p>
            <a:pPr indent="0" marL="0">
              <a:lnSpc>
                <a:spcPts val="5400"/>
              </a:lnSpc>
              <a:buNone/>
            </a:pPr>
            <a:r>
              <a:rPr lang="en-US" sz="5200" b="1" dirty="0">
                <a:solidFill>
                  <a:srgbClr val="FFFFFF"/>
                </a:solidFill>
                <a:latin typeface="Cambria" pitchFamily="34" charset="0"/>
                <a:ea typeface="Cambria" pitchFamily="34" charset="-122"/>
                <a:cs typeface="Cambria" pitchFamily="34" charset="-120"/>
              </a:rPr>
              <a:t>one pipeline.</a:t>
            </a:r>
            <a:endParaRPr lang="en-US" sz="5200" dirty="0"/>
          </a:p>
        </p:txBody>
      </p:sp>
      <p:sp>
        <p:nvSpPr>
          <p:cNvPr id="6" name="Text 4"/>
          <p:cNvSpPr txBox="1"/>
          <p:nvPr/>
        </p:nvSpPr>
        <p:spPr>
          <a:xfrm>
            <a:off x="822960" y="3886200"/>
            <a:ext cx="7680960" cy="914400"/>
          </a:xfrm>
          <a:prstGeom prst="rect">
            <a:avLst/>
          </a:prstGeom>
          <a:noFill/>
          <a:ln/>
        </p:spPr>
        <p:txBody>
          <a:bodyPr wrap="square" lIns="0" tIns="0" rIns="0" bIns="0" rtlCol="0" anchor="ctr"/>
          <a:lstStyle/>
          <a:p>
            <a:pPr indent="0" marL="0">
              <a:lnSpc>
                <a:spcPts val="2400"/>
              </a:lnSpc>
              <a:buNone/>
            </a:pPr>
            <a:r>
              <a:rPr lang="en-US" sz="1600" dirty="0">
                <a:solidFill>
                  <a:srgbClr val="CADCFC"/>
                </a:solidFill>
                <a:latin typeface="Calibri" pitchFamily="34" charset="0"/>
                <a:ea typeface="Calibri" pitchFamily="34" charset="-122"/>
                <a:cs typeface="Calibri" pitchFamily="34" charset="-120"/>
              </a:rPr>
              <a:t>A short-volatility carry book, a long-gamma intraday book and an LLM-driven earnings book — run through one gated decision pipeline in which no model is allowed to approve a trade.</a:t>
            </a:r>
            <a:endParaRPr lang="en-US" sz="1600" dirty="0"/>
          </a:p>
        </p:txBody>
      </p:sp>
      <p:sp>
        <p:nvSpPr>
          <p:cNvPr id="7" name="Text 5"/>
          <p:cNvSpPr txBox="1"/>
          <p:nvPr/>
        </p:nvSpPr>
        <p:spPr>
          <a:xfrm>
            <a:off x="822960" y="5074920"/>
            <a:ext cx="2194560" cy="502920"/>
          </a:xfrm>
          <a:prstGeom prst="rect">
            <a:avLst/>
          </a:prstGeom>
          <a:noFill/>
          <a:ln/>
        </p:spPr>
        <p:txBody>
          <a:bodyPr wrap="square" lIns="0" tIns="0" rIns="0" bIns="0" rtlCol="0" anchor="ctr"/>
          <a:lstStyle/>
          <a:p>
            <a:pPr indent="0" marL="0">
              <a:buNone/>
            </a:pPr>
            <a:r>
              <a:rPr lang="en-US" sz="2700" b="1" dirty="0">
                <a:solidFill>
                  <a:srgbClr val="E8A33D"/>
                </a:solidFill>
                <a:latin typeface="Cambria" pitchFamily="34" charset="0"/>
                <a:ea typeface="Cambria" pitchFamily="34" charset="-122"/>
                <a:cs typeface="Cambria" pitchFamily="34" charset="-120"/>
              </a:rPr>
              <a:t>+13.8%</a:t>
            </a:r>
            <a:endParaRPr lang="en-US" sz="2700" dirty="0"/>
          </a:p>
        </p:txBody>
      </p:sp>
      <p:sp>
        <p:nvSpPr>
          <p:cNvPr id="8" name="Text 6"/>
          <p:cNvSpPr txBox="1"/>
          <p:nvPr/>
        </p:nvSpPr>
        <p:spPr>
          <a:xfrm>
            <a:off x="822960" y="5577840"/>
            <a:ext cx="219456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7 months, carry + intraday</a:t>
            </a:r>
            <a:endParaRPr lang="en-US" sz="1150" dirty="0"/>
          </a:p>
        </p:txBody>
      </p:sp>
      <p:sp>
        <p:nvSpPr>
          <p:cNvPr id="9" name="Text 7"/>
          <p:cNvSpPr txBox="1"/>
          <p:nvPr/>
        </p:nvSpPr>
        <p:spPr>
          <a:xfrm>
            <a:off x="3200400" y="5074920"/>
            <a:ext cx="2194560" cy="502920"/>
          </a:xfrm>
          <a:prstGeom prst="rect">
            <a:avLst/>
          </a:prstGeom>
          <a:noFill/>
          <a:ln/>
        </p:spPr>
        <p:txBody>
          <a:bodyPr wrap="square" lIns="0" tIns="0" rIns="0" bIns="0" rtlCol="0" anchor="ctr"/>
          <a:lstStyle/>
          <a:p>
            <a:pPr indent="0" marL="0">
              <a:buNone/>
            </a:pPr>
            <a:r>
              <a:rPr lang="en-US" sz="2700" b="1" dirty="0">
                <a:solidFill>
                  <a:srgbClr val="E8A33D"/>
                </a:solidFill>
                <a:latin typeface="Cambria" pitchFamily="34" charset="0"/>
                <a:ea typeface="Cambria" pitchFamily="34" charset="-122"/>
                <a:cs typeface="Cambria" pitchFamily="34" charset="-120"/>
              </a:rPr>
              <a:t>2.42</a:t>
            </a:r>
            <a:endParaRPr lang="en-US" sz="2700" dirty="0"/>
          </a:p>
        </p:txBody>
      </p:sp>
      <p:sp>
        <p:nvSpPr>
          <p:cNvPr id="10" name="Text 8"/>
          <p:cNvSpPr txBox="1"/>
          <p:nvPr/>
        </p:nvSpPr>
        <p:spPr>
          <a:xfrm>
            <a:off x="3200400" y="5577840"/>
            <a:ext cx="219456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Sharpe</a:t>
            </a:r>
            <a:endParaRPr lang="en-US" sz="1150" dirty="0"/>
          </a:p>
        </p:txBody>
      </p:sp>
      <p:sp>
        <p:nvSpPr>
          <p:cNvPr id="11" name="Text 9"/>
          <p:cNvSpPr txBox="1"/>
          <p:nvPr/>
        </p:nvSpPr>
        <p:spPr>
          <a:xfrm>
            <a:off x="5577840" y="5074920"/>
            <a:ext cx="2194560" cy="502920"/>
          </a:xfrm>
          <a:prstGeom prst="rect">
            <a:avLst/>
          </a:prstGeom>
          <a:noFill/>
          <a:ln/>
        </p:spPr>
        <p:txBody>
          <a:bodyPr wrap="square" lIns="0" tIns="0" rIns="0" bIns="0" rtlCol="0" anchor="ctr"/>
          <a:lstStyle/>
          <a:p>
            <a:pPr indent="0" marL="0">
              <a:buNone/>
            </a:pPr>
            <a:r>
              <a:rPr lang="en-US" sz="2700" b="1" dirty="0">
                <a:solidFill>
                  <a:srgbClr val="E8A33D"/>
                </a:solidFill>
                <a:latin typeface="Cambria" pitchFamily="34" charset="0"/>
                <a:ea typeface="Cambria" pitchFamily="34" charset="-122"/>
                <a:cs typeface="Cambria" pitchFamily="34" charset="-120"/>
              </a:rPr>
              <a:t>-3.6%</a:t>
            </a:r>
            <a:endParaRPr lang="en-US" sz="2700" dirty="0"/>
          </a:p>
        </p:txBody>
      </p:sp>
      <p:sp>
        <p:nvSpPr>
          <p:cNvPr id="12" name="Text 10"/>
          <p:cNvSpPr txBox="1"/>
          <p:nvPr/>
        </p:nvSpPr>
        <p:spPr>
          <a:xfrm>
            <a:off x="5577840" y="5577840"/>
            <a:ext cx="219456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max drawdown</a:t>
            </a:r>
            <a:endParaRPr lang="en-US" sz="1150" dirty="0"/>
          </a:p>
        </p:txBody>
      </p:sp>
      <p:sp>
        <p:nvSpPr>
          <p:cNvPr id="13" name="Text 11"/>
          <p:cNvSpPr txBox="1"/>
          <p:nvPr/>
        </p:nvSpPr>
        <p:spPr>
          <a:xfrm>
            <a:off x="7955280" y="5074920"/>
            <a:ext cx="2194560" cy="502920"/>
          </a:xfrm>
          <a:prstGeom prst="rect">
            <a:avLst/>
          </a:prstGeom>
          <a:noFill/>
          <a:ln/>
        </p:spPr>
        <p:txBody>
          <a:bodyPr wrap="square" lIns="0" tIns="0" rIns="0" bIns="0" rtlCol="0" anchor="ctr"/>
          <a:lstStyle/>
          <a:p>
            <a:pPr indent="0" marL="0">
              <a:buNone/>
            </a:pPr>
            <a:r>
              <a:rPr lang="en-US" sz="2700" b="1" dirty="0">
                <a:solidFill>
                  <a:srgbClr val="E8A33D"/>
                </a:solidFill>
                <a:latin typeface="Cambria" pitchFamily="34" charset="0"/>
                <a:ea typeface="Cambria" pitchFamily="34" charset="-122"/>
                <a:cs typeface="Cambria" pitchFamily="34" charset="-120"/>
              </a:rPr>
              <a:t>5.1%</a:t>
            </a:r>
            <a:endParaRPr lang="en-US" sz="2700" dirty="0"/>
          </a:p>
        </p:txBody>
      </p:sp>
      <p:sp>
        <p:nvSpPr>
          <p:cNvPr id="14" name="Text 12"/>
          <p:cNvSpPr txBox="1"/>
          <p:nvPr/>
        </p:nvSpPr>
        <p:spPr>
          <a:xfrm>
            <a:off x="7955280" y="5577840"/>
            <a:ext cx="219456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of ideas approved</a:t>
            </a:r>
            <a:endParaRPr lang="en-US" sz="1150" dirty="0"/>
          </a:p>
        </p:txBody>
      </p:sp>
      <p:sp>
        <p:nvSpPr>
          <p:cNvPr id="15" name="Text 1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100" i="1" dirty="0">
                <a:solidFill>
                  <a:srgbClr val="5A6779"/>
                </a:solidFill>
                <a:latin typeface="Calibri" pitchFamily="34" charset="0"/>
                <a:ea typeface="Calibri" pitchFamily="34" charset="-122"/>
                <a:cs typeface="Calibri" pitchFamily="34" charset="-120"/>
              </a:rPr>
              <a:t>Backtested on real Alpaca bars, Feb–Aug 2026 · 441 closed trades · costs and spread charged inside every fill. The events book has no usable backtest and says so.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E8A33D"/>
                </a:solidFill>
                <a:latin typeface="Calibri" pitchFamily="34" charset="0"/>
                <a:ea typeface="Calibri" pitchFamily="34" charset="-122"/>
                <a:cs typeface="Calibri" pitchFamily="34" charset="-120"/>
              </a:rPr>
              <a:t>THE THESIS</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Three bets that fail in different weather</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Uncorrelated in signal, opposite in volatility exposure, and only one of them needs a market condition to occur. A dry week for one is not a dry week for the account.</a:t>
            </a:r>
            <a:endParaRPr lang="en-US" sz="1450" dirty="0"/>
          </a:p>
        </p:txBody>
      </p:sp>
      <p:sp>
        <p:nvSpPr>
          <p:cNvPr id="5" name="Shape 3"/>
          <p:cNvSpPr/>
          <p:nvPr/>
        </p:nvSpPr>
        <p:spPr>
          <a:xfrm>
            <a:off x="640080" y="1737360"/>
            <a:ext cx="3502152" cy="4480560"/>
          </a:xfrm>
          <a:prstGeom prst="roundRect">
            <a:avLst>
              <a:gd name="adj" fmla="val 1567"/>
            </a:avLst>
          </a:prstGeom>
          <a:solidFill>
            <a:srgbClr val="F1F4F9"/>
          </a:solidFill>
          <a:ln w="12700">
            <a:solidFill>
              <a:srgbClr val="F1F4F9"/>
            </a:solidFill>
            <a:prstDash val="solid"/>
          </a:ln>
        </p:spPr>
      </p:sp>
      <p:sp>
        <p:nvSpPr>
          <p:cNvPr id="6" name="Shape 4"/>
          <p:cNvSpPr/>
          <p:nvPr/>
        </p:nvSpPr>
        <p:spPr>
          <a:xfrm>
            <a:off x="868680" y="1938528"/>
            <a:ext cx="1325880" cy="310896"/>
          </a:xfrm>
          <a:prstGeom prst="roundRect">
            <a:avLst>
              <a:gd name="adj" fmla="val 50000"/>
            </a:avLst>
          </a:prstGeom>
          <a:solidFill>
            <a:srgbClr val="2FBF71"/>
          </a:solidFill>
          <a:ln/>
        </p:spPr>
      </p:sp>
      <p:sp>
        <p:nvSpPr>
          <p:cNvPr id="7" name="Text 5"/>
          <p:cNvSpPr txBox="1"/>
          <p:nvPr/>
        </p:nvSpPr>
        <p:spPr>
          <a:xfrm>
            <a:off x="868680" y="1938528"/>
            <a:ext cx="13258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CARRY</a:t>
            </a:r>
            <a:endParaRPr lang="en-US" sz="1050" dirty="0"/>
          </a:p>
        </p:txBody>
      </p:sp>
      <p:sp>
        <p:nvSpPr>
          <p:cNvPr id="8" name="Text 6"/>
          <p:cNvSpPr txBox="1"/>
          <p:nvPr/>
        </p:nvSpPr>
        <p:spPr>
          <a:xfrm>
            <a:off x="868680" y="2286000"/>
            <a:ext cx="3108960" cy="274320"/>
          </a:xfrm>
          <a:prstGeom prst="rect">
            <a:avLst/>
          </a:prstGeom>
          <a:noFill/>
          <a:ln/>
        </p:spPr>
        <p:txBody>
          <a:bodyPr wrap="square" lIns="0" tIns="0" rIns="0" bIns="0" rtlCol="0" anchor="ctr"/>
          <a:lstStyle/>
          <a:p>
            <a:pPr indent="0" marL="0">
              <a:buNone/>
            </a:pPr>
            <a:r>
              <a:rPr lang="en-US" sz="1050" dirty="0">
                <a:solidFill>
                  <a:srgbClr val="5A6779"/>
                </a:solidFill>
                <a:latin typeface="Courier New" pitchFamily="34" charset="0"/>
                <a:ea typeface="Courier New" pitchFamily="34" charset="-122"/>
                <a:cs typeface="Courier New" pitchFamily="34" charset="-120"/>
              </a:rPr>
              <a:t>vol_carry</a:t>
            </a:r>
            <a:endParaRPr lang="en-US" sz="1050" dirty="0"/>
          </a:p>
        </p:txBody>
      </p:sp>
      <p:sp>
        <p:nvSpPr>
          <p:cNvPr id="9" name="Text 7"/>
          <p:cNvSpPr txBox="1"/>
          <p:nvPr/>
        </p:nvSpPr>
        <p:spPr>
          <a:xfrm>
            <a:off x="868680" y="2633472"/>
            <a:ext cx="3063240" cy="777240"/>
          </a:xfrm>
          <a:prstGeom prst="rect">
            <a:avLst/>
          </a:prstGeom>
          <a:noFill/>
          <a:ln/>
        </p:spPr>
        <p:txBody>
          <a:bodyPr wrap="square" lIns="0" tIns="0" rIns="0" bIns="0" rtlCol="0" anchor="ctr"/>
          <a:lstStyle/>
          <a:p>
            <a:pPr indent="0" marL="0">
              <a:lnSpc>
                <a:spcPts val="1900"/>
              </a:lnSpc>
              <a:buNone/>
            </a:pPr>
            <a:r>
              <a:rPr lang="en-US" sz="1350" b="1" i="1" dirty="0">
                <a:solidFill>
                  <a:srgbClr val="16202F"/>
                </a:solidFill>
                <a:latin typeface="Cambria" pitchFamily="34" charset="0"/>
                <a:ea typeface="Cambria" pitchFamily="34" charset="-122"/>
                <a:cs typeface="Cambria" pitchFamily="34" charset="-120"/>
              </a:rPr>
              <a:t>Options are priced for more movement than actually happens.</a:t>
            </a:r>
            <a:endParaRPr lang="en-US" sz="1350" dirty="0"/>
          </a:p>
        </p:txBody>
      </p:sp>
      <p:sp>
        <p:nvSpPr>
          <p:cNvPr id="10" name="Text 8"/>
          <p:cNvSpPr txBox="1"/>
          <p:nvPr/>
        </p:nvSpPr>
        <p:spPr>
          <a:xfrm>
            <a:off x="868680" y="3493008"/>
            <a:ext cx="777240" cy="402336"/>
          </a:xfrm>
          <a:prstGeom prst="rect">
            <a:avLst/>
          </a:prstGeom>
          <a:noFill/>
          <a:ln/>
        </p:spPr>
        <p:txBody>
          <a:bodyPr wrap="square" lIns="0" tIns="0" rIns="0" bIns="0" rtlCol="0" anchor="ctr"/>
          <a:lstStyle/>
          <a:p>
            <a:pPr indent="0" marL="0">
              <a:buNone/>
            </a:pPr>
            <a:r>
              <a:rPr lang="en-US" sz="1000" b="1" dirty="0">
                <a:solidFill>
                  <a:srgbClr val="2FBF71"/>
                </a:solidFill>
                <a:latin typeface="Calibri" pitchFamily="34" charset="0"/>
                <a:ea typeface="Calibri" pitchFamily="34" charset="-122"/>
                <a:cs typeface="Calibri" pitchFamily="34" charset="-120"/>
              </a:rPr>
              <a:t>Bet</a:t>
            </a:r>
            <a:endParaRPr lang="en-US" sz="1000" dirty="0"/>
          </a:p>
        </p:txBody>
      </p:sp>
      <p:sp>
        <p:nvSpPr>
          <p:cNvPr id="11" name="Text 9"/>
          <p:cNvSpPr txBox="1"/>
          <p:nvPr/>
        </p:nvSpPr>
        <p:spPr>
          <a:xfrm>
            <a:off x="1645920" y="34930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Sell movement, paid up front</a:t>
            </a:r>
            <a:endParaRPr lang="en-US" sz="1100" dirty="0"/>
          </a:p>
        </p:txBody>
      </p:sp>
      <p:sp>
        <p:nvSpPr>
          <p:cNvPr id="12" name="Text 10"/>
          <p:cNvSpPr txBox="1"/>
          <p:nvPr/>
        </p:nvSpPr>
        <p:spPr>
          <a:xfrm>
            <a:off x="868680" y="3950208"/>
            <a:ext cx="777240" cy="402336"/>
          </a:xfrm>
          <a:prstGeom prst="rect">
            <a:avLst/>
          </a:prstGeom>
          <a:noFill/>
          <a:ln/>
        </p:spPr>
        <p:txBody>
          <a:bodyPr wrap="square" lIns="0" tIns="0" rIns="0" bIns="0" rtlCol="0" anchor="ctr"/>
          <a:lstStyle/>
          <a:p>
            <a:pPr indent="0" marL="0">
              <a:buNone/>
            </a:pPr>
            <a:r>
              <a:rPr lang="en-US" sz="1000" b="1" dirty="0">
                <a:solidFill>
                  <a:srgbClr val="2FBF71"/>
                </a:solidFill>
                <a:latin typeface="Calibri" pitchFamily="34" charset="0"/>
                <a:ea typeface="Calibri" pitchFamily="34" charset="-122"/>
                <a:cs typeface="Calibri" pitchFamily="34" charset="-120"/>
              </a:rPr>
              <a:t>Shape</a:t>
            </a:r>
            <a:endParaRPr lang="en-US" sz="1000" dirty="0"/>
          </a:p>
        </p:txBody>
      </p:sp>
      <p:sp>
        <p:nvSpPr>
          <p:cNvPr id="13" name="Text 11"/>
          <p:cNvSpPr txBox="1"/>
          <p:nvPr/>
        </p:nvSpPr>
        <p:spPr>
          <a:xfrm>
            <a:off x="1645920" y="39502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Iron condor, 25Δ, 7–14 DTE</a:t>
            </a:r>
            <a:endParaRPr lang="en-US" sz="1100" dirty="0"/>
          </a:p>
        </p:txBody>
      </p:sp>
      <p:sp>
        <p:nvSpPr>
          <p:cNvPr id="14" name="Text 12"/>
          <p:cNvSpPr txBox="1"/>
          <p:nvPr/>
        </p:nvSpPr>
        <p:spPr>
          <a:xfrm>
            <a:off x="868680" y="4407408"/>
            <a:ext cx="777240" cy="402336"/>
          </a:xfrm>
          <a:prstGeom prst="rect">
            <a:avLst/>
          </a:prstGeom>
          <a:noFill/>
          <a:ln/>
        </p:spPr>
        <p:txBody>
          <a:bodyPr wrap="square" lIns="0" tIns="0" rIns="0" bIns="0" rtlCol="0" anchor="ctr"/>
          <a:lstStyle/>
          <a:p>
            <a:pPr indent="0" marL="0">
              <a:buNone/>
            </a:pPr>
            <a:r>
              <a:rPr lang="en-US" sz="1000" b="1" dirty="0">
                <a:solidFill>
                  <a:srgbClr val="2FBF71"/>
                </a:solidFill>
                <a:latin typeface="Calibri" pitchFamily="34" charset="0"/>
                <a:ea typeface="Calibri" pitchFamily="34" charset="-122"/>
                <a:cs typeface="Calibri" pitchFamily="34" charset="-120"/>
              </a:rPr>
              <a:t>Wants</a:t>
            </a:r>
            <a:endParaRPr lang="en-US" sz="1000" dirty="0"/>
          </a:p>
        </p:txBody>
      </p:sp>
      <p:sp>
        <p:nvSpPr>
          <p:cNvPr id="15" name="Text 13"/>
          <p:cNvSpPr txBox="1"/>
          <p:nvPr/>
        </p:nvSpPr>
        <p:spPr>
          <a:xfrm>
            <a:off x="1645920" y="44074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Nothing to happen</a:t>
            </a:r>
            <a:endParaRPr lang="en-US" sz="1100" dirty="0"/>
          </a:p>
        </p:txBody>
      </p:sp>
      <p:sp>
        <p:nvSpPr>
          <p:cNvPr id="16" name="Text 14"/>
          <p:cNvSpPr txBox="1"/>
          <p:nvPr/>
        </p:nvSpPr>
        <p:spPr>
          <a:xfrm>
            <a:off x="868680" y="4864608"/>
            <a:ext cx="777240" cy="402336"/>
          </a:xfrm>
          <a:prstGeom prst="rect">
            <a:avLst/>
          </a:prstGeom>
          <a:noFill/>
          <a:ln/>
        </p:spPr>
        <p:txBody>
          <a:bodyPr wrap="square" lIns="0" tIns="0" rIns="0" bIns="0" rtlCol="0" anchor="ctr"/>
          <a:lstStyle/>
          <a:p>
            <a:pPr indent="0" marL="0">
              <a:buNone/>
            </a:pPr>
            <a:r>
              <a:rPr lang="en-US" sz="1000" b="1" dirty="0">
                <a:solidFill>
                  <a:srgbClr val="2FBF71"/>
                </a:solidFill>
                <a:latin typeface="Calibri" pitchFamily="34" charset="0"/>
                <a:ea typeface="Calibri" pitchFamily="34" charset="-122"/>
                <a:cs typeface="Calibri" pitchFamily="34" charset="-120"/>
              </a:rPr>
              <a:t>Hold</a:t>
            </a:r>
            <a:endParaRPr lang="en-US" sz="1000" dirty="0"/>
          </a:p>
        </p:txBody>
      </p:sp>
      <p:sp>
        <p:nvSpPr>
          <p:cNvPr id="17" name="Text 15"/>
          <p:cNvSpPr txBox="1"/>
          <p:nvPr/>
        </p:nvSpPr>
        <p:spPr>
          <a:xfrm>
            <a:off x="1645920" y="48646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3–10 sessions, overnight</a:t>
            </a:r>
            <a:endParaRPr lang="en-US" sz="1100" dirty="0"/>
          </a:p>
        </p:txBody>
      </p:sp>
      <p:sp>
        <p:nvSpPr>
          <p:cNvPr id="18" name="Text 16"/>
          <p:cNvSpPr txBox="1"/>
          <p:nvPr/>
        </p:nvSpPr>
        <p:spPr>
          <a:xfrm>
            <a:off x="868680" y="5321808"/>
            <a:ext cx="777240" cy="402336"/>
          </a:xfrm>
          <a:prstGeom prst="rect">
            <a:avLst/>
          </a:prstGeom>
          <a:noFill/>
          <a:ln/>
        </p:spPr>
        <p:txBody>
          <a:bodyPr wrap="square" lIns="0" tIns="0" rIns="0" bIns="0" rtlCol="0" anchor="ctr"/>
          <a:lstStyle/>
          <a:p>
            <a:pPr indent="0" marL="0">
              <a:buNone/>
            </a:pPr>
            <a:r>
              <a:rPr lang="en-US" sz="1000" b="1" dirty="0">
                <a:solidFill>
                  <a:srgbClr val="2FBF71"/>
                </a:solidFill>
                <a:latin typeface="Calibri" pitchFamily="34" charset="0"/>
                <a:ea typeface="Calibri" pitchFamily="34" charset="-122"/>
                <a:cs typeface="Calibri" pitchFamily="34" charset="-120"/>
              </a:rPr>
              <a:t>Edge</a:t>
            </a:r>
            <a:endParaRPr lang="en-US" sz="1000" dirty="0"/>
          </a:p>
        </p:txBody>
      </p:sp>
      <p:sp>
        <p:nvSpPr>
          <p:cNvPr id="19" name="Text 17"/>
          <p:cNvSpPr txBox="1"/>
          <p:nvPr/>
        </p:nvSpPr>
        <p:spPr>
          <a:xfrm>
            <a:off x="1645920" y="53218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The IV − RV spread</a:t>
            </a:r>
            <a:endParaRPr lang="en-US" sz="1100" dirty="0"/>
          </a:p>
        </p:txBody>
      </p:sp>
      <p:sp>
        <p:nvSpPr>
          <p:cNvPr id="20" name="Text 18"/>
          <p:cNvSpPr txBox="1"/>
          <p:nvPr/>
        </p:nvSpPr>
        <p:spPr>
          <a:xfrm>
            <a:off x="868680" y="5779008"/>
            <a:ext cx="777240" cy="402336"/>
          </a:xfrm>
          <a:prstGeom prst="rect">
            <a:avLst/>
          </a:prstGeom>
          <a:noFill/>
          <a:ln/>
        </p:spPr>
        <p:txBody>
          <a:bodyPr wrap="square" lIns="0" tIns="0" rIns="0" bIns="0" rtlCol="0" anchor="ctr"/>
          <a:lstStyle/>
          <a:p>
            <a:pPr indent="0" marL="0">
              <a:buNone/>
            </a:pPr>
            <a:r>
              <a:rPr lang="en-US" sz="1000" b="1" dirty="0">
                <a:solidFill>
                  <a:srgbClr val="2FBF71"/>
                </a:solidFill>
                <a:latin typeface="Calibri" pitchFamily="34" charset="0"/>
                <a:ea typeface="Calibri" pitchFamily="34" charset="-122"/>
                <a:cs typeface="Calibri" pitchFamily="34" charset="-120"/>
              </a:rPr>
              <a:t>Risk</a:t>
            </a:r>
            <a:endParaRPr lang="en-US" sz="1000" dirty="0"/>
          </a:p>
        </p:txBody>
      </p:sp>
      <p:sp>
        <p:nvSpPr>
          <p:cNvPr id="21" name="Text 19"/>
          <p:cNvSpPr txBox="1"/>
          <p:nvPr/>
        </p:nvSpPr>
        <p:spPr>
          <a:xfrm>
            <a:off x="1645920" y="57790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Short gamma</a:t>
            </a:r>
            <a:endParaRPr lang="en-US" sz="1100" dirty="0"/>
          </a:p>
        </p:txBody>
      </p:sp>
      <p:sp>
        <p:nvSpPr>
          <p:cNvPr id="22" name="Shape 20"/>
          <p:cNvSpPr/>
          <p:nvPr/>
        </p:nvSpPr>
        <p:spPr>
          <a:xfrm>
            <a:off x="4325112" y="1737360"/>
            <a:ext cx="3502152" cy="4480560"/>
          </a:xfrm>
          <a:prstGeom prst="roundRect">
            <a:avLst>
              <a:gd name="adj" fmla="val 1567"/>
            </a:avLst>
          </a:prstGeom>
          <a:solidFill>
            <a:srgbClr val="F1F4F9"/>
          </a:solidFill>
          <a:ln w="12700">
            <a:solidFill>
              <a:srgbClr val="F1F4F9"/>
            </a:solidFill>
            <a:prstDash val="solid"/>
          </a:ln>
        </p:spPr>
      </p:sp>
      <p:sp>
        <p:nvSpPr>
          <p:cNvPr id="23" name="Shape 21"/>
          <p:cNvSpPr/>
          <p:nvPr/>
        </p:nvSpPr>
        <p:spPr>
          <a:xfrm>
            <a:off x="4553712" y="1938528"/>
            <a:ext cx="1325880" cy="310896"/>
          </a:xfrm>
          <a:prstGeom prst="roundRect">
            <a:avLst>
              <a:gd name="adj" fmla="val 50000"/>
            </a:avLst>
          </a:prstGeom>
          <a:solidFill>
            <a:srgbClr val="E8A33D"/>
          </a:solidFill>
          <a:ln/>
        </p:spPr>
      </p:sp>
      <p:sp>
        <p:nvSpPr>
          <p:cNvPr id="24" name="Text 22"/>
          <p:cNvSpPr txBox="1"/>
          <p:nvPr/>
        </p:nvSpPr>
        <p:spPr>
          <a:xfrm>
            <a:off x="4553712" y="1938528"/>
            <a:ext cx="1325880" cy="310896"/>
          </a:xfrm>
          <a:prstGeom prst="rect">
            <a:avLst/>
          </a:prstGeom>
          <a:noFill/>
          <a:ln/>
        </p:spPr>
        <p:txBody>
          <a:bodyPr wrap="square" lIns="0" tIns="0" rIns="0" bIns="0" rtlCol="0" anchor="ctr"/>
          <a:lstStyle/>
          <a:p>
            <a:pPr algn="ctr" indent="0" marL="0">
              <a:buNone/>
            </a:pPr>
            <a:r>
              <a:rPr lang="en-US" sz="1050" b="1" dirty="0">
                <a:solidFill>
                  <a:srgbClr val="0F1A2E"/>
                </a:solidFill>
                <a:latin typeface="Calibri" pitchFamily="34" charset="0"/>
                <a:ea typeface="Calibri" pitchFamily="34" charset="-122"/>
                <a:cs typeface="Calibri" pitchFamily="34" charset="-120"/>
              </a:rPr>
              <a:t>INTRADAY</a:t>
            </a:r>
            <a:endParaRPr lang="en-US" sz="1050" dirty="0"/>
          </a:p>
        </p:txBody>
      </p:sp>
      <p:sp>
        <p:nvSpPr>
          <p:cNvPr id="25" name="Text 23"/>
          <p:cNvSpPr txBox="1"/>
          <p:nvPr/>
        </p:nvSpPr>
        <p:spPr>
          <a:xfrm>
            <a:off x="4553712" y="2286000"/>
            <a:ext cx="3108960" cy="274320"/>
          </a:xfrm>
          <a:prstGeom prst="rect">
            <a:avLst/>
          </a:prstGeom>
          <a:noFill/>
          <a:ln/>
        </p:spPr>
        <p:txBody>
          <a:bodyPr wrap="square" lIns="0" tIns="0" rIns="0" bIns="0" rtlCol="0" anchor="ctr"/>
          <a:lstStyle/>
          <a:p>
            <a:pPr indent="0" marL="0">
              <a:buNone/>
            </a:pPr>
            <a:r>
              <a:rPr lang="en-US" sz="1050" dirty="0">
                <a:solidFill>
                  <a:srgbClr val="5A6779"/>
                </a:solidFill>
                <a:latin typeface="Courier New" pitchFamily="34" charset="0"/>
                <a:ea typeface="Courier New" pitchFamily="34" charset="-122"/>
                <a:cs typeface="Courier New" pitchFamily="34" charset="-120"/>
              </a:rPr>
              <a:t>intraday_momentum</a:t>
            </a:r>
            <a:endParaRPr lang="en-US" sz="1050" dirty="0"/>
          </a:p>
        </p:txBody>
      </p:sp>
      <p:sp>
        <p:nvSpPr>
          <p:cNvPr id="26" name="Text 24"/>
          <p:cNvSpPr txBox="1"/>
          <p:nvPr/>
        </p:nvSpPr>
        <p:spPr>
          <a:xfrm>
            <a:off x="4553712" y="2633472"/>
            <a:ext cx="3063240" cy="777240"/>
          </a:xfrm>
          <a:prstGeom prst="rect">
            <a:avLst/>
          </a:prstGeom>
          <a:noFill/>
          <a:ln/>
        </p:spPr>
        <p:txBody>
          <a:bodyPr wrap="square" lIns="0" tIns="0" rIns="0" bIns="0" rtlCol="0" anchor="ctr"/>
          <a:lstStyle/>
          <a:p>
            <a:pPr indent="0" marL="0">
              <a:lnSpc>
                <a:spcPts val="1900"/>
              </a:lnSpc>
              <a:buNone/>
            </a:pPr>
            <a:r>
              <a:rPr lang="en-US" sz="1350" b="1" i="1" dirty="0">
                <a:solidFill>
                  <a:srgbClr val="16202F"/>
                </a:solidFill>
                <a:latin typeface="Cambria" pitchFamily="34" charset="0"/>
                <a:ea typeface="Cambria" pitchFamily="34" charset="-122"/>
                <a:cs typeface="Cambria" pitchFamily="34" charset="-120"/>
              </a:rPr>
              <a:t>A move with a mechanism behind it keeps going for a while.</a:t>
            </a:r>
            <a:endParaRPr lang="en-US" sz="1350" dirty="0"/>
          </a:p>
        </p:txBody>
      </p:sp>
      <p:sp>
        <p:nvSpPr>
          <p:cNvPr id="27" name="Text 25"/>
          <p:cNvSpPr txBox="1"/>
          <p:nvPr/>
        </p:nvSpPr>
        <p:spPr>
          <a:xfrm>
            <a:off x="4553712" y="3493008"/>
            <a:ext cx="777240" cy="402336"/>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Bet</a:t>
            </a:r>
            <a:endParaRPr lang="en-US" sz="1000" dirty="0"/>
          </a:p>
        </p:txBody>
      </p:sp>
      <p:sp>
        <p:nvSpPr>
          <p:cNvPr id="28" name="Text 26"/>
          <p:cNvSpPr txBox="1"/>
          <p:nvPr/>
        </p:nvSpPr>
        <p:spPr>
          <a:xfrm>
            <a:off x="5330952" y="34930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Buy the continuation</a:t>
            </a:r>
            <a:endParaRPr lang="en-US" sz="1100" dirty="0"/>
          </a:p>
        </p:txBody>
      </p:sp>
      <p:sp>
        <p:nvSpPr>
          <p:cNvPr id="29" name="Text 27"/>
          <p:cNvSpPr txBox="1"/>
          <p:nvPr/>
        </p:nvSpPr>
        <p:spPr>
          <a:xfrm>
            <a:off x="4553712" y="3950208"/>
            <a:ext cx="777240" cy="402336"/>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Shape</a:t>
            </a:r>
            <a:endParaRPr lang="en-US" sz="1000" dirty="0"/>
          </a:p>
        </p:txBody>
      </p:sp>
      <p:sp>
        <p:nvSpPr>
          <p:cNvPr id="30" name="Text 28"/>
          <p:cNvSpPr txBox="1"/>
          <p:nvPr/>
        </p:nvSpPr>
        <p:spPr>
          <a:xfrm>
            <a:off x="5330952" y="39502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Long 0–2 DTE, or a vertical</a:t>
            </a:r>
            <a:endParaRPr lang="en-US" sz="1100" dirty="0"/>
          </a:p>
        </p:txBody>
      </p:sp>
      <p:sp>
        <p:nvSpPr>
          <p:cNvPr id="31" name="Text 29"/>
          <p:cNvSpPr txBox="1"/>
          <p:nvPr/>
        </p:nvSpPr>
        <p:spPr>
          <a:xfrm>
            <a:off x="4553712" y="4407408"/>
            <a:ext cx="777240" cy="402336"/>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Wants</a:t>
            </a:r>
            <a:endParaRPr lang="en-US" sz="1000" dirty="0"/>
          </a:p>
        </p:txBody>
      </p:sp>
      <p:sp>
        <p:nvSpPr>
          <p:cNvPr id="32" name="Text 30"/>
          <p:cNvSpPr txBox="1"/>
          <p:nvPr/>
        </p:nvSpPr>
        <p:spPr>
          <a:xfrm>
            <a:off x="5330952" y="44074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Something to happen, fast</a:t>
            </a:r>
            <a:endParaRPr lang="en-US" sz="1100" dirty="0"/>
          </a:p>
        </p:txBody>
      </p:sp>
      <p:sp>
        <p:nvSpPr>
          <p:cNvPr id="33" name="Text 31"/>
          <p:cNvSpPr txBox="1"/>
          <p:nvPr/>
        </p:nvSpPr>
        <p:spPr>
          <a:xfrm>
            <a:off x="4553712" y="4864608"/>
            <a:ext cx="777240" cy="402336"/>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Hold</a:t>
            </a:r>
            <a:endParaRPr lang="en-US" sz="1000" dirty="0"/>
          </a:p>
        </p:txBody>
      </p:sp>
      <p:sp>
        <p:nvSpPr>
          <p:cNvPr id="34" name="Text 32"/>
          <p:cNvSpPr txBox="1"/>
          <p:nvPr/>
        </p:nvSpPr>
        <p:spPr>
          <a:xfrm>
            <a:off x="5330952" y="48646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Minutes, flat by 15:10</a:t>
            </a:r>
            <a:endParaRPr lang="en-US" sz="1100" dirty="0"/>
          </a:p>
        </p:txBody>
      </p:sp>
      <p:sp>
        <p:nvSpPr>
          <p:cNvPr id="35" name="Text 33"/>
          <p:cNvSpPr txBox="1"/>
          <p:nvPr/>
        </p:nvSpPr>
        <p:spPr>
          <a:xfrm>
            <a:off x="4553712" y="5321808"/>
            <a:ext cx="777240" cy="402336"/>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Edge</a:t>
            </a:r>
            <a:endParaRPr lang="en-US" sz="1000" dirty="0"/>
          </a:p>
        </p:txBody>
      </p:sp>
      <p:sp>
        <p:nvSpPr>
          <p:cNvPr id="36" name="Text 34"/>
          <p:cNvSpPr txBox="1"/>
          <p:nvPr/>
        </p:nvSpPr>
        <p:spPr>
          <a:xfrm>
            <a:off x="5330952" y="53218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Directional continuation</a:t>
            </a:r>
            <a:endParaRPr lang="en-US" sz="1100" dirty="0"/>
          </a:p>
        </p:txBody>
      </p:sp>
      <p:sp>
        <p:nvSpPr>
          <p:cNvPr id="37" name="Text 35"/>
          <p:cNvSpPr txBox="1"/>
          <p:nvPr/>
        </p:nvSpPr>
        <p:spPr>
          <a:xfrm>
            <a:off x="4553712" y="5779008"/>
            <a:ext cx="777240" cy="402336"/>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Risk</a:t>
            </a:r>
            <a:endParaRPr lang="en-US" sz="1000" dirty="0"/>
          </a:p>
        </p:txBody>
      </p:sp>
      <p:sp>
        <p:nvSpPr>
          <p:cNvPr id="38" name="Text 36"/>
          <p:cNvSpPr txBox="1"/>
          <p:nvPr/>
        </p:nvSpPr>
        <p:spPr>
          <a:xfrm>
            <a:off x="5330952" y="57790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Spread cost, signal decay</a:t>
            </a:r>
            <a:endParaRPr lang="en-US" sz="1100" dirty="0"/>
          </a:p>
        </p:txBody>
      </p:sp>
      <p:sp>
        <p:nvSpPr>
          <p:cNvPr id="39" name="Shape 37"/>
          <p:cNvSpPr/>
          <p:nvPr/>
        </p:nvSpPr>
        <p:spPr>
          <a:xfrm>
            <a:off x="8010144" y="1737360"/>
            <a:ext cx="3502152" cy="4480560"/>
          </a:xfrm>
          <a:prstGeom prst="roundRect">
            <a:avLst>
              <a:gd name="adj" fmla="val 1567"/>
            </a:avLst>
          </a:prstGeom>
          <a:solidFill>
            <a:srgbClr val="F1F4F9"/>
          </a:solidFill>
          <a:ln w="12700">
            <a:solidFill>
              <a:srgbClr val="F1F4F9"/>
            </a:solidFill>
            <a:prstDash val="solid"/>
          </a:ln>
        </p:spPr>
      </p:sp>
      <p:sp>
        <p:nvSpPr>
          <p:cNvPr id="40" name="Shape 38"/>
          <p:cNvSpPr/>
          <p:nvPr/>
        </p:nvSpPr>
        <p:spPr>
          <a:xfrm>
            <a:off x="8238744" y="1938528"/>
            <a:ext cx="1325880" cy="310896"/>
          </a:xfrm>
          <a:prstGeom prst="roundRect">
            <a:avLst>
              <a:gd name="adj" fmla="val 50000"/>
            </a:avLst>
          </a:prstGeom>
          <a:solidFill>
            <a:srgbClr val="8B5CF6"/>
          </a:solidFill>
          <a:ln/>
        </p:spPr>
      </p:sp>
      <p:sp>
        <p:nvSpPr>
          <p:cNvPr id="41" name="Text 39"/>
          <p:cNvSpPr txBox="1"/>
          <p:nvPr/>
        </p:nvSpPr>
        <p:spPr>
          <a:xfrm>
            <a:off x="8238744" y="1938528"/>
            <a:ext cx="13258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EVENTS</a:t>
            </a:r>
            <a:endParaRPr lang="en-US" sz="1050" dirty="0"/>
          </a:p>
        </p:txBody>
      </p:sp>
      <p:sp>
        <p:nvSpPr>
          <p:cNvPr id="42" name="Text 40"/>
          <p:cNvSpPr txBox="1"/>
          <p:nvPr/>
        </p:nvSpPr>
        <p:spPr>
          <a:xfrm>
            <a:off x="8238744" y="2286000"/>
            <a:ext cx="3108960" cy="274320"/>
          </a:xfrm>
          <a:prstGeom prst="rect">
            <a:avLst/>
          </a:prstGeom>
          <a:noFill/>
          <a:ln/>
        </p:spPr>
        <p:txBody>
          <a:bodyPr wrap="square" lIns="0" tIns="0" rIns="0" bIns="0" rtlCol="0" anchor="ctr"/>
          <a:lstStyle/>
          <a:p>
            <a:pPr indent="0" marL="0">
              <a:buNone/>
            </a:pPr>
            <a:r>
              <a:rPr lang="en-US" sz="1050" dirty="0">
                <a:solidFill>
                  <a:srgbClr val="5A6779"/>
                </a:solidFill>
                <a:latin typeface="Courier New" pitchFamily="34" charset="0"/>
                <a:ea typeface="Courier New" pitchFamily="34" charset="-122"/>
                <a:cs typeface="Courier New" pitchFamily="34" charset="-120"/>
              </a:rPr>
              <a:t>earnings_event_directional</a:t>
            </a:r>
            <a:endParaRPr lang="en-US" sz="1050" dirty="0"/>
          </a:p>
        </p:txBody>
      </p:sp>
      <p:sp>
        <p:nvSpPr>
          <p:cNvPr id="43" name="Text 41"/>
          <p:cNvSpPr txBox="1"/>
          <p:nvPr/>
        </p:nvSpPr>
        <p:spPr>
          <a:xfrm>
            <a:off x="8238744" y="2633472"/>
            <a:ext cx="3063240" cy="777240"/>
          </a:xfrm>
          <a:prstGeom prst="rect">
            <a:avLst/>
          </a:prstGeom>
          <a:noFill/>
          <a:ln/>
        </p:spPr>
        <p:txBody>
          <a:bodyPr wrap="square" lIns="0" tIns="0" rIns="0" bIns="0" rtlCol="0" anchor="ctr"/>
          <a:lstStyle/>
          <a:p>
            <a:pPr indent="0" marL="0">
              <a:lnSpc>
                <a:spcPts val="1900"/>
              </a:lnSpc>
              <a:buNone/>
            </a:pPr>
            <a:r>
              <a:rPr lang="en-US" sz="1350" b="1" i="1" dirty="0">
                <a:solidFill>
                  <a:srgbClr val="16202F"/>
                </a:solidFill>
                <a:latin typeface="Cambria" pitchFamily="34" charset="0"/>
                <a:ea typeface="Cambria" pitchFamily="34" charset="-122"/>
                <a:cs typeface="Cambria" pitchFamily="34" charset="-120"/>
              </a:rPr>
              <a:t>A scheduled print is an event the option market has to price.</a:t>
            </a:r>
            <a:endParaRPr lang="en-US" sz="1350" dirty="0"/>
          </a:p>
        </p:txBody>
      </p:sp>
      <p:sp>
        <p:nvSpPr>
          <p:cNvPr id="44" name="Text 42"/>
          <p:cNvSpPr txBox="1"/>
          <p:nvPr/>
        </p:nvSpPr>
        <p:spPr>
          <a:xfrm>
            <a:off x="8238744" y="3493008"/>
            <a:ext cx="777240" cy="402336"/>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Bet</a:t>
            </a:r>
            <a:endParaRPr lang="en-US" sz="1000" dirty="0"/>
          </a:p>
        </p:txBody>
      </p:sp>
      <p:sp>
        <p:nvSpPr>
          <p:cNvPr id="45" name="Text 43"/>
          <p:cNvSpPr txBox="1"/>
          <p:nvPr/>
        </p:nvSpPr>
        <p:spPr>
          <a:xfrm>
            <a:off x="9015984" y="34930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Trade the mispriced move</a:t>
            </a:r>
            <a:endParaRPr lang="en-US" sz="1100" dirty="0"/>
          </a:p>
        </p:txBody>
      </p:sp>
      <p:sp>
        <p:nvSpPr>
          <p:cNvPr id="46" name="Text 44"/>
          <p:cNvSpPr txBox="1"/>
          <p:nvPr/>
        </p:nvSpPr>
        <p:spPr>
          <a:xfrm>
            <a:off x="8238744" y="3950208"/>
            <a:ext cx="777240" cy="402336"/>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Shape</a:t>
            </a:r>
            <a:endParaRPr lang="en-US" sz="1000" dirty="0"/>
          </a:p>
        </p:txBody>
      </p:sp>
      <p:sp>
        <p:nvSpPr>
          <p:cNvPr id="47" name="Text 45"/>
          <p:cNvSpPr txBox="1"/>
          <p:nvPr/>
        </p:nvSpPr>
        <p:spPr>
          <a:xfrm>
            <a:off x="9015984" y="39502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Condor if rich, vertical if cheap</a:t>
            </a:r>
            <a:endParaRPr lang="en-US" sz="1100" dirty="0"/>
          </a:p>
        </p:txBody>
      </p:sp>
      <p:sp>
        <p:nvSpPr>
          <p:cNvPr id="48" name="Text 46"/>
          <p:cNvSpPr txBox="1"/>
          <p:nvPr/>
        </p:nvSpPr>
        <p:spPr>
          <a:xfrm>
            <a:off x="8238744" y="4407408"/>
            <a:ext cx="777240" cy="402336"/>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Wants</a:t>
            </a:r>
            <a:endParaRPr lang="en-US" sz="1000" dirty="0"/>
          </a:p>
        </p:txBody>
      </p:sp>
      <p:sp>
        <p:nvSpPr>
          <p:cNvPr id="49" name="Text 47"/>
          <p:cNvSpPr txBox="1"/>
          <p:nvPr/>
        </p:nvSpPr>
        <p:spPr>
          <a:xfrm>
            <a:off x="9015984" y="44074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The priced move to be wrong</a:t>
            </a:r>
            <a:endParaRPr lang="en-US" sz="1100" dirty="0"/>
          </a:p>
        </p:txBody>
      </p:sp>
      <p:sp>
        <p:nvSpPr>
          <p:cNvPr id="50" name="Text 48"/>
          <p:cNvSpPr txBox="1"/>
          <p:nvPr/>
        </p:nvSpPr>
        <p:spPr>
          <a:xfrm>
            <a:off x="8238744" y="4864608"/>
            <a:ext cx="777240" cy="402336"/>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Hold</a:t>
            </a:r>
            <a:endParaRPr lang="en-US" sz="1000" dirty="0"/>
          </a:p>
        </p:txBody>
      </p:sp>
      <p:sp>
        <p:nvSpPr>
          <p:cNvPr id="51" name="Text 49"/>
          <p:cNvSpPr txBox="1"/>
          <p:nvPr/>
        </p:nvSpPr>
        <p:spPr>
          <a:xfrm>
            <a:off x="9015984" y="48646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One night, flat by 09:45</a:t>
            </a:r>
            <a:endParaRPr lang="en-US" sz="1100" dirty="0"/>
          </a:p>
        </p:txBody>
      </p:sp>
      <p:sp>
        <p:nvSpPr>
          <p:cNvPr id="52" name="Text 50"/>
          <p:cNvSpPr txBox="1"/>
          <p:nvPr/>
        </p:nvSpPr>
        <p:spPr>
          <a:xfrm>
            <a:off x="8238744" y="5321808"/>
            <a:ext cx="777240" cy="402336"/>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Edge</a:t>
            </a:r>
            <a:endParaRPr lang="en-US" sz="1000" dirty="0"/>
          </a:p>
        </p:txBody>
      </p:sp>
      <p:sp>
        <p:nvSpPr>
          <p:cNvPr id="53" name="Text 51"/>
          <p:cNvSpPr txBox="1"/>
          <p:nvPr/>
        </p:nvSpPr>
        <p:spPr>
          <a:xfrm>
            <a:off x="9015984" y="53218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Implied vs realised reaction</a:t>
            </a:r>
            <a:endParaRPr lang="en-US" sz="1100" dirty="0"/>
          </a:p>
        </p:txBody>
      </p:sp>
      <p:sp>
        <p:nvSpPr>
          <p:cNvPr id="54" name="Text 52"/>
          <p:cNvSpPr txBox="1"/>
          <p:nvPr/>
        </p:nvSpPr>
        <p:spPr>
          <a:xfrm>
            <a:off x="8238744" y="5779008"/>
            <a:ext cx="777240" cy="402336"/>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Risk</a:t>
            </a:r>
            <a:endParaRPr lang="en-US" sz="1000" dirty="0"/>
          </a:p>
        </p:txBody>
      </p:sp>
      <p:sp>
        <p:nvSpPr>
          <p:cNvPr id="55" name="Text 53"/>
          <p:cNvSpPr txBox="1"/>
          <p:nvPr/>
        </p:nvSpPr>
        <p:spPr>
          <a:xfrm>
            <a:off x="9015984" y="5779008"/>
            <a:ext cx="2286000" cy="438912"/>
          </a:xfrm>
          <a:prstGeom prst="rect">
            <a:avLst/>
          </a:prstGeom>
          <a:noFill/>
          <a:ln/>
        </p:spPr>
        <p:txBody>
          <a:bodyPr wrap="square" lIns="0" tIns="0" rIns="0" bIns="0" rtlCol="0" anchor="ctr"/>
          <a:lstStyle/>
          <a:p>
            <a:pPr indent="0" marL="0">
              <a:lnSpc>
                <a:spcPts val="1300"/>
              </a:lnSpc>
              <a:buNone/>
            </a:pPr>
            <a:r>
              <a:rPr lang="en-US" sz="1100" dirty="0">
                <a:solidFill>
                  <a:srgbClr val="16202F"/>
                </a:solidFill>
                <a:latin typeface="Calibri" pitchFamily="34" charset="0"/>
                <a:ea typeface="Calibri" pitchFamily="34" charset="-122"/>
                <a:cs typeface="Calibri" pitchFamily="34" charset="-120"/>
              </a:rPr>
              <a:t>The gap — bounded by structure</a:t>
            </a:r>
            <a:endParaRPr lang="en-US" sz="1100" dirty="0"/>
          </a:p>
        </p:txBody>
      </p:sp>
      <p:sp>
        <p:nvSpPr>
          <p:cNvPr id="56" name="Text 54"/>
          <p:cNvSpPr txBox="1"/>
          <p:nvPr/>
        </p:nvSpPr>
        <p:spPr>
          <a:xfrm>
            <a:off x="640080" y="6236208"/>
            <a:ext cx="10881360" cy="292608"/>
          </a:xfrm>
          <a:prstGeom prst="rect">
            <a:avLst/>
          </a:prstGeom>
          <a:noFill/>
          <a:ln/>
        </p:spPr>
        <p:txBody>
          <a:bodyPr wrap="square" lIns="0" tIns="0" rIns="0" bIns="0" rtlCol="0" anchor="ctr"/>
          <a:lstStyle/>
          <a:p>
            <a:pPr indent="0" marL="0">
              <a:buNone/>
            </a:pPr>
            <a:r>
              <a:rPr lang="en-US" sz="1200" i="1" dirty="0">
                <a:solidFill>
                  <a:srgbClr val="5A6779"/>
                </a:solidFill>
                <a:latin typeface="Calibri" pitchFamily="34" charset="0"/>
                <a:ea typeface="Calibri" pitchFamily="34" charset="-122"/>
                <a:cs typeface="Calibri" pitchFamily="34" charset="-120"/>
              </a:rPr>
              <a:t>Carry and intraday share one pool of capital, so a firewall — not politeness — keeps them apart. The events book leases none of it and is bounded by size instead.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E8A33D"/>
                </a:solidFill>
                <a:latin typeface="Calibri" pitchFamily="34" charset="0"/>
                <a:ea typeface="Calibri" pitchFamily="34" charset="-122"/>
                <a:cs typeface="Calibri" pitchFamily="34" charset="-120"/>
              </a:rPr>
              <a:t>HOW THEY DECIDE</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Every trade clears a named gate, or it doesn't happen</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Hard gates, not a blended score — a score lets a rich IV reading paper over an earnings date, which is the one trade a short-premium book must never take.</a:t>
            </a:r>
            <a:endParaRPr lang="en-US" sz="1450" dirty="0"/>
          </a:p>
        </p:txBody>
      </p:sp>
      <p:sp>
        <p:nvSpPr>
          <p:cNvPr id="5" name="Shape 3"/>
          <p:cNvSpPr/>
          <p:nvPr/>
        </p:nvSpPr>
        <p:spPr>
          <a:xfrm>
            <a:off x="640080" y="1783080"/>
            <a:ext cx="3502152" cy="3886200"/>
          </a:xfrm>
          <a:prstGeom prst="roundRect">
            <a:avLst>
              <a:gd name="adj" fmla="val 1567"/>
            </a:avLst>
          </a:prstGeom>
          <a:solidFill>
            <a:srgbClr val="F1F4F9"/>
          </a:solidFill>
          <a:ln w="12700">
            <a:solidFill>
              <a:srgbClr val="F1F4F9"/>
            </a:solidFill>
            <a:prstDash val="solid"/>
          </a:ln>
        </p:spPr>
      </p:sp>
      <p:sp>
        <p:nvSpPr>
          <p:cNvPr id="6" name="Shape 4"/>
          <p:cNvSpPr/>
          <p:nvPr/>
        </p:nvSpPr>
        <p:spPr>
          <a:xfrm>
            <a:off x="868680" y="1965960"/>
            <a:ext cx="1371600" cy="310896"/>
          </a:xfrm>
          <a:prstGeom prst="roundRect">
            <a:avLst>
              <a:gd name="adj" fmla="val 50000"/>
            </a:avLst>
          </a:prstGeom>
          <a:solidFill>
            <a:srgbClr val="2FBF71"/>
          </a:solidFill>
          <a:ln/>
        </p:spPr>
      </p:sp>
      <p:sp>
        <p:nvSpPr>
          <p:cNvPr id="7" name="Text 5"/>
          <p:cNvSpPr txBox="1"/>
          <p:nvPr/>
        </p:nvSpPr>
        <p:spPr>
          <a:xfrm>
            <a:off x="868680" y="1965960"/>
            <a:ext cx="13716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CARRY</a:t>
            </a:r>
            <a:endParaRPr lang="en-US" sz="1050" dirty="0"/>
          </a:p>
        </p:txBody>
      </p:sp>
      <p:sp>
        <p:nvSpPr>
          <p:cNvPr id="8" name="Text 6"/>
          <p:cNvSpPr txBox="1"/>
          <p:nvPr/>
        </p:nvSpPr>
        <p:spPr>
          <a:xfrm>
            <a:off x="868680" y="2331720"/>
            <a:ext cx="3063240" cy="274320"/>
          </a:xfrm>
          <a:prstGeom prst="rect">
            <a:avLst/>
          </a:prstGeom>
          <a:noFill/>
          <a:ln/>
        </p:spPr>
        <p:txBody>
          <a:bodyPr wrap="square" lIns="0" tIns="0" rIns="0" bIns="0" rtlCol="0" anchor="ctr"/>
          <a:lstStyle/>
          <a:p>
            <a:pPr indent="0" marL="0">
              <a:buNone/>
            </a:pPr>
            <a:r>
              <a:rPr lang="en-US" sz="1100" i="1" dirty="0">
                <a:solidFill>
                  <a:srgbClr val="5A6779"/>
                </a:solidFill>
                <a:latin typeface="Calibri" pitchFamily="34" charset="0"/>
                <a:ea typeface="Calibri" pitchFamily="34" charset="-122"/>
                <a:cs typeface="Calibri" pitchFamily="34" charset="-120"/>
              </a:rPr>
              <a:t>four hard gates, then economics</a:t>
            </a:r>
            <a:endParaRPr lang="en-US" sz="1100" dirty="0"/>
          </a:p>
        </p:txBody>
      </p:sp>
      <p:sp>
        <p:nvSpPr>
          <p:cNvPr id="9" name="Text 7"/>
          <p:cNvSpPr txBox="1"/>
          <p:nvPr/>
        </p:nvSpPr>
        <p:spPr>
          <a:xfrm>
            <a:off x="868680" y="2724912"/>
            <a:ext cx="3063240" cy="237744"/>
          </a:xfrm>
          <a:prstGeom prst="rect">
            <a:avLst/>
          </a:prstGeom>
          <a:noFill/>
          <a:ln/>
        </p:spPr>
        <p:txBody>
          <a:bodyPr wrap="square" lIns="0" tIns="0" rIns="0" bIns="0" rtlCol="0" anchor="t"/>
          <a:lstStyle/>
          <a:p>
            <a:pPr indent="0" marL="0">
              <a:buNone/>
            </a:pPr>
            <a:r>
              <a:rPr lang="en-US" sz="1150" b="1" dirty="0">
                <a:solidFill>
                  <a:srgbClr val="2FBF71"/>
                </a:solidFill>
                <a:latin typeface="Calibri" pitchFamily="34" charset="0"/>
                <a:ea typeface="Calibri" pitchFamily="34" charset="-122"/>
                <a:cs typeface="Calibri" pitchFamily="34" charset="-120"/>
              </a:rPr>
              <a:t>Premium</a:t>
            </a:r>
            <a:endParaRPr lang="en-US" sz="1150" dirty="0"/>
          </a:p>
        </p:txBody>
      </p:sp>
      <p:sp>
        <p:nvSpPr>
          <p:cNvPr id="10" name="Text 8"/>
          <p:cNvSpPr txBox="1"/>
          <p:nvPr/>
        </p:nvSpPr>
        <p:spPr>
          <a:xfrm>
            <a:off x="868680" y="2953512"/>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IV rank ≥ 0.35 AND IV − RV ≥ 3 pts</a:t>
            </a:r>
            <a:endParaRPr lang="en-US" sz="1050" dirty="0"/>
          </a:p>
        </p:txBody>
      </p:sp>
      <p:sp>
        <p:nvSpPr>
          <p:cNvPr id="11" name="Text 9"/>
          <p:cNvSpPr txBox="1"/>
          <p:nvPr/>
        </p:nvSpPr>
        <p:spPr>
          <a:xfrm>
            <a:off x="868680" y="3300984"/>
            <a:ext cx="3063240" cy="237744"/>
          </a:xfrm>
          <a:prstGeom prst="rect">
            <a:avLst/>
          </a:prstGeom>
          <a:noFill/>
          <a:ln/>
        </p:spPr>
        <p:txBody>
          <a:bodyPr wrap="square" lIns="0" tIns="0" rIns="0" bIns="0" rtlCol="0" anchor="t"/>
          <a:lstStyle/>
          <a:p>
            <a:pPr indent="0" marL="0">
              <a:buNone/>
            </a:pPr>
            <a:r>
              <a:rPr lang="en-US" sz="1150" b="1" dirty="0">
                <a:solidFill>
                  <a:srgbClr val="2FBF71"/>
                </a:solidFill>
                <a:latin typeface="Calibri" pitchFamily="34" charset="0"/>
                <a:ea typeface="Calibri" pitchFamily="34" charset="-122"/>
                <a:cs typeface="Calibri" pitchFamily="34" charset="-120"/>
              </a:rPr>
              <a:t>Trend</a:t>
            </a:r>
            <a:endParaRPr lang="en-US" sz="1150" dirty="0"/>
          </a:p>
        </p:txBody>
      </p:sp>
      <p:sp>
        <p:nvSpPr>
          <p:cNvPr id="12" name="Text 10"/>
          <p:cNvSpPr txBox="1"/>
          <p:nvPr/>
        </p:nvSpPr>
        <p:spPr>
          <a:xfrm>
            <a:off x="868680" y="3529584"/>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ADX ≤ 25 — short premium is short movement</a:t>
            </a:r>
            <a:endParaRPr lang="en-US" sz="1050" dirty="0"/>
          </a:p>
        </p:txBody>
      </p:sp>
      <p:sp>
        <p:nvSpPr>
          <p:cNvPr id="13" name="Text 11"/>
          <p:cNvSpPr txBox="1"/>
          <p:nvPr/>
        </p:nvSpPr>
        <p:spPr>
          <a:xfrm>
            <a:off x="868680" y="3877056"/>
            <a:ext cx="3063240" cy="237744"/>
          </a:xfrm>
          <a:prstGeom prst="rect">
            <a:avLst/>
          </a:prstGeom>
          <a:noFill/>
          <a:ln/>
        </p:spPr>
        <p:txBody>
          <a:bodyPr wrap="square" lIns="0" tIns="0" rIns="0" bIns="0" rtlCol="0" anchor="t"/>
          <a:lstStyle/>
          <a:p>
            <a:pPr indent="0" marL="0">
              <a:buNone/>
            </a:pPr>
            <a:r>
              <a:rPr lang="en-US" sz="1150" b="1" dirty="0">
                <a:solidFill>
                  <a:srgbClr val="2FBF71"/>
                </a:solidFill>
                <a:latin typeface="Calibri" pitchFamily="34" charset="0"/>
                <a:ea typeface="Calibri" pitchFamily="34" charset="-122"/>
                <a:cs typeface="Calibri" pitchFamily="34" charset="-120"/>
              </a:rPr>
              <a:t>Event</a:t>
            </a:r>
            <a:endParaRPr lang="en-US" sz="1150" dirty="0"/>
          </a:p>
        </p:txBody>
      </p:sp>
      <p:sp>
        <p:nvSpPr>
          <p:cNvPr id="14" name="Text 12"/>
          <p:cNvSpPr txBox="1"/>
          <p:nvPr/>
        </p:nvSpPr>
        <p:spPr>
          <a:xfrm>
            <a:off x="868680" y="4105656"/>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no earnings in the expiry window</a:t>
            </a:r>
            <a:endParaRPr lang="en-US" sz="1050" dirty="0"/>
          </a:p>
        </p:txBody>
      </p:sp>
      <p:sp>
        <p:nvSpPr>
          <p:cNvPr id="15" name="Text 13"/>
          <p:cNvSpPr txBox="1"/>
          <p:nvPr/>
        </p:nvSpPr>
        <p:spPr>
          <a:xfrm>
            <a:off x="868680" y="4453128"/>
            <a:ext cx="3063240" cy="237744"/>
          </a:xfrm>
          <a:prstGeom prst="rect">
            <a:avLst/>
          </a:prstGeom>
          <a:noFill/>
          <a:ln/>
        </p:spPr>
        <p:txBody>
          <a:bodyPr wrap="square" lIns="0" tIns="0" rIns="0" bIns="0" rtlCol="0" anchor="t"/>
          <a:lstStyle/>
          <a:p>
            <a:pPr indent="0" marL="0">
              <a:buNone/>
            </a:pPr>
            <a:r>
              <a:rPr lang="en-US" sz="1150" b="1" dirty="0">
                <a:solidFill>
                  <a:srgbClr val="2FBF71"/>
                </a:solidFill>
                <a:latin typeface="Calibri" pitchFamily="34" charset="0"/>
                <a:ea typeface="Calibri" pitchFamily="34" charset="-122"/>
                <a:cs typeface="Calibri" pitchFamily="34" charset="-120"/>
              </a:rPr>
              <a:t>Macro</a:t>
            </a:r>
            <a:endParaRPr lang="en-US" sz="1150" dirty="0"/>
          </a:p>
        </p:txBody>
      </p:sp>
      <p:sp>
        <p:nvSpPr>
          <p:cNvPr id="16" name="Text 14"/>
          <p:cNvSpPr txBox="1"/>
          <p:nvPr/>
        </p:nvSpPr>
        <p:spPr>
          <a:xfrm>
            <a:off x="868680" y="4681728"/>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sector-wide → sell · idiosyncratic → veto</a:t>
            </a:r>
            <a:endParaRPr lang="en-US" sz="1050" dirty="0"/>
          </a:p>
        </p:txBody>
      </p:sp>
      <p:sp>
        <p:nvSpPr>
          <p:cNvPr id="17" name="Text 15"/>
          <p:cNvSpPr txBox="1"/>
          <p:nvPr/>
        </p:nvSpPr>
        <p:spPr>
          <a:xfrm>
            <a:off x="868680" y="5029200"/>
            <a:ext cx="3063240" cy="237744"/>
          </a:xfrm>
          <a:prstGeom prst="rect">
            <a:avLst/>
          </a:prstGeom>
          <a:noFill/>
          <a:ln/>
        </p:spPr>
        <p:txBody>
          <a:bodyPr wrap="square" lIns="0" tIns="0" rIns="0" bIns="0" rtlCol="0" anchor="t"/>
          <a:lstStyle/>
          <a:p>
            <a:pPr indent="0" marL="0">
              <a:buNone/>
            </a:pPr>
            <a:r>
              <a:rPr lang="en-US" sz="1150" b="1" dirty="0">
                <a:solidFill>
                  <a:srgbClr val="2FBF71"/>
                </a:solidFill>
                <a:latin typeface="Calibri" pitchFamily="34" charset="0"/>
                <a:ea typeface="Calibri" pitchFamily="34" charset="-122"/>
                <a:cs typeface="Calibri" pitchFamily="34" charset="-120"/>
              </a:rPr>
              <a:t>Cost</a:t>
            </a:r>
            <a:endParaRPr lang="en-US" sz="1150" dirty="0"/>
          </a:p>
        </p:txBody>
      </p:sp>
      <p:sp>
        <p:nvSpPr>
          <p:cNvPr id="18" name="Text 16"/>
          <p:cNvSpPr txBox="1"/>
          <p:nvPr/>
        </p:nvSpPr>
        <p:spPr>
          <a:xfrm>
            <a:off x="868680" y="5257800"/>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round-trip spread ≤ 20% of the credit</a:t>
            </a:r>
            <a:endParaRPr lang="en-US" sz="1050" dirty="0"/>
          </a:p>
        </p:txBody>
      </p:sp>
      <p:sp>
        <p:nvSpPr>
          <p:cNvPr id="19" name="Shape 17"/>
          <p:cNvSpPr/>
          <p:nvPr/>
        </p:nvSpPr>
        <p:spPr>
          <a:xfrm>
            <a:off x="4325112" y="1783080"/>
            <a:ext cx="3502152" cy="3886200"/>
          </a:xfrm>
          <a:prstGeom prst="roundRect">
            <a:avLst>
              <a:gd name="adj" fmla="val 1567"/>
            </a:avLst>
          </a:prstGeom>
          <a:solidFill>
            <a:srgbClr val="F1F4F9"/>
          </a:solidFill>
          <a:ln w="12700">
            <a:solidFill>
              <a:srgbClr val="F1F4F9"/>
            </a:solidFill>
            <a:prstDash val="solid"/>
          </a:ln>
        </p:spPr>
      </p:sp>
      <p:sp>
        <p:nvSpPr>
          <p:cNvPr id="20" name="Shape 18"/>
          <p:cNvSpPr/>
          <p:nvPr/>
        </p:nvSpPr>
        <p:spPr>
          <a:xfrm>
            <a:off x="4553712" y="1965960"/>
            <a:ext cx="1371600" cy="310896"/>
          </a:xfrm>
          <a:prstGeom prst="roundRect">
            <a:avLst>
              <a:gd name="adj" fmla="val 50000"/>
            </a:avLst>
          </a:prstGeom>
          <a:solidFill>
            <a:srgbClr val="E8A33D"/>
          </a:solidFill>
          <a:ln/>
        </p:spPr>
      </p:sp>
      <p:sp>
        <p:nvSpPr>
          <p:cNvPr id="21" name="Text 19"/>
          <p:cNvSpPr txBox="1"/>
          <p:nvPr/>
        </p:nvSpPr>
        <p:spPr>
          <a:xfrm>
            <a:off x="4553712" y="1965960"/>
            <a:ext cx="1371600" cy="310896"/>
          </a:xfrm>
          <a:prstGeom prst="rect">
            <a:avLst/>
          </a:prstGeom>
          <a:noFill/>
          <a:ln/>
        </p:spPr>
        <p:txBody>
          <a:bodyPr wrap="square" lIns="0" tIns="0" rIns="0" bIns="0" rtlCol="0" anchor="ctr"/>
          <a:lstStyle/>
          <a:p>
            <a:pPr algn="ctr" indent="0" marL="0">
              <a:buNone/>
            </a:pPr>
            <a:r>
              <a:rPr lang="en-US" sz="1050" b="1" dirty="0">
                <a:solidFill>
                  <a:srgbClr val="0F1A2E"/>
                </a:solidFill>
                <a:latin typeface="Calibri" pitchFamily="34" charset="0"/>
                <a:ea typeface="Calibri" pitchFamily="34" charset="-122"/>
                <a:cs typeface="Calibri" pitchFamily="34" charset="-120"/>
              </a:rPr>
              <a:t>INTRADAY</a:t>
            </a:r>
            <a:endParaRPr lang="en-US" sz="1050" dirty="0"/>
          </a:p>
        </p:txBody>
      </p:sp>
      <p:sp>
        <p:nvSpPr>
          <p:cNvPr id="22" name="Text 20"/>
          <p:cNvSpPr txBox="1"/>
          <p:nvPr/>
        </p:nvSpPr>
        <p:spPr>
          <a:xfrm>
            <a:off x="4553712" y="2331720"/>
            <a:ext cx="3063240" cy="274320"/>
          </a:xfrm>
          <a:prstGeom prst="rect">
            <a:avLst/>
          </a:prstGeom>
          <a:noFill/>
          <a:ln/>
        </p:spPr>
        <p:txBody>
          <a:bodyPr wrap="square" lIns="0" tIns="0" rIns="0" bIns="0" rtlCol="0" anchor="ctr"/>
          <a:lstStyle/>
          <a:p>
            <a:pPr indent="0" marL="0">
              <a:buNone/>
            </a:pPr>
            <a:r>
              <a:rPr lang="en-US" sz="1100" i="1" dirty="0">
                <a:solidFill>
                  <a:srgbClr val="5A6779"/>
                </a:solidFill>
                <a:latin typeface="Calibri" pitchFamily="34" charset="0"/>
                <a:ea typeface="Calibri" pitchFamily="34" charset="-122"/>
                <a:cs typeface="Calibri" pitchFamily="34" charset="-120"/>
              </a:rPr>
              <a:t>two hard gates, seven voters</a:t>
            </a:r>
            <a:endParaRPr lang="en-US" sz="1100" dirty="0"/>
          </a:p>
        </p:txBody>
      </p:sp>
      <p:sp>
        <p:nvSpPr>
          <p:cNvPr id="23" name="Text 21"/>
          <p:cNvSpPr txBox="1"/>
          <p:nvPr/>
        </p:nvSpPr>
        <p:spPr>
          <a:xfrm>
            <a:off x="4553712" y="2724912"/>
            <a:ext cx="3063240" cy="237744"/>
          </a:xfrm>
          <a:prstGeom prst="rect">
            <a:avLst/>
          </a:prstGeom>
          <a:noFill/>
          <a:ln/>
        </p:spPr>
        <p:txBody>
          <a:bodyPr wrap="square" lIns="0" tIns="0" rIns="0" bIns="0" rtlCol="0" anchor="t"/>
          <a:lstStyle/>
          <a:p>
            <a:pPr indent="0" marL="0">
              <a:buNone/>
            </a:pPr>
            <a:r>
              <a:rPr lang="en-US" sz="1150" b="1" dirty="0">
                <a:solidFill>
                  <a:srgbClr val="E8A33D"/>
                </a:solidFill>
                <a:latin typeface="Calibri" pitchFamily="34" charset="0"/>
                <a:ea typeface="Calibri" pitchFamily="34" charset="-122"/>
                <a:cs typeface="Calibri" pitchFamily="34" charset="-120"/>
              </a:rPr>
              <a:t>Trigger</a:t>
            </a:r>
            <a:endParaRPr lang="en-US" sz="1150" dirty="0"/>
          </a:p>
        </p:txBody>
      </p:sp>
      <p:sp>
        <p:nvSpPr>
          <p:cNvPr id="24" name="Text 22"/>
          <p:cNvSpPr txBox="1"/>
          <p:nvPr/>
        </p:nvSpPr>
        <p:spPr>
          <a:xfrm>
            <a:off x="4553712" y="2953512"/>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VWAP cross — HARD, it decides direction</a:t>
            </a:r>
            <a:endParaRPr lang="en-US" sz="1050" dirty="0"/>
          </a:p>
        </p:txBody>
      </p:sp>
      <p:sp>
        <p:nvSpPr>
          <p:cNvPr id="25" name="Text 23"/>
          <p:cNvSpPr txBox="1"/>
          <p:nvPr/>
        </p:nvSpPr>
        <p:spPr>
          <a:xfrm>
            <a:off x="4553712" y="3300984"/>
            <a:ext cx="3063240" cy="237744"/>
          </a:xfrm>
          <a:prstGeom prst="rect">
            <a:avLst/>
          </a:prstGeom>
          <a:noFill/>
          <a:ln/>
        </p:spPr>
        <p:txBody>
          <a:bodyPr wrap="square" lIns="0" tIns="0" rIns="0" bIns="0" rtlCol="0" anchor="t"/>
          <a:lstStyle/>
          <a:p>
            <a:pPr indent="0" marL="0">
              <a:buNone/>
            </a:pPr>
            <a:r>
              <a:rPr lang="en-US" sz="1150" b="1" dirty="0">
                <a:solidFill>
                  <a:srgbClr val="E8A33D"/>
                </a:solidFill>
                <a:latin typeface="Calibri" pitchFamily="34" charset="0"/>
                <a:ea typeface="Calibri" pitchFamily="34" charset="-122"/>
                <a:cs typeface="Calibri" pitchFamily="34" charset="-120"/>
              </a:rPr>
              <a:t>Spread</a:t>
            </a:r>
            <a:endParaRPr lang="en-US" sz="1150" dirty="0"/>
          </a:p>
        </p:txBody>
      </p:sp>
      <p:sp>
        <p:nvSpPr>
          <p:cNvPr id="26" name="Text 24"/>
          <p:cNvSpPr txBox="1"/>
          <p:nvPr/>
        </p:nvSpPr>
        <p:spPr>
          <a:xfrm>
            <a:off x="4553712" y="3529584"/>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 4% of mid — HARD, it is economics</a:t>
            </a:r>
            <a:endParaRPr lang="en-US" sz="1050" dirty="0"/>
          </a:p>
        </p:txBody>
      </p:sp>
      <p:sp>
        <p:nvSpPr>
          <p:cNvPr id="27" name="Text 25"/>
          <p:cNvSpPr txBox="1"/>
          <p:nvPr/>
        </p:nvSpPr>
        <p:spPr>
          <a:xfrm>
            <a:off x="4553712" y="3877056"/>
            <a:ext cx="3063240" cy="237744"/>
          </a:xfrm>
          <a:prstGeom prst="rect">
            <a:avLst/>
          </a:prstGeom>
          <a:noFill/>
          <a:ln/>
        </p:spPr>
        <p:txBody>
          <a:bodyPr wrap="square" lIns="0" tIns="0" rIns="0" bIns="0" rtlCol="0" anchor="t"/>
          <a:lstStyle/>
          <a:p>
            <a:pPr indent="0" marL="0">
              <a:buNone/>
            </a:pPr>
            <a:r>
              <a:rPr lang="en-US" sz="1150" b="1" dirty="0">
                <a:solidFill>
                  <a:srgbClr val="E8A33D"/>
                </a:solidFill>
                <a:latin typeface="Calibri" pitchFamily="34" charset="0"/>
                <a:ea typeface="Calibri" pitchFamily="34" charset="-122"/>
                <a:cs typeface="Calibri" pitchFamily="34" charset="-120"/>
              </a:rPr>
              <a:t>Confirmations</a:t>
            </a:r>
            <a:endParaRPr lang="en-US" sz="1150" dirty="0"/>
          </a:p>
        </p:txBody>
      </p:sp>
      <p:sp>
        <p:nvSpPr>
          <p:cNvPr id="28" name="Text 26"/>
          <p:cNvSpPr txBox="1"/>
          <p:nvPr/>
        </p:nvSpPr>
        <p:spPr>
          <a:xfrm>
            <a:off x="4553712" y="4105656"/>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3 of up to 7 votes must agree</a:t>
            </a:r>
            <a:endParaRPr lang="en-US" sz="1050" dirty="0"/>
          </a:p>
        </p:txBody>
      </p:sp>
      <p:sp>
        <p:nvSpPr>
          <p:cNvPr id="29" name="Text 27"/>
          <p:cNvSpPr txBox="1"/>
          <p:nvPr/>
        </p:nvSpPr>
        <p:spPr>
          <a:xfrm>
            <a:off x="4553712" y="4453128"/>
            <a:ext cx="3063240" cy="237744"/>
          </a:xfrm>
          <a:prstGeom prst="rect">
            <a:avLst/>
          </a:prstGeom>
          <a:noFill/>
          <a:ln/>
        </p:spPr>
        <p:txBody>
          <a:bodyPr wrap="square" lIns="0" tIns="0" rIns="0" bIns="0" rtlCol="0" anchor="t"/>
          <a:lstStyle/>
          <a:p>
            <a:pPr indent="0" marL="0">
              <a:buNone/>
            </a:pPr>
            <a:r>
              <a:rPr lang="en-US" sz="1150" b="1" dirty="0">
                <a:solidFill>
                  <a:srgbClr val="E8A33D"/>
                </a:solidFill>
                <a:latin typeface="Calibri" pitchFamily="34" charset="0"/>
                <a:ea typeface="Calibri" pitchFamily="34" charset="-122"/>
                <a:cs typeface="Calibri" pitchFamily="34" charset="-120"/>
              </a:rPr>
              <a:t>Selection</a:t>
            </a:r>
            <a:endParaRPr lang="en-US" sz="1150" dirty="0"/>
          </a:p>
        </p:txBody>
      </p:sp>
      <p:sp>
        <p:nvSpPr>
          <p:cNvPr id="30" name="Text 28"/>
          <p:cNvSpPr txBox="1"/>
          <p:nvPr/>
        </p:nvSpPr>
        <p:spPr>
          <a:xfrm>
            <a:off x="4553712" y="4681728"/>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IV rank ≥ 0.85 → no trade at all</a:t>
            </a:r>
            <a:endParaRPr lang="en-US" sz="1050" dirty="0"/>
          </a:p>
        </p:txBody>
      </p:sp>
      <p:sp>
        <p:nvSpPr>
          <p:cNvPr id="31" name="Text 29"/>
          <p:cNvSpPr txBox="1"/>
          <p:nvPr/>
        </p:nvSpPr>
        <p:spPr>
          <a:xfrm>
            <a:off x="4553712" y="5029200"/>
            <a:ext cx="3063240" cy="237744"/>
          </a:xfrm>
          <a:prstGeom prst="rect">
            <a:avLst/>
          </a:prstGeom>
          <a:noFill/>
          <a:ln/>
        </p:spPr>
        <p:txBody>
          <a:bodyPr wrap="square" lIns="0" tIns="0" rIns="0" bIns="0" rtlCol="0" anchor="t"/>
          <a:lstStyle/>
          <a:p>
            <a:pPr indent="0" marL="0">
              <a:buNone/>
            </a:pPr>
            <a:r>
              <a:rPr lang="en-US" sz="1150" b="1" dirty="0">
                <a:solidFill>
                  <a:srgbClr val="E8A33D"/>
                </a:solidFill>
                <a:latin typeface="Calibri" pitchFamily="34" charset="0"/>
                <a:ea typeface="Calibri" pitchFamily="34" charset="-122"/>
                <a:cs typeface="Calibri" pitchFamily="34" charset="-120"/>
              </a:rPr>
              <a:t>Time</a:t>
            </a:r>
            <a:endParaRPr lang="en-US" sz="1150" dirty="0"/>
          </a:p>
        </p:txBody>
      </p:sp>
      <p:sp>
        <p:nvSpPr>
          <p:cNvPr id="32" name="Text 30"/>
          <p:cNvSpPr txBox="1"/>
          <p:nvPr/>
        </p:nvSpPr>
        <p:spPr>
          <a:xfrm>
            <a:off x="4553712" y="5257800"/>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09:45–14:45, flat by 15:10</a:t>
            </a:r>
            <a:endParaRPr lang="en-US" sz="1050" dirty="0"/>
          </a:p>
        </p:txBody>
      </p:sp>
      <p:sp>
        <p:nvSpPr>
          <p:cNvPr id="33" name="Shape 31"/>
          <p:cNvSpPr/>
          <p:nvPr/>
        </p:nvSpPr>
        <p:spPr>
          <a:xfrm>
            <a:off x="8010144" y="1783080"/>
            <a:ext cx="3502152" cy="3886200"/>
          </a:xfrm>
          <a:prstGeom prst="roundRect">
            <a:avLst>
              <a:gd name="adj" fmla="val 1567"/>
            </a:avLst>
          </a:prstGeom>
          <a:solidFill>
            <a:srgbClr val="F1F4F9"/>
          </a:solidFill>
          <a:ln w="12700">
            <a:solidFill>
              <a:srgbClr val="F1F4F9"/>
            </a:solidFill>
            <a:prstDash val="solid"/>
          </a:ln>
        </p:spPr>
      </p:sp>
      <p:sp>
        <p:nvSpPr>
          <p:cNvPr id="34" name="Shape 32"/>
          <p:cNvSpPr/>
          <p:nvPr/>
        </p:nvSpPr>
        <p:spPr>
          <a:xfrm>
            <a:off x="8238744" y="1965960"/>
            <a:ext cx="1371600" cy="310896"/>
          </a:xfrm>
          <a:prstGeom prst="roundRect">
            <a:avLst>
              <a:gd name="adj" fmla="val 50000"/>
            </a:avLst>
          </a:prstGeom>
          <a:solidFill>
            <a:srgbClr val="8B5CF6"/>
          </a:solidFill>
          <a:ln/>
        </p:spPr>
      </p:sp>
      <p:sp>
        <p:nvSpPr>
          <p:cNvPr id="35" name="Text 33"/>
          <p:cNvSpPr txBox="1"/>
          <p:nvPr/>
        </p:nvSpPr>
        <p:spPr>
          <a:xfrm>
            <a:off x="8238744" y="1965960"/>
            <a:ext cx="13716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EVENTS</a:t>
            </a:r>
            <a:endParaRPr lang="en-US" sz="1050" dirty="0"/>
          </a:p>
        </p:txBody>
      </p:sp>
      <p:sp>
        <p:nvSpPr>
          <p:cNvPr id="36" name="Text 34"/>
          <p:cNvSpPr txBox="1"/>
          <p:nvPr/>
        </p:nvSpPr>
        <p:spPr>
          <a:xfrm>
            <a:off x="8238744" y="2331720"/>
            <a:ext cx="3063240" cy="274320"/>
          </a:xfrm>
          <a:prstGeom prst="rect">
            <a:avLst/>
          </a:prstGeom>
          <a:noFill/>
          <a:ln/>
        </p:spPr>
        <p:txBody>
          <a:bodyPr wrap="square" lIns="0" tIns="0" rIns="0" bIns="0" rtlCol="0" anchor="ctr"/>
          <a:lstStyle/>
          <a:p>
            <a:pPr indent="0" marL="0">
              <a:buNone/>
            </a:pPr>
            <a:r>
              <a:rPr lang="en-US" sz="1100" i="1" dirty="0">
                <a:solidFill>
                  <a:srgbClr val="5A6779"/>
                </a:solidFill>
                <a:latin typeface="Calibri" pitchFamily="34" charset="0"/>
                <a:ea typeface="Calibri" pitchFamily="34" charset="-122"/>
                <a:cs typeface="Calibri" pitchFamily="34" charset="-120"/>
              </a:rPr>
              <a:t>a date, then three interlocks</a:t>
            </a:r>
            <a:endParaRPr lang="en-US" sz="1100" dirty="0"/>
          </a:p>
        </p:txBody>
      </p:sp>
      <p:sp>
        <p:nvSpPr>
          <p:cNvPr id="37" name="Text 35"/>
          <p:cNvSpPr txBox="1"/>
          <p:nvPr/>
        </p:nvSpPr>
        <p:spPr>
          <a:xfrm>
            <a:off x="8238744" y="2724912"/>
            <a:ext cx="3063240" cy="237744"/>
          </a:xfrm>
          <a:prstGeom prst="rect">
            <a:avLst/>
          </a:prstGeom>
          <a:noFill/>
          <a:ln/>
        </p:spPr>
        <p:txBody>
          <a:bodyPr wrap="square" lIns="0" tIns="0" rIns="0" bIns="0" rtlCol="0" anchor="t"/>
          <a:lstStyle/>
          <a:p>
            <a:pPr indent="0" marL="0">
              <a:buNone/>
            </a:pPr>
            <a:r>
              <a:rPr lang="en-US" sz="1150" b="1" dirty="0">
                <a:solidFill>
                  <a:srgbClr val="8B5CF6"/>
                </a:solidFill>
                <a:latin typeface="Calibri" pitchFamily="34" charset="0"/>
                <a:ea typeface="Calibri" pitchFamily="34" charset="-122"/>
                <a:cs typeface="Calibri" pitchFamily="34" charset="-120"/>
              </a:rPr>
              <a:t>Calendar</a:t>
            </a:r>
            <a:endParaRPr lang="en-US" sz="1150" dirty="0"/>
          </a:p>
        </p:txBody>
      </p:sp>
      <p:sp>
        <p:nvSpPr>
          <p:cNvPr id="38" name="Text 36"/>
          <p:cNvSpPr txBox="1"/>
          <p:nvPr/>
        </p:nvSpPr>
        <p:spPr>
          <a:xfrm>
            <a:off x="8238744" y="2953512"/>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the model proposes, a file confirms</a:t>
            </a:r>
            <a:endParaRPr lang="en-US" sz="1050" dirty="0"/>
          </a:p>
        </p:txBody>
      </p:sp>
      <p:sp>
        <p:nvSpPr>
          <p:cNvPr id="39" name="Text 37"/>
          <p:cNvSpPr txBox="1"/>
          <p:nvPr/>
        </p:nvSpPr>
        <p:spPr>
          <a:xfrm>
            <a:off x="8238744" y="3300984"/>
            <a:ext cx="3063240" cy="237744"/>
          </a:xfrm>
          <a:prstGeom prst="rect">
            <a:avLst/>
          </a:prstGeom>
          <a:noFill/>
          <a:ln/>
        </p:spPr>
        <p:txBody>
          <a:bodyPr wrap="square" lIns="0" tIns="0" rIns="0" bIns="0" rtlCol="0" anchor="t"/>
          <a:lstStyle/>
          <a:p>
            <a:pPr indent="0" marL="0">
              <a:buNone/>
            </a:pPr>
            <a:r>
              <a:rPr lang="en-US" sz="1150" b="1" dirty="0">
                <a:solidFill>
                  <a:srgbClr val="8B5CF6"/>
                </a:solidFill>
                <a:latin typeface="Calibri" pitchFamily="34" charset="0"/>
                <a:ea typeface="Calibri" pitchFamily="34" charset="-122"/>
                <a:cs typeface="Calibri" pitchFamily="34" charset="-120"/>
              </a:rPr>
              <a:t>Screen</a:t>
            </a:r>
            <a:endParaRPr lang="en-US" sz="1150" dirty="0"/>
          </a:p>
        </p:txBody>
      </p:sp>
      <p:sp>
        <p:nvSpPr>
          <p:cNvPr id="40" name="Text 38"/>
          <p:cNvSpPr txBox="1"/>
          <p:nvPr/>
        </p:nvSpPr>
        <p:spPr>
          <a:xfrm>
            <a:off x="8238744" y="3529584"/>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implied move ≥ 3% · spread ≤ 25%</a:t>
            </a:r>
            <a:endParaRPr lang="en-US" sz="1050" dirty="0"/>
          </a:p>
        </p:txBody>
      </p:sp>
      <p:sp>
        <p:nvSpPr>
          <p:cNvPr id="41" name="Text 39"/>
          <p:cNvSpPr txBox="1"/>
          <p:nvPr/>
        </p:nvSpPr>
        <p:spPr>
          <a:xfrm>
            <a:off x="8238744" y="3877056"/>
            <a:ext cx="3063240" cy="237744"/>
          </a:xfrm>
          <a:prstGeom prst="rect">
            <a:avLst/>
          </a:prstGeom>
          <a:noFill/>
          <a:ln/>
        </p:spPr>
        <p:txBody>
          <a:bodyPr wrap="square" lIns="0" tIns="0" rIns="0" bIns="0" rtlCol="0" anchor="t"/>
          <a:lstStyle/>
          <a:p>
            <a:pPr indent="0" marL="0">
              <a:buNone/>
            </a:pPr>
            <a:r>
              <a:rPr lang="en-US" sz="1150" b="1" dirty="0">
                <a:solidFill>
                  <a:srgbClr val="8B5CF6"/>
                </a:solidFill>
                <a:latin typeface="Calibri" pitchFamily="34" charset="0"/>
                <a:ea typeface="Calibri" pitchFamily="34" charset="-122"/>
                <a:cs typeface="Calibri" pitchFamily="34" charset="-120"/>
              </a:rPr>
              <a:t>Divergence</a:t>
            </a:r>
            <a:endParaRPr lang="en-US" sz="1150" dirty="0"/>
          </a:p>
        </p:txBody>
      </p:sp>
      <p:sp>
        <p:nvSpPr>
          <p:cNvPr id="42" name="Text 40"/>
          <p:cNvSpPr txBox="1"/>
          <p:nvPr/>
        </p:nvSpPr>
        <p:spPr>
          <a:xfrm>
            <a:off x="8238744" y="4105656"/>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≥1.35 condor · ≤0.80 vertical · else none</a:t>
            </a:r>
            <a:endParaRPr lang="en-US" sz="1050" dirty="0"/>
          </a:p>
        </p:txBody>
      </p:sp>
      <p:sp>
        <p:nvSpPr>
          <p:cNvPr id="43" name="Text 41"/>
          <p:cNvSpPr txBox="1"/>
          <p:nvPr/>
        </p:nvSpPr>
        <p:spPr>
          <a:xfrm>
            <a:off x="8238744" y="4453128"/>
            <a:ext cx="3063240" cy="237744"/>
          </a:xfrm>
          <a:prstGeom prst="rect">
            <a:avLst/>
          </a:prstGeom>
          <a:noFill/>
          <a:ln/>
        </p:spPr>
        <p:txBody>
          <a:bodyPr wrap="square" lIns="0" tIns="0" rIns="0" bIns="0" rtlCol="0" anchor="t"/>
          <a:lstStyle/>
          <a:p>
            <a:pPr indent="0" marL="0">
              <a:buNone/>
            </a:pPr>
            <a:r>
              <a:rPr lang="en-US" sz="1150" b="1" dirty="0">
                <a:solidFill>
                  <a:srgbClr val="8B5CF6"/>
                </a:solidFill>
                <a:latin typeface="Calibri" pitchFamily="34" charset="0"/>
                <a:ea typeface="Calibri" pitchFamily="34" charset="-122"/>
                <a:cs typeface="Calibri" pitchFamily="34" charset="-120"/>
              </a:rPr>
              <a:t>Confidence</a:t>
            </a:r>
            <a:endParaRPr lang="en-US" sz="1150" dirty="0"/>
          </a:p>
        </p:txBody>
      </p:sp>
      <p:sp>
        <p:nvSpPr>
          <p:cNvPr id="44" name="Text 42"/>
          <p:cNvSpPr txBox="1"/>
          <p:nvPr/>
        </p:nvSpPr>
        <p:spPr>
          <a:xfrm>
            <a:off x="8238744" y="4681728"/>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 0.55 with evidence cited, or abstain</a:t>
            </a:r>
            <a:endParaRPr lang="en-US" sz="1050" dirty="0"/>
          </a:p>
        </p:txBody>
      </p:sp>
      <p:sp>
        <p:nvSpPr>
          <p:cNvPr id="45" name="Text 43"/>
          <p:cNvSpPr txBox="1"/>
          <p:nvPr/>
        </p:nvSpPr>
        <p:spPr>
          <a:xfrm>
            <a:off x="8238744" y="5029200"/>
            <a:ext cx="3063240" cy="237744"/>
          </a:xfrm>
          <a:prstGeom prst="rect">
            <a:avLst/>
          </a:prstGeom>
          <a:noFill/>
          <a:ln/>
        </p:spPr>
        <p:txBody>
          <a:bodyPr wrap="square" lIns="0" tIns="0" rIns="0" bIns="0" rtlCol="0" anchor="t"/>
          <a:lstStyle/>
          <a:p>
            <a:pPr indent="0" marL="0">
              <a:buNone/>
            </a:pPr>
            <a:r>
              <a:rPr lang="en-US" sz="1150" b="1" dirty="0">
                <a:solidFill>
                  <a:srgbClr val="8B5CF6"/>
                </a:solidFill>
                <a:latin typeface="Calibri" pitchFamily="34" charset="0"/>
                <a:ea typeface="Calibri" pitchFamily="34" charset="-122"/>
                <a:cs typeface="Calibri" pitchFamily="34" charset="-120"/>
              </a:rPr>
              <a:t>Interlocks</a:t>
            </a:r>
            <a:endParaRPr lang="en-US" sz="1150" dirty="0"/>
          </a:p>
        </p:txBody>
      </p:sp>
      <p:sp>
        <p:nvSpPr>
          <p:cNvPr id="46" name="Text 44"/>
          <p:cNvSpPr txBox="1"/>
          <p:nvPr/>
        </p:nvSpPr>
        <p:spPr>
          <a:xfrm>
            <a:off x="8238744" y="5257800"/>
            <a:ext cx="3063240" cy="329184"/>
          </a:xfrm>
          <a:prstGeom prst="rect">
            <a:avLst/>
          </a:prstGeom>
          <a:noFill/>
          <a:ln/>
        </p:spPr>
        <p:txBody>
          <a:bodyPr wrap="square" lIns="0" tIns="0" rIns="0" bIns="0" rtlCol="0" anchor="t"/>
          <a:lstStyle/>
          <a:p>
            <a:pPr indent="0" marL="0">
              <a:lnSpc>
                <a:spcPts val="1250"/>
              </a:lnSpc>
              <a:buNone/>
            </a:pPr>
            <a:r>
              <a:rPr lang="en-US" sz="1050" dirty="0">
                <a:solidFill>
                  <a:srgbClr val="16202F"/>
                </a:solidFill>
                <a:latin typeface="Calibri" pitchFamily="34" charset="0"/>
                <a:ea typeface="Calibri" pitchFamily="34" charset="-122"/>
                <a:cs typeface="Calibri" pitchFamily="34" charset="-120"/>
              </a:rPr>
              <a:t>confirmed date · entry day · a direction call</a:t>
            </a:r>
            <a:endParaRPr lang="en-US" sz="1050" dirty="0"/>
          </a:p>
        </p:txBody>
      </p:sp>
      <p:sp>
        <p:nvSpPr>
          <p:cNvPr id="47" name="Shape 45"/>
          <p:cNvSpPr/>
          <p:nvPr/>
        </p:nvSpPr>
        <p:spPr>
          <a:xfrm>
            <a:off x="640080" y="5852160"/>
            <a:ext cx="10881360" cy="640080"/>
          </a:xfrm>
          <a:prstGeom prst="roundRect">
            <a:avLst>
              <a:gd name="adj" fmla="val 8571"/>
            </a:avLst>
          </a:prstGeom>
          <a:solidFill>
            <a:srgbClr val="0F1A2E"/>
          </a:solidFill>
          <a:ln w="12700">
            <a:solidFill>
              <a:srgbClr val="0F1A2E"/>
            </a:solidFill>
            <a:prstDash val="solid"/>
          </a:ln>
        </p:spPr>
      </p:sp>
      <p:sp>
        <p:nvSpPr>
          <p:cNvPr id="48" name="Text 46"/>
          <p:cNvSpPr txBox="1"/>
          <p:nvPr/>
        </p:nvSpPr>
        <p:spPr>
          <a:xfrm>
            <a:off x="914400" y="5852160"/>
            <a:ext cx="1033272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Every threshold above was moved at least once, and always by measurement.  </a:t>
            </a:r>
            <a:pPr indent="0" marL="0">
              <a:lnSpc>
                <a:spcPts val="1500"/>
              </a:lnSpc>
              <a:buNone/>
            </a:pPr>
            <a:r>
              <a:rPr lang="en-US" sz="1150" dirty="0">
                <a:solidFill>
                  <a:srgbClr val="FFFFFF"/>
                </a:solidFill>
                <a:latin typeface="Calibri" pitchFamily="34" charset="0"/>
                <a:ea typeface="Calibri" pitchFamily="34" charset="-122"/>
                <a:cs typeface="Calibri" pitchFamily="34" charset="-120"/>
              </a:rPr>
              <a:t>The IV-rank floor was 0.70 and rejected 304 of 304 candidates. The intraday spread ceiling was 2%, below the tightest quote in the universe. Eight stacked vetoes passed 0.7⁸ ≈ 6% of candidates and the book never fired.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E5484D"/>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No model can approve a trade</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The live agent and the replay run the same ordered stages, from the same objects. A backtest that skips a stage is a backtest of a different system.</a:t>
            </a:r>
            <a:endParaRPr lang="en-US" sz="1450" dirty="0"/>
          </a:p>
        </p:txBody>
      </p:sp>
      <p:sp>
        <p:nvSpPr>
          <p:cNvPr id="5" name="Shape 3"/>
          <p:cNvSpPr/>
          <p:nvPr/>
        </p:nvSpPr>
        <p:spPr>
          <a:xfrm>
            <a:off x="640080" y="1783080"/>
            <a:ext cx="1691640" cy="1600200"/>
          </a:xfrm>
          <a:prstGeom prst="roundRect">
            <a:avLst>
              <a:gd name="adj" fmla="val 3429"/>
            </a:avLst>
          </a:prstGeom>
          <a:solidFill>
            <a:srgbClr val="F1F4F9"/>
          </a:solidFill>
          <a:ln w="12700">
            <a:solidFill>
              <a:srgbClr val="F1F4F9"/>
            </a:solidFill>
            <a:prstDash val="solid"/>
          </a:ln>
        </p:spPr>
      </p:sp>
      <p:sp>
        <p:nvSpPr>
          <p:cNvPr id="6" name="Shape 4"/>
          <p:cNvSpPr/>
          <p:nvPr/>
        </p:nvSpPr>
        <p:spPr>
          <a:xfrm>
            <a:off x="804672" y="1938528"/>
            <a:ext cx="384048" cy="384048"/>
          </a:xfrm>
          <a:prstGeom prst="ellipse">
            <a:avLst/>
          </a:prstGeom>
          <a:solidFill>
            <a:srgbClr val="0F1A2E"/>
          </a:solidFill>
          <a:ln/>
        </p:spPr>
      </p:sp>
      <p:sp>
        <p:nvSpPr>
          <p:cNvPr id="7" name="Text 5"/>
          <p:cNvSpPr txBox="1"/>
          <p:nvPr/>
        </p:nvSpPr>
        <p:spPr>
          <a:xfrm>
            <a:off x="804672" y="1938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04672" y="2395728"/>
            <a:ext cx="1417320" cy="457200"/>
          </a:xfrm>
          <a:prstGeom prst="rect">
            <a:avLst/>
          </a:prstGeom>
          <a:noFill/>
          <a:ln/>
        </p:spPr>
        <p:txBody>
          <a:bodyPr wrap="square" lIns="0" tIns="0" rIns="0" bIns="0" rtlCol="0" anchor="b"/>
          <a:lstStyle/>
          <a:p>
            <a:pPr indent="0" marL="0">
              <a:lnSpc>
                <a:spcPts val="1400"/>
              </a:lnSpc>
              <a:buNone/>
            </a:pPr>
            <a:r>
              <a:rPr lang="en-US" sz="1200" b="1" dirty="0">
                <a:solidFill>
                  <a:srgbClr val="16202F"/>
                </a:solidFill>
                <a:latin typeface="Cambria" pitchFamily="34" charset="0"/>
                <a:ea typeface="Cambria" pitchFamily="34" charset="-122"/>
                <a:cs typeface="Cambria" pitchFamily="34" charset="-120"/>
              </a:rPr>
              <a:t>Strategy gates</a:t>
            </a:r>
            <a:endParaRPr lang="en-US" sz="1200" dirty="0"/>
          </a:p>
        </p:txBody>
      </p:sp>
      <p:sp>
        <p:nvSpPr>
          <p:cNvPr id="9" name="Text 7"/>
          <p:cNvSpPr txBox="1"/>
          <p:nvPr/>
        </p:nvSpPr>
        <p:spPr>
          <a:xfrm>
            <a:off x="804672" y="2852928"/>
            <a:ext cx="1417320" cy="475488"/>
          </a:xfrm>
          <a:prstGeom prst="rect">
            <a:avLst/>
          </a:prstGeom>
          <a:noFill/>
          <a:ln/>
        </p:spPr>
        <p:txBody>
          <a:bodyPr wrap="square" lIns="0" tIns="0" rIns="0" bIns="0" rtlCol="0" anchor="ctr"/>
          <a:lstStyle/>
          <a:p>
            <a:pPr indent="0" marL="0">
              <a:lnSpc>
                <a:spcPts val="1150"/>
              </a:lnSpc>
              <a:buNone/>
            </a:pPr>
            <a:r>
              <a:rPr lang="en-US" sz="950" dirty="0">
                <a:solidFill>
                  <a:srgbClr val="5A6779"/>
                </a:solidFill>
                <a:latin typeface="Calibri" pitchFamily="34" charset="0"/>
                <a:ea typeface="Calibri" pitchFamily="34" charset="-122"/>
                <a:cs typeface="Calibri" pitchFamily="34" charset="-120"/>
              </a:rPr>
              <a:t>a TradeIdea, or a rejection carrying the number that stopped it</a:t>
            </a:r>
            <a:endParaRPr lang="en-US" sz="950" dirty="0"/>
          </a:p>
        </p:txBody>
      </p:sp>
      <p:sp>
        <p:nvSpPr>
          <p:cNvPr id="10" name="Shape 8"/>
          <p:cNvSpPr/>
          <p:nvPr/>
        </p:nvSpPr>
        <p:spPr>
          <a:xfrm>
            <a:off x="2459736" y="1783080"/>
            <a:ext cx="1691640" cy="1600200"/>
          </a:xfrm>
          <a:prstGeom prst="roundRect">
            <a:avLst>
              <a:gd name="adj" fmla="val 3429"/>
            </a:avLst>
          </a:prstGeom>
          <a:solidFill>
            <a:srgbClr val="F1F4F9"/>
          </a:solidFill>
          <a:ln w="12700">
            <a:solidFill>
              <a:srgbClr val="F1F4F9"/>
            </a:solidFill>
            <a:prstDash val="solid"/>
          </a:ln>
        </p:spPr>
      </p:sp>
      <p:sp>
        <p:nvSpPr>
          <p:cNvPr id="11" name="Shape 9"/>
          <p:cNvSpPr/>
          <p:nvPr/>
        </p:nvSpPr>
        <p:spPr>
          <a:xfrm>
            <a:off x="2624328" y="1938528"/>
            <a:ext cx="384048" cy="384048"/>
          </a:xfrm>
          <a:prstGeom prst="ellipse">
            <a:avLst/>
          </a:prstGeom>
          <a:solidFill>
            <a:srgbClr val="0F1A2E"/>
          </a:solidFill>
          <a:ln/>
        </p:spPr>
      </p:sp>
      <p:sp>
        <p:nvSpPr>
          <p:cNvPr id="12" name="Text 10"/>
          <p:cNvSpPr txBox="1"/>
          <p:nvPr/>
        </p:nvSpPr>
        <p:spPr>
          <a:xfrm>
            <a:off x="2624328" y="1938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2624328" y="2395728"/>
            <a:ext cx="1417320" cy="457200"/>
          </a:xfrm>
          <a:prstGeom prst="rect">
            <a:avLst/>
          </a:prstGeom>
          <a:noFill/>
          <a:ln/>
        </p:spPr>
        <p:txBody>
          <a:bodyPr wrap="square" lIns="0" tIns="0" rIns="0" bIns="0" rtlCol="0" anchor="b"/>
          <a:lstStyle/>
          <a:p>
            <a:pPr indent="0" marL="0">
              <a:lnSpc>
                <a:spcPts val="1400"/>
              </a:lnSpc>
              <a:buNone/>
            </a:pPr>
            <a:r>
              <a:rPr lang="en-US" sz="1200" b="1" dirty="0">
                <a:solidFill>
                  <a:srgbClr val="16202F"/>
                </a:solidFill>
                <a:latin typeface="Cambria" pitchFamily="34" charset="0"/>
                <a:ea typeface="Cambria" pitchFamily="34" charset="-122"/>
                <a:cs typeface="Cambria" pitchFamily="34" charset="-120"/>
              </a:rPr>
              <a:t>Modelled cost</a:t>
            </a:r>
            <a:endParaRPr lang="en-US" sz="1200" dirty="0"/>
          </a:p>
        </p:txBody>
      </p:sp>
      <p:sp>
        <p:nvSpPr>
          <p:cNvPr id="14" name="Text 12"/>
          <p:cNvSpPr txBox="1"/>
          <p:nvPr/>
        </p:nvSpPr>
        <p:spPr>
          <a:xfrm>
            <a:off x="2624328" y="2852928"/>
            <a:ext cx="1417320" cy="475488"/>
          </a:xfrm>
          <a:prstGeom prst="rect">
            <a:avLst/>
          </a:prstGeom>
          <a:noFill/>
          <a:ln/>
        </p:spPr>
        <p:txBody>
          <a:bodyPr wrap="square" lIns="0" tIns="0" rIns="0" bIns="0" rtlCol="0" anchor="ctr"/>
          <a:lstStyle/>
          <a:p>
            <a:pPr indent="0" marL="0">
              <a:lnSpc>
                <a:spcPts val="1150"/>
              </a:lnSpc>
              <a:buNone/>
            </a:pPr>
            <a:r>
              <a:rPr lang="en-US" sz="950" dirty="0">
                <a:solidFill>
                  <a:srgbClr val="5A6779"/>
                </a:solidFill>
                <a:latin typeface="Calibri" pitchFamily="34" charset="0"/>
                <a:ea typeface="Calibri" pitchFamily="34" charset="-122"/>
                <a:cs typeface="Calibri" pitchFamily="34" charset="-120"/>
              </a:rPr>
              <a:t>attached before anything judges it</a:t>
            </a:r>
            <a:endParaRPr lang="en-US" sz="950" dirty="0"/>
          </a:p>
        </p:txBody>
      </p:sp>
      <p:sp>
        <p:nvSpPr>
          <p:cNvPr id="15" name="Shape 13"/>
          <p:cNvSpPr/>
          <p:nvPr/>
        </p:nvSpPr>
        <p:spPr>
          <a:xfrm>
            <a:off x="4279392" y="1783080"/>
            <a:ext cx="1691640" cy="1600200"/>
          </a:xfrm>
          <a:prstGeom prst="roundRect">
            <a:avLst>
              <a:gd name="adj" fmla="val 3429"/>
            </a:avLst>
          </a:prstGeom>
          <a:solidFill>
            <a:srgbClr val="F1F4F9"/>
          </a:solidFill>
          <a:ln w="12700">
            <a:solidFill>
              <a:srgbClr val="F1F4F9"/>
            </a:solidFill>
            <a:prstDash val="solid"/>
          </a:ln>
        </p:spPr>
      </p:sp>
      <p:sp>
        <p:nvSpPr>
          <p:cNvPr id="16" name="Shape 14"/>
          <p:cNvSpPr/>
          <p:nvPr/>
        </p:nvSpPr>
        <p:spPr>
          <a:xfrm>
            <a:off x="4443984" y="1938528"/>
            <a:ext cx="384048" cy="384048"/>
          </a:xfrm>
          <a:prstGeom prst="ellipse">
            <a:avLst/>
          </a:prstGeom>
          <a:solidFill>
            <a:srgbClr val="0F1A2E"/>
          </a:solidFill>
          <a:ln/>
        </p:spPr>
      </p:sp>
      <p:sp>
        <p:nvSpPr>
          <p:cNvPr id="17" name="Text 15"/>
          <p:cNvSpPr txBox="1"/>
          <p:nvPr/>
        </p:nvSpPr>
        <p:spPr>
          <a:xfrm>
            <a:off x="4443984" y="1938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4443984" y="2395728"/>
            <a:ext cx="1417320" cy="457200"/>
          </a:xfrm>
          <a:prstGeom prst="rect">
            <a:avLst/>
          </a:prstGeom>
          <a:noFill/>
          <a:ln/>
        </p:spPr>
        <p:txBody>
          <a:bodyPr wrap="square" lIns="0" tIns="0" rIns="0" bIns="0" rtlCol="0" anchor="b"/>
          <a:lstStyle/>
          <a:p>
            <a:pPr indent="0" marL="0">
              <a:lnSpc>
                <a:spcPts val="1400"/>
              </a:lnSpc>
              <a:buNone/>
            </a:pPr>
            <a:r>
              <a:rPr lang="en-US" sz="1200" b="1" dirty="0">
                <a:solidFill>
                  <a:srgbClr val="16202F"/>
                </a:solidFill>
                <a:latin typeface="Cambria" pitchFamily="34" charset="0"/>
                <a:ea typeface="Cambria" pitchFamily="34" charset="-122"/>
                <a:cs typeface="Cambria" pitchFamily="34" charset="-120"/>
              </a:rPr>
              <a:t>Critic</a:t>
            </a:r>
            <a:endParaRPr lang="en-US" sz="1200" dirty="0"/>
          </a:p>
        </p:txBody>
      </p:sp>
      <p:sp>
        <p:nvSpPr>
          <p:cNvPr id="19" name="Text 17"/>
          <p:cNvSpPr txBox="1"/>
          <p:nvPr/>
        </p:nvSpPr>
        <p:spPr>
          <a:xfrm>
            <a:off x="4443984" y="2852928"/>
            <a:ext cx="1417320" cy="475488"/>
          </a:xfrm>
          <a:prstGeom prst="rect">
            <a:avLst/>
          </a:prstGeom>
          <a:noFill/>
          <a:ln/>
        </p:spPr>
        <p:txBody>
          <a:bodyPr wrap="square" lIns="0" tIns="0" rIns="0" bIns="0" rtlCol="0" anchor="ctr"/>
          <a:lstStyle/>
          <a:p>
            <a:pPr indent="0" marL="0">
              <a:lnSpc>
                <a:spcPts val="1150"/>
              </a:lnSpc>
              <a:buNone/>
            </a:pPr>
            <a:r>
              <a:rPr lang="en-US" sz="950" dirty="0">
                <a:solidFill>
                  <a:srgbClr val="5A6779"/>
                </a:solidFill>
                <a:latin typeface="Calibri" pitchFamily="34" charset="0"/>
                <a:ea typeface="Calibri" pitchFamily="34" charset="-122"/>
                <a:cs typeface="Calibri" pitchFamily="34" charset="-120"/>
              </a:rPr>
              <a:t>scores and declines. Cannot approve</a:t>
            </a:r>
            <a:endParaRPr lang="en-US" sz="950" dirty="0"/>
          </a:p>
        </p:txBody>
      </p:sp>
      <p:sp>
        <p:nvSpPr>
          <p:cNvPr id="20" name="Shape 18"/>
          <p:cNvSpPr/>
          <p:nvPr/>
        </p:nvSpPr>
        <p:spPr>
          <a:xfrm>
            <a:off x="6099048" y="1783080"/>
            <a:ext cx="1691640" cy="1600200"/>
          </a:xfrm>
          <a:prstGeom prst="roundRect">
            <a:avLst>
              <a:gd name="adj" fmla="val 3429"/>
            </a:avLst>
          </a:prstGeom>
          <a:solidFill>
            <a:srgbClr val="0F1A2E"/>
          </a:solidFill>
          <a:ln w="12700">
            <a:solidFill>
              <a:srgbClr val="0F1A2E"/>
            </a:solidFill>
            <a:prstDash val="solid"/>
          </a:ln>
        </p:spPr>
      </p:sp>
      <p:sp>
        <p:nvSpPr>
          <p:cNvPr id="21" name="Shape 19"/>
          <p:cNvSpPr/>
          <p:nvPr/>
        </p:nvSpPr>
        <p:spPr>
          <a:xfrm>
            <a:off x="6263640" y="1938528"/>
            <a:ext cx="384048" cy="384048"/>
          </a:xfrm>
          <a:prstGeom prst="ellipse">
            <a:avLst/>
          </a:prstGeom>
          <a:solidFill>
            <a:srgbClr val="E8A33D"/>
          </a:solidFill>
          <a:ln/>
        </p:spPr>
      </p:sp>
      <p:sp>
        <p:nvSpPr>
          <p:cNvPr id="22" name="Text 20"/>
          <p:cNvSpPr txBox="1"/>
          <p:nvPr/>
        </p:nvSpPr>
        <p:spPr>
          <a:xfrm>
            <a:off x="6263640" y="1938528"/>
            <a:ext cx="384048" cy="384048"/>
          </a:xfrm>
          <a:prstGeom prst="rect">
            <a:avLst/>
          </a:prstGeom>
          <a:noFill/>
          <a:ln/>
        </p:spPr>
        <p:txBody>
          <a:bodyPr wrap="square" lIns="0" tIns="0" rIns="0" bIns="0" rtlCol="0" anchor="ctr"/>
          <a:lstStyle/>
          <a:p>
            <a:pPr algn="ctr" indent="0" marL="0">
              <a:buNone/>
            </a:pPr>
            <a:r>
              <a:rPr lang="en-US" sz="1500" b="1" dirty="0">
                <a:solidFill>
                  <a:srgbClr val="0F1A2E"/>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6263640" y="2395728"/>
            <a:ext cx="1417320" cy="457200"/>
          </a:xfrm>
          <a:prstGeom prst="rect">
            <a:avLst/>
          </a:prstGeom>
          <a:noFill/>
          <a:ln/>
        </p:spPr>
        <p:txBody>
          <a:bodyPr wrap="square" lIns="0" tIns="0" rIns="0" bIns="0" rtlCol="0" anchor="b"/>
          <a:lstStyle/>
          <a:p>
            <a:pPr indent="0" marL="0">
              <a:lnSpc>
                <a:spcPts val="1400"/>
              </a:lnSpc>
              <a:buNone/>
            </a:pPr>
            <a:r>
              <a:rPr lang="en-US" sz="1200" b="1" dirty="0">
                <a:solidFill>
                  <a:srgbClr val="FFFFFF"/>
                </a:solidFill>
                <a:latin typeface="Cambria" pitchFamily="34" charset="0"/>
                <a:ea typeface="Cambria" pitchFamily="34" charset="-122"/>
                <a:cs typeface="Cambria" pitchFamily="34" charset="-120"/>
              </a:rPr>
              <a:t>Risk engine</a:t>
            </a:r>
            <a:endParaRPr lang="en-US" sz="1200" dirty="0"/>
          </a:p>
        </p:txBody>
      </p:sp>
      <p:sp>
        <p:nvSpPr>
          <p:cNvPr id="24" name="Text 22"/>
          <p:cNvSpPr txBox="1"/>
          <p:nvPr/>
        </p:nvSpPr>
        <p:spPr>
          <a:xfrm>
            <a:off x="6263640" y="2852928"/>
            <a:ext cx="1417320" cy="475488"/>
          </a:xfrm>
          <a:prstGeom prst="rect">
            <a:avLst/>
          </a:prstGeom>
          <a:noFill/>
          <a:ln/>
        </p:spPr>
        <p:txBody>
          <a:bodyPr wrap="square" lIns="0" tIns="0" rIns="0" bIns="0" rtlCol="0" anchor="ctr"/>
          <a:lstStyle/>
          <a:p>
            <a:pPr indent="0" marL="0">
              <a:lnSpc>
                <a:spcPts val="1150"/>
              </a:lnSpc>
              <a:buNone/>
            </a:pPr>
            <a:r>
              <a:rPr lang="en-US" sz="950" dirty="0">
                <a:solidFill>
                  <a:srgbClr val="CADCFC"/>
                </a:solidFill>
                <a:latin typeface="Calibri" pitchFamily="34" charset="0"/>
                <a:ea typeface="Calibri" pitchFamily="34" charset="-122"/>
                <a:cs typeface="Calibri" pitchFamily="34" charset="-120"/>
              </a:rPr>
              <a:t>the only approver. Signs the ticket</a:t>
            </a:r>
            <a:endParaRPr lang="en-US" sz="950" dirty="0"/>
          </a:p>
        </p:txBody>
      </p:sp>
      <p:sp>
        <p:nvSpPr>
          <p:cNvPr id="25" name="Shape 23"/>
          <p:cNvSpPr/>
          <p:nvPr/>
        </p:nvSpPr>
        <p:spPr>
          <a:xfrm>
            <a:off x="7918704" y="1783080"/>
            <a:ext cx="1691640" cy="1600200"/>
          </a:xfrm>
          <a:prstGeom prst="roundRect">
            <a:avLst>
              <a:gd name="adj" fmla="val 3429"/>
            </a:avLst>
          </a:prstGeom>
          <a:solidFill>
            <a:srgbClr val="F1F4F9"/>
          </a:solidFill>
          <a:ln w="12700">
            <a:solidFill>
              <a:srgbClr val="F1F4F9"/>
            </a:solidFill>
            <a:prstDash val="solid"/>
          </a:ln>
        </p:spPr>
      </p:sp>
      <p:sp>
        <p:nvSpPr>
          <p:cNvPr id="26" name="Shape 24"/>
          <p:cNvSpPr/>
          <p:nvPr/>
        </p:nvSpPr>
        <p:spPr>
          <a:xfrm>
            <a:off x="8083296" y="1938528"/>
            <a:ext cx="384048" cy="384048"/>
          </a:xfrm>
          <a:prstGeom prst="ellipse">
            <a:avLst/>
          </a:prstGeom>
          <a:solidFill>
            <a:srgbClr val="0F1A2E"/>
          </a:solidFill>
          <a:ln/>
        </p:spPr>
      </p:sp>
      <p:sp>
        <p:nvSpPr>
          <p:cNvPr id="27" name="Text 25"/>
          <p:cNvSpPr txBox="1"/>
          <p:nvPr/>
        </p:nvSpPr>
        <p:spPr>
          <a:xfrm>
            <a:off x="8083296" y="1938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txBox="1"/>
          <p:nvPr/>
        </p:nvSpPr>
        <p:spPr>
          <a:xfrm>
            <a:off x="8083296" y="2395728"/>
            <a:ext cx="1417320" cy="457200"/>
          </a:xfrm>
          <a:prstGeom prst="rect">
            <a:avLst/>
          </a:prstGeom>
          <a:noFill/>
          <a:ln/>
        </p:spPr>
        <p:txBody>
          <a:bodyPr wrap="square" lIns="0" tIns="0" rIns="0" bIns="0" rtlCol="0" anchor="b"/>
          <a:lstStyle/>
          <a:p>
            <a:pPr indent="0" marL="0">
              <a:lnSpc>
                <a:spcPts val="1400"/>
              </a:lnSpc>
              <a:buNone/>
            </a:pPr>
            <a:r>
              <a:rPr lang="en-US" sz="1200" b="1" dirty="0">
                <a:solidFill>
                  <a:srgbClr val="16202F"/>
                </a:solidFill>
                <a:latin typeface="Cambria" pitchFamily="34" charset="0"/>
                <a:ea typeface="Cambria" pitchFamily="34" charset="-122"/>
                <a:cs typeface="Cambria" pitchFamily="34" charset="-120"/>
              </a:rPr>
              <a:t>Partner veto</a:t>
            </a:r>
            <a:endParaRPr lang="en-US" sz="1200" dirty="0"/>
          </a:p>
        </p:txBody>
      </p:sp>
      <p:sp>
        <p:nvSpPr>
          <p:cNvPr id="29" name="Text 27"/>
          <p:cNvSpPr txBox="1"/>
          <p:nvPr/>
        </p:nvSpPr>
        <p:spPr>
          <a:xfrm>
            <a:off x="8083296" y="2852928"/>
            <a:ext cx="1417320" cy="475488"/>
          </a:xfrm>
          <a:prstGeom prst="rect">
            <a:avLst/>
          </a:prstGeom>
          <a:noFill/>
          <a:ln/>
        </p:spPr>
        <p:txBody>
          <a:bodyPr wrap="square" lIns="0" tIns="0" rIns="0" bIns="0" rtlCol="0" anchor="ctr"/>
          <a:lstStyle/>
          <a:p>
            <a:pPr indent="0" marL="0">
              <a:lnSpc>
                <a:spcPts val="1150"/>
              </a:lnSpc>
              <a:buNone/>
            </a:pPr>
            <a:r>
              <a:rPr lang="en-US" sz="950" dirty="0">
                <a:solidFill>
                  <a:srgbClr val="5A6779"/>
                </a:solidFill>
                <a:latin typeface="Calibri" pitchFamily="34" charset="0"/>
                <a:ea typeface="Calibri" pitchFamily="34" charset="-122"/>
                <a:cs typeface="Calibri" pitchFamily="34" charset="-120"/>
              </a:rPr>
              <a:t>veto only, at seven hook points</a:t>
            </a:r>
            <a:endParaRPr lang="en-US" sz="950" dirty="0"/>
          </a:p>
        </p:txBody>
      </p:sp>
      <p:sp>
        <p:nvSpPr>
          <p:cNvPr id="30" name="Shape 28"/>
          <p:cNvSpPr/>
          <p:nvPr/>
        </p:nvSpPr>
        <p:spPr>
          <a:xfrm>
            <a:off x="9738360" y="1783080"/>
            <a:ext cx="1691640" cy="1600200"/>
          </a:xfrm>
          <a:prstGeom prst="roundRect">
            <a:avLst>
              <a:gd name="adj" fmla="val 3429"/>
            </a:avLst>
          </a:prstGeom>
          <a:solidFill>
            <a:srgbClr val="F1F4F9"/>
          </a:solidFill>
          <a:ln w="12700">
            <a:solidFill>
              <a:srgbClr val="F1F4F9"/>
            </a:solidFill>
            <a:prstDash val="solid"/>
          </a:ln>
        </p:spPr>
      </p:sp>
      <p:sp>
        <p:nvSpPr>
          <p:cNvPr id="31" name="Shape 29"/>
          <p:cNvSpPr/>
          <p:nvPr/>
        </p:nvSpPr>
        <p:spPr>
          <a:xfrm>
            <a:off x="9902952" y="1938528"/>
            <a:ext cx="384048" cy="384048"/>
          </a:xfrm>
          <a:prstGeom prst="ellipse">
            <a:avLst/>
          </a:prstGeom>
          <a:solidFill>
            <a:srgbClr val="0F1A2E"/>
          </a:solidFill>
          <a:ln/>
        </p:spPr>
      </p:sp>
      <p:sp>
        <p:nvSpPr>
          <p:cNvPr id="32" name="Text 30"/>
          <p:cNvSpPr txBox="1"/>
          <p:nvPr/>
        </p:nvSpPr>
        <p:spPr>
          <a:xfrm>
            <a:off x="9902952" y="1938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txBox="1"/>
          <p:nvPr/>
        </p:nvSpPr>
        <p:spPr>
          <a:xfrm>
            <a:off x="9902952" y="2395728"/>
            <a:ext cx="1417320" cy="457200"/>
          </a:xfrm>
          <a:prstGeom prst="rect">
            <a:avLst/>
          </a:prstGeom>
          <a:noFill/>
          <a:ln/>
        </p:spPr>
        <p:txBody>
          <a:bodyPr wrap="square" lIns="0" tIns="0" rIns="0" bIns="0" rtlCol="0" anchor="b"/>
          <a:lstStyle/>
          <a:p>
            <a:pPr indent="0" marL="0">
              <a:lnSpc>
                <a:spcPts val="1400"/>
              </a:lnSpc>
              <a:buNone/>
            </a:pPr>
            <a:r>
              <a:rPr lang="en-US" sz="1200" b="1" dirty="0">
                <a:solidFill>
                  <a:srgbClr val="16202F"/>
                </a:solidFill>
                <a:latin typeface="Cambria" pitchFamily="34" charset="0"/>
                <a:ea typeface="Cambria" pitchFamily="34" charset="-122"/>
                <a:cs typeface="Cambria" pitchFamily="34" charset="-120"/>
              </a:rPr>
              <a:t>Execution</a:t>
            </a:r>
            <a:endParaRPr lang="en-US" sz="1200" dirty="0"/>
          </a:p>
        </p:txBody>
      </p:sp>
      <p:sp>
        <p:nvSpPr>
          <p:cNvPr id="34" name="Text 32"/>
          <p:cNvSpPr txBox="1"/>
          <p:nvPr/>
        </p:nvSpPr>
        <p:spPr>
          <a:xfrm>
            <a:off x="9902952" y="2852928"/>
            <a:ext cx="1417320" cy="475488"/>
          </a:xfrm>
          <a:prstGeom prst="rect">
            <a:avLst/>
          </a:prstGeom>
          <a:noFill/>
          <a:ln/>
        </p:spPr>
        <p:txBody>
          <a:bodyPr wrap="square" lIns="0" tIns="0" rIns="0" bIns="0" rtlCol="0" anchor="ctr"/>
          <a:lstStyle/>
          <a:p>
            <a:pPr indent="0" marL="0">
              <a:lnSpc>
                <a:spcPts val="1150"/>
              </a:lnSpc>
              <a:buNone/>
            </a:pPr>
            <a:r>
              <a:rPr lang="en-US" sz="950" dirty="0">
                <a:solidFill>
                  <a:srgbClr val="5A6779"/>
                </a:solidFill>
                <a:latin typeface="Calibri" pitchFamily="34" charset="0"/>
                <a:ea typeface="Calibri" pitchFamily="34" charset="-122"/>
                <a:cs typeface="Calibri" pitchFamily="34" charset="-120"/>
              </a:rPr>
              <a:t>atomic combo, deterministic order id</a:t>
            </a:r>
            <a:endParaRPr lang="en-US" sz="950" dirty="0"/>
          </a:p>
        </p:txBody>
      </p:sp>
      <p:sp>
        <p:nvSpPr>
          <p:cNvPr id="35" name="Text 33"/>
          <p:cNvSpPr txBox="1"/>
          <p:nvPr/>
        </p:nvSpPr>
        <p:spPr>
          <a:xfrm>
            <a:off x="640080" y="3520440"/>
            <a:ext cx="10881360" cy="274320"/>
          </a:xfrm>
          <a:prstGeom prst="rect">
            <a:avLst/>
          </a:prstGeom>
          <a:noFill/>
          <a:ln/>
        </p:spPr>
        <p:txBody>
          <a:bodyPr wrap="square" lIns="0" tIns="0" rIns="0" bIns="0" rtlCol="0" anchor="ctr"/>
          <a:lstStyle/>
          <a:p>
            <a:pPr indent="0" marL="0">
              <a:buNone/>
            </a:pPr>
            <a:r>
              <a:rPr lang="en-US" sz="1250" b="1" dirty="0">
                <a:solidFill>
                  <a:srgbClr val="16202F"/>
                </a:solidFill>
                <a:latin typeface="Cambria" pitchFamily="34" charset="0"/>
                <a:ea typeface="Cambria" pitchFamily="34" charset="-122"/>
                <a:cs typeface="Cambria" pitchFamily="34" charset="-120"/>
              </a:rPr>
              <a:t>Fifteen deterministic checks, in a fixed order, enforced in Python before any order is routed</a:t>
            </a:r>
            <a:endParaRPr lang="en-US" sz="1250" dirty="0"/>
          </a:p>
        </p:txBody>
      </p:sp>
      <p:sp>
        <p:nvSpPr>
          <p:cNvPr id="36" name="Shape 34"/>
          <p:cNvSpPr/>
          <p:nvPr/>
        </p:nvSpPr>
        <p:spPr>
          <a:xfrm>
            <a:off x="640080" y="3858768"/>
            <a:ext cx="1298448" cy="365760"/>
          </a:xfrm>
          <a:prstGeom prst="roundRect">
            <a:avLst>
              <a:gd name="adj" fmla="val 15000"/>
            </a:avLst>
          </a:prstGeom>
          <a:solidFill>
            <a:srgbClr val="F1F4F9"/>
          </a:solidFill>
          <a:ln w="12700">
            <a:solidFill>
              <a:srgbClr val="F1F4F9"/>
            </a:solidFill>
            <a:prstDash val="solid"/>
          </a:ln>
        </p:spPr>
      </p:sp>
      <p:sp>
        <p:nvSpPr>
          <p:cNvPr id="37" name="Text 35"/>
          <p:cNvSpPr txBox="1"/>
          <p:nvPr/>
        </p:nvSpPr>
        <p:spPr>
          <a:xfrm>
            <a:off x="6400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firewall</a:t>
            </a:r>
            <a:endParaRPr lang="en-US" sz="850" dirty="0"/>
          </a:p>
        </p:txBody>
      </p:sp>
      <p:sp>
        <p:nvSpPr>
          <p:cNvPr id="38" name="Shape 36"/>
          <p:cNvSpPr/>
          <p:nvPr/>
        </p:nvSpPr>
        <p:spPr>
          <a:xfrm>
            <a:off x="2011680" y="3858768"/>
            <a:ext cx="1298448" cy="365760"/>
          </a:xfrm>
          <a:prstGeom prst="roundRect">
            <a:avLst>
              <a:gd name="adj" fmla="val 15000"/>
            </a:avLst>
          </a:prstGeom>
          <a:solidFill>
            <a:srgbClr val="F1F4F9"/>
          </a:solidFill>
          <a:ln w="12700">
            <a:solidFill>
              <a:srgbClr val="F1F4F9"/>
            </a:solidFill>
            <a:prstDash val="solid"/>
          </a:ln>
        </p:spPr>
      </p:sp>
      <p:sp>
        <p:nvSpPr>
          <p:cNvPr id="39" name="Text 37"/>
          <p:cNvSpPr txBox="1"/>
          <p:nvPr/>
        </p:nvSpPr>
        <p:spPr>
          <a:xfrm>
            <a:off x="20116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halted</a:t>
            </a:r>
            <a:endParaRPr lang="en-US" sz="850" dirty="0"/>
          </a:p>
        </p:txBody>
      </p:sp>
      <p:sp>
        <p:nvSpPr>
          <p:cNvPr id="40" name="Shape 38"/>
          <p:cNvSpPr/>
          <p:nvPr/>
        </p:nvSpPr>
        <p:spPr>
          <a:xfrm>
            <a:off x="3383280" y="3858768"/>
            <a:ext cx="1298448" cy="365760"/>
          </a:xfrm>
          <a:prstGeom prst="roundRect">
            <a:avLst>
              <a:gd name="adj" fmla="val 15000"/>
            </a:avLst>
          </a:prstGeom>
          <a:solidFill>
            <a:srgbClr val="F1F4F9"/>
          </a:solidFill>
          <a:ln w="12700">
            <a:solidFill>
              <a:srgbClr val="F1F4F9"/>
            </a:solidFill>
            <a:prstDash val="solid"/>
          </a:ln>
        </p:spPr>
      </p:sp>
      <p:sp>
        <p:nvSpPr>
          <p:cNvPr id="41" name="Text 39"/>
          <p:cNvSpPr txBox="1"/>
          <p:nvPr/>
        </p:nvSpPr>
        <p:spPr>
          <a:xfrm>
            <a:off x="33832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market_open</a:t>
            </a:r>
            <a:endParaRPr lang="en-US" sz="850" dirty="0"/>
          </a:p>
        </p:txBody>
      </p:sp>
      <p:sp>
        <p:nvSpPr>
          <p:cNvPr id="42" name="Shape 40"/>
          <p:cNvSpPr/>
          <p:nvPr/>
        </p:nvSpPr>
        <p:spPr>
          <a:xfrm>
            <a:off x="4754880" y="3858768"/>
            <a:ext cx="1298448" cy="365760"/>
          </a:xfrm>
          <a:prstGeom prst="roundRect">
            <a:avLst>
              <a:gd name="adj" fmla="val 15000"/>
            </a:avLst>
          </a:prstGeom>
          <a:solidFill>
            <a:srgbClr val="F1F4F9"/>
          </a:solidFill>
          <a:ln w="12700">
            <a:solidFill>
              <a:srgbClr val="F1F4F9"/>
            </a:solidFill>
            <a:prstDash val="solid"/>
          </a:ln>
        </p:spPr>
      </p:sp>
      <p:sp>
        <p:nvSpPr>
          <p:cNvPr id="43" name="Text 41"/>
          <p:cNvSpPr txBox="1"/>
          <p:nvPr/>
        </p:nvSpPr>
        <p:spPr>
          <a:xfrm>
            <a:off x="47548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undefined_risk</a:t>
            </a:r>
            <a:endParaRPr lang="en-US" sz="850" dirty="0"/>
          </a:p>
        </p:txBody>
      </p:sp>
      <p:sp>
        <p:nvSpPr>
          <p:cNvPr id="44" name="Shape 42"/>
          <p:cNvSpPr/>
          <p:nvPr/>
        </p:nvSpPr>
        <p:spPr>
          <a:xfrm>
            <a:off x="6126480" y="3858768"/>
            <a:ext cx="1298448" cy="365760"/>
          </a:xfrm>
          <a:prstGeom prst="roundRect">
            <a:avLst>
              <a:gd name="adj" fmla="val 15000"/>
            </a:avLst>
          </a:prstGeom>
          <a:solidFill>
            <a:srgbClr val="F1F4F9"/>
          </a:solidFill>
          <a:ln w="12700">
            <a:solidFill>
              <a:srgbClr val="F1F4F9"/>
            </a:solidFill>
            <a:prstDash val="solid"/>
          </a:ln>
        </p:spPr>
      </p:sp>
      <p:sp>
        <p:nvSpPr>
          <p:cNvPr id="45" name="Text 43"/>
          <p:cNvSpPr txBox="1"/>
          <p:nvPr/>
        </p:nvSpPr>
        <p:spPr>
          <a:xfrm>
            <a:off x="61264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unknown_risk</a:t>
            </a:r>
            <a:endParaRPr lang="en-US" sz="850" dirty="0"/>
          </a:p>
        </p:txBody>
      </p:sp>
      <p:sp>
        <p:nvSpPr>
          <p:cNvPr id="46" name="Shape 44"/>
          <p:cNvSpPr/>
          <p:nvPr/>
        </p:nvSpPr>
        <p:spPr>
          <a:xfrm>
            <a:off x="7498080" y="3858768"/>
            <a:ext cx="1298448" cy="365760"/>
          </a:xfrm>
          <a:prstGeom prst="roundRect">
            <a:avLst>
              <a:gd name="adj" fmla="val 15000"/>
            </a:avLst>
          </a:prstGeom>
          <a:solidFill>
            <a:srgbClr val="F1F4F9"/>
          </a:solidFill>
          <a:ln w="12700">
            <a:solidFill>
              <a:srgbClr val="F1F4F9"/>
            </a:solidFill>
            <a:prstDash val="solid"/>
          </a:ln>
        </p:spPr>
      </p:sp>
      <p:sp>
        <p:nvSpPr>
          <p:cNvPr id="47" name="Text 45"/>
          <p:cNvSpPr txBox="1"/>
          <p:nvPr/>
        </p:nvSpPr>
        <p:spPr>
          <a:xfrm>
            <a:off x="74980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leg_count</a:t>
            </a:r>
            <a:endParaRPr lang="en-US" sz="850" dirty="0"/>
          </a:p>
        </p:txBody>
      </p:sp>
      <p:sp>
        <p:nvSpPr>
          <p:cNvPr id="48" name="Shape 46"/>
          <p:cNvSpPr/>
          <p:nvPr/>
        </p:nvSpPr>
        <p:spPr>
          <a:xfrm>
            <a:off x="8869680" y="3858768"/>
            <a:ext cx="1298448" cy="365760"/>
          </a:xfrm>
          <a:prstGeom prst="roundRect">
            <a:avLst>
              <a:gd name="adj" fmla="val 15000"/>
            </a:avLst>
          </a:prstGeom>
          <a:solidFill>
            <a:srgbClr val="F1F4F9"/>
          </a:solidFill>
          <a:ln w="12700">
            <a:solidFill>
              <a:srgbClr val="F1F4F9"/>
            </a:solidFill>
            <a:prstDash val="solid"/>
          </a:ln>
        </p:spPr>
      </p:sp>
      <p:sp>
        <p:nvSpPr>
          <p:cNvPr id="49" name="Text 47"/>
          <p:cNvSpPr txBox="1"/>
          <p:nvPr/>
        </p:nvSpPr>
        <p:spPr>
          <a:xfrm>
            <a:off x="88696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duplicate_legs</a:t>
            </a:r>
            <a:endParaRPr lang="en-US" sz="850" dirty="0"/>
          </a:p>
        </p:txBody>
      </p:sp>
      <p:sp>
        <p:nvSpPr>
          <p:cNvPr id="50" name="Shape 48"/>
          <p:cNvSpPr/>
          <p:nvPr/>
        </p:nvSpPr>
        <p:spPr>
          <a:xfrm>
            <a:off x="10241280" y="3858768"/>
            <a:ext cx="1298448" cy="365760"/>
          </a:xfrm>
          <a:prstGeom prst="roundRect">
            <a:avLst>
              <a:gd name="adj" fmla="val 15000"/>
            </a:avLst>
          </a:prstGeom>
          <a:solidFill>
            <a:srgbClr val="F1F4F9"/>
          </a:solidFill>
          <a:ln w="12700">
            <a:solidFill>
              <a:srgbClr val="F1F4F9"/>
            </a:solidFill>
            <a:prstDash val="solid"/>
          </a:ln>
        </p:spPr>
      </p:sp>
      <p:sp>
        <p:nvSpPr>
          <p:cNvPr id="51" name="Text 49"/>
          <p:cNvSpPr txBox="1"/>
          <p:nvPr/>
        </p:nvSpPr>
        <p:spPr>
          <a:xfrm>
            <a:off x="10241280" y="38587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max_positions</a:t>
            </a:r>
            <a:endParaRPr lang="en-US" sz="850" dirty="0"/>
          </a:p>
        </p:txBody>
      </p:sp>
      <p:sp>
        <p:nvSpPr>
          <p:cNvPr id="52" name="Shape 50"/>
          <p:cNvSpPr/>
          <p:nvPr/>
        </p:nvSpPr>
        <p:spPr>
          <a:xfrm>
            <a:off x="640080" y="4315968"/>
            <a:ext cx="1298448" cy="365760"/>
          </a:xfrm>
          <a:prstGeom prst="roundRect">
            <a:avLst>
              <a:gd name="adj" fmla="val 15000"/>
            </a:avLst>
          </a:prstGeom>
          <a:solidFill>
            <a:srgbClr val="F1F4F9"/>
          </a:solidFill>
          <a:ln w="12700">
            <a:solidFill>
              <a:srgbClr val="F1F4F9"/>
            </a:solidFill>
            <a:prstDash val="solid"/>
          </a:ln>
        </p:spPr>
      </p:sp>
      <p:sp>
        <p:nvSpPr>
          <p:cNvPr id="53" name="Text 51"/>
          <p:cNvSpPr txBox="1"/>
          <p:nvPr/>
        </p:nvSpPr>
        <p:spPr>
          <a:xfrm>
            <a:off x="640080" y="43159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max_new_per_day</a:t>
            </a:r>
            <a:endParaRPr lang="en-US" sz="850" dirty="0"/>
          </a:p>
        </p:txBody>
      </p:sp>
      <p:sp>
        <p:nvSpPr>
          <p:cNvPr id="54" name="Shape 52"/>
          <p:cNvSpPr/>
          <p:nvPr/>
        </p:nvSpPr>
        <p:spPr>
          <a:xfrm>
            <a:off x="2011680" y="4315968"/>
            <a:ext cx="1298448" cy="365760"/>
          </a:xfrm>
          <a:prstGeom prst="roundRect">
            <a:avLst>
              <a:gd name="adj" fmla="val 15000"/>
            </a:avLst>
          </a:prstGeom>
          <a:solidFill>
            <a:srgbClr val="E8A33D"/>
          </a:solidFill>
          <a:ln w="12700">
            <a:solidFill>
              <a:srgbClr val="E8A33D"/>
            </a:solidFill>
            <a:prstDash val="solid"/>
          </a:ln>
        </p:spPr>
      </p:sp>
      <p:sp>
        <p:nvSpPr>
          <p:cNvPr id="55" name="Text 53"/>
          <p:cNvSpPr txBox="1"/>
          <p:nvPr/>
        </p:nvSpPr>
        <p:spPr>
          <a:xfrm>
            <a:off x="2011680" y="4315968"/>
            <a:ext cx="1298448" cy="365760"/>
          </a:xfrm>
          <a:prstGeom prst="rect">
            <a:avLst/>
          </a:prstGeom>
          <a:noFill/>
          <a:ln/>
        </p:spPr>
        <p:txBody>
          <a:bodyPr wrap="square" lIns="0" tIns="0" rIns="0" bIns="0" rtlCol="0" anchor="ctr"/>
          <a:lstStyle/>
          <a:p>
            <a:pPr algn="ctr" indent="0" marL="0">
              <a:buNone/>
            </a:pPr>
            <a:r>
              <a:rPr lang="en-US" sz="850" dirty="0">
                <a:solidFill>
                  <a:srgbClr val="0F1A2E"/>
                </a:solidFill>
                <a:latin typeface="Courier New" pitchFamily="34" charset="0"/>
                <a:ea typeface="Courier New" pitchFamily="34" charset="-122"/>
                <a:cs typeface="Courier New" pitchFamily="34" charset="-120"/>
              </a:rPr>
              <a:t>duplicate_structure</a:t>
            </a:r>
            <a:endParaRPr lang="en-US" sz="850" dirty="0"/>
          </a:p>
        </p:txBody>
      </p:sp>
      <p:sp>
        <p:nvSpPr>
          <p:cNvPr id="56" name="Shape 54"/>
          <p:cNvSpPr/>
          <p:nvPr/>
        </p:nvSpPr>
        <p:spPr>
          <a:xfrm>
            <a:off x="3383280" y="4315968"/>
            <a:ext cx="1298448" cy="365760"/>
          </a:xfrm>
          <a:prstGeom prst="roundRect">
            <a:avLst>
              <a:gd name="adj" fmla="val 15000"/>
            </a:avLst>
          </a:prstGeom>
          <a:solidFill>
            <a:srgbClr val="E8A33D"/>
          </a:solidFill>
          <a:ln w="12700">
            <a:solidFill>
              <a:srgbClr val="E8A33D"/>
            </a:solidFill>
            <a:prstDash val="solid"/>
          </a:ln>
        </p:spPr>
      </p:sp>
      <p:sp>
        <p:nvSpPr>
          <p:cNvPr id="57" name="Text 55"/>
          <p:cNvSpPr txBox="1"/>
          <p:nvPr/>
        </p:nvSpPr>
        <p:spPr>
          <a:xfrm>
            <a:off x="3383280" y="4315968"/>
            <a:ext cx="1298448" cy="365760"/>
          </a:xfrm>
          <a:prstGeom prst="rect">
            <a:avLst/>
          </a:prstGeom>
          <a:noFill/>
          <a:ln/>
        </p:spPr>
        <p:txBody>
          <a:bodyPr wrap="square" lIns="0" tIns="0" rIns="0" bIns="0" rtlCol="0" anchor="ctr"/>
          <a:lstStyle/>
          <a:p>
            <a:pPr algn="ctr" indent="0" marL="0">
              <a:buNone/>
            </a:pPr>
            <a:r>
              <a:rPr lang="en-US" sz="850" dirty="0">
                <a:solidFill>
                  <a:srgbClr val="0F1A2E"/>
                </a:solidFill>
                <a:latin typeface="Courier New" pitchFamily="34" charset="0"/>
                <a:ea typeface="Courier New" pitchFamily="34" charset="-122"/>
                <a:cs typeface="Courier New" pitchFamily="34" charset="-120"/>
              </a:rPr>
              <a:t>reentry_cooldown</a:t>
            </a:r>
            <a:endParaRPr lang="en-US" sz="850" dirty="0"/>
          </a:p>
        </p:txBody>
      </p:sp>
      <p:sp>
        <p:nvSpPr>
          <p:cNvPr id="58" name="Shape 56"/>
          <p:cNvSpPr/>
          <p:nvPr/>
        </p:nvSpPr>
        <p:spPr>
          <a:xfrm>
            <a:off x="4754880" y="4315968"/>
            <a:ext cx="1298448" cy="365760"/>
          </a:xfrm>
          <a:prstGeom prst="roundRect">
            <a:avLst>
              <a:gd name="adj" fmla="val 15000"/>
            </a:avLst>
          </a:prstGeom>
          <a:solidFill>
            <a:srgbClr val="F1F4F9"/>
          </a:solidFill>
          <a:ln w="12700">
            <a:solidFill>
              <a:srgbClr val="F1F4F9"/>
            </a:solidFill>
            <a:prstDash val="solid"/>
          </a:ln>
        </p:spPr>
      </p:sp>
      <p:sp>
        <p:nvSpPr>
          <p:cNvPr id="59" name="Text 57"/>
          <p:cNvSpPr txBox="1"/>
          <p:nvPr/>
        </p:nvSpPr>
        <p:spPr>
          <a:xfrm>
            <a:off x="4754880" y="43159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concentration</a:t>
            </a:r>
            <a:endParaRPr lang="en-US" sz="850" dirty="0"/>
          </a:p>
        </p:txBody>
      </p:sp>
      <p:sp>
        <p:nvSpPr>
          <p:cNvPr id="60" name="Shape 58"/>
          <p:cNvSpPr/>
          <p:nvPr/>
        </p:nvSpPr>
        <p:spPr>
          <a:xfrm>
            <a:off x="6126480" y="4315968"/>
            <a:ext cx="1298448" cy="365760"/>
          </a:xfrm>
          <a:prstGeom prst="roundRect">
            <a:avLst>
              <a:gd name="adj" fmla="val 15000"/>
            </a:avLst>
          </a:prstGeom>
          <a:solidFill>
            <a:srgbClr val="F1F4F9"/>
          </a:solidFill>
          <a:ln w="12700">
            <a:solidFill>
              <a:srgbClr val="F1F4F9"/>
            </a:solidFill>
            <a:prstDash val="solid"/>
          </a:ln>
        </p:spPr>
      </p:sp>
      <p:sp>
        <p:nvSpPr>
          <p:cNvPr id="61" name="Text 59"/>
          <p:cNvSpPr txBox="1"/>
          <p:nvPr/>
        </p:nvSpPr>
        <p:spPr>
          <a:xfrm>
            <a:off x="6126480" y="43159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sizing</a:t>
            </a:r>
            <a:endParaRPr lang="en-US" sz="850" dirty="0"/>
          </a:p>
        </p:txBody>
      </p:sp>
      <p:sp>
        <p:nvSpPr>
          <p:cNvPr id="62" name="Shape 60"/>
          <p:cNvSpPr/>
          <p:nvPr/>
        </p:nvSpPr>
        <p:spPr>
          <a:xfrm>
            <a:off x="7498080" y="4315968"/>
            <a:ext cx="1298448" cy="365760"/>
          </a:xfrm>
          <a:prstGeom prst="roundRect">
            <a:avLst>
              <a:gd name="adj" fmla="val 15000"/>
            </a:avLst>
          </a:prstGeom>
          <a:solidFill>
            <a:srgbClr val="F1F4F9"/>
          </a:solidFill>
          <a:ln w="12700">
            <a:solidFill>
              <a:srgbClr val="F1F4F9"/>
            </a:solidFill>
            <a:prstDash val="solid"/>
          </a:ln>
        </p:spPr>
      </p:sp>
      <p:sp>
        <p:nvSpPr>
          <p:cNvPr id="63" name="Text 61"/>
          <p:cNvSpPr txBox="1"/>
          <p:nvPr/>
        </p:nvSpPr>
        <p:spPr>
          <a:xfrm>
            <a:off x="7498080" y="43159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portfolio_risk</a:t>
            </a:r>
            <a:endParaRPr lang="en-US" sz="850" dirty="0"/>
          </a:p>
        </p:txBody>
      </p:sp>
      <p:sp>
        <p:nvSpPr>
          <p:cNvPr id="64" name="Shape 62"/>
          <p:cNvSpPr/>
          <p:nvPr/>
        </p:nvSpPr>
        <p:spPr>
          <a:xfrm>
            <a:off x="8869680" y="4315968"/>
            <a:ext cx="1298448" cy="365760"/>
          </a:xfrm>
          <a:prstGeom prst="roundRect">
            <a:avLst>
              <a:gd name="adj" fmla="val 15000"/>
            </a:avLst>
          </a:prstGeom>
          <a:solidFill>
            <a:srgbClr val="F1F4F9"/>
          </a:solidFill>
          <a:ln w="12700">
            <a:solidFill>
              <a:srgbClr val="F1F4F9"/>
            </a:solidFill>
            <a:prstDash val="solid"/>
          </a:ln>
        </p:spPr>
      </p:sp>
      <p:sp>
        <p:nvSpPr>
          <p:cNvPr id="65" name="Text 63"/>
          <p:cNvSpPr txBox="1"/>
          <p:nvPr/>
        </p:nvSpPr>
        <p:spPr>
          <a:xfrm>
            <a:off x="8869680" y="4315968"/>
            <a:ext cx="1298448" cy="365760"/>
          </a:xfrm>
          <a:prstGeom prst="rect">
            <a:avLst/>
          </a:prstGeom>
          <a:noFill/>
          <a:ln/>
        </p:spPr>
        <p:txBody>
          <a:bodyPr wrap="square" lIns="0" tIns="0" rIns="0" bIns="0" rtlCol="0" anchor="ctr"/>
          <a:lstStyle/>
          <a:p>
            <a:pPr algn="ctr" indent="0" marL="0">
              <a:buNone/>
            </a:pPr>
            <a:r>
              <a:rPr lang="en-US" sz="850" dirty="0">
                <a:solidFill>
                  <a:srgbClr val="16202F"/>
                </a:solidFill>
                <a:latin typeface="Courier New" pitchFamily="34" charset="0"/>
                <a:ea typeface="Courier New" pitchFamily="34" charset="-122"/>
                <a:cs typeface="Courier New" pitchFamily="34" charset="-120"/>
              </a:rPr>
              <a:t>cash</a:t>
            </a:r>
            <a:endParaRPr lang="en-US" sz="850" dirty="0"/>
          </a:p>
        </p:txBody>
      </p:sp>
      <p:sp>
        <p:nvSpPr>
          <p:cNvPr id="66" name="Shape 64"/>
          <p:cNvSpPr/>
          <p:nvPr/>
        </p:nvSpPr>
        <p:spPr>
          <a:xfrm>
            <a:off x="640080" y="4846320"/>
            <a:ext cx="3502152" cy="1645920"/>
          </a:xfrm>
          <a:prstGeom prst="roundRect">
            <a:avLst>
              <a:gd name="adj" fmla="val 3333"/>
            </a:avLst>
          </a:prstGeom>
          <a:solidFill>
            <a:srgbClr val="F1F4F9"/>
          </a:solidFill>
          <a:ln w="12700">
            <a:solidFill>
              <a:srgbClr val="F1F4F9"/>
            </a:solidFill>
            <a:prstDash val="solid"/>
          </a:ln>
        </p:spPr>
      </p:sp>
      <p:sp>
        <p:nvSpPr>
          <p:cNvPr id="67" name="Text 65"/>
          <p:cNvSpPr txBox="1"/>
          <p:nvPr/>
        </p:nvSpPr>
        <p:spPr>
          <a:xfrm>
            <a:off x="868680" y="4983480"/>
            <a:ext cx="3063240" cy="457200"/>
          </a:xfrm>
          <a:prstGeom prst="rect">
            <a:avLst/>
          </a:prstGeom>
          <a:noFill/>
          <a:ln/>
        </p:spPr>
        <p:txBody>
          <a:bodyPr wrap="square" lIns="0" tIns="0" rIns="0" bIns="0" rtlCol="0" anchor="b"/>
          <a:lstStyle/>
          <a:p>
            <a:pPr indent="0" marL="0">
              <a:lnSpc>
                <a:spcPts val="1500"/>
              </a:lnSpc>
              <a:buNone/>
            </a:pPr>
            <a:r>
              <a:rPr lang="en-US" sz="1250" b="1" dirty="0">
                <a:solidFill>
                  <a:srgbClr val="16202F"/>
                </a:solidFill>
                <a:latin typeface="Calibri" pitchFamily="34" charset="0"/>
                <a:ea typeface="Calibri" pitchFamily="34" charset="-122"/>
                <a:cs typeface="Calibri" pitchFamily="34" charset="-120"/>
              </a:rPr>
              <a:t>Sizing is from max loss, not capital</a:t>
            </a:r>
            <a:endParaRPr lang="en-US" sz="1250" dirty="0"/>
          </a:p>
        </p:txBody>
      </p:sp>
      <p:sp>
        <p:nvSpPr>
          <p:cNvPr id="68" name="Text 66"/>
          <p:cNvSpPr txBox="1"/>
          <p:nvPr/>
        </p:nvSpPr>
        <p:spPr>
          <a:xfrm>
            <a:off x="868680" y="5458968"/>
            <a:ext cx="3063240" cy="91440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A structure without a computable max loss is refused outright — which is what makes a stray undefined-risk idea impossible to execute by accident.</a:t>
            </a:r>
            <a:endParaRPr lang="en-US" sz="1050" dirty="0"/>
          </a:p>
        </p:txBody>
      </p:sp>
      <p:sp>
        <p:nvSpPr>
          <p:cNvPr id="69" name="Shape 67"/>
          <p:cNvSpPr/>
          <p:nvPr/>
        </p:nvSpPr>
        <p:spPr>
          <a:xfrm>
            <a:off x="4325112" y="4846320"/>
            <a:ext cx="3502152" cy="1645920"/>
          </a:xfrm>
          <a:prstGeom prst="roundRect">
            <a:avLst>
              <a:gd name="adj" fmla="val 3333"/>
            </a:avLst>
          </a:prstGeom>
          <a:solidFill>
            <a:srgbClr val="F1F4F9"/>
          </a:solidFill>
          <a:ln w="12700">
            <a:solidFill>
              <a:srgbClr val="F1F4F9"/>
            </a:solidFill>
            <a:prstDash val="solid"/>
          </a:ln>
        </p:spPr>
      </p:sp>
      <p:sp>
        <p:nvSpPr>
          <p:cNvPr id="70" name="Text 68"/>
          <p:cNvSpPr txBox="1"/>
          <p:nvPr/>
        </p:nvSpPr>
        <p:spPr>
          <a:xfrm>
            <a:off x="4553712" y="4983480"/>
            <a:ext cx="3063240" cy="457200"/>
          </a:xfrm>
          <a:prstGeom prst="rect">
            <a:avLst/>
          </a:prstGeom>
          <a:noFill/>
          <a:ln/>
        </p:spPr>
        <p:txBody>
          <a:bodyPr wrap="square" lIns="0" tIns="0" rIns="0" bIns="0" rtlCol="0" anchor="b"/>
          <a:lstStyle/>
          <a:p>
            <a:pPr indent="0" marL="0">
              <a:lnSpc>
                <a:spcPts val="1500"/>
              </a:lnSpc>
              <a:buNone/>
            </a:pPr>
            <a:r>
              <a:rPr lang="en-US" sz="1250" b="1" dirty="0">
                <a:solidFill>
                  <a:srgbClr val="16202F"/>
                </a:solidFill>
                <a:latin typeface="Calibri" pitchFamily="34" charset="0"/>
                <a:ea typeface="Calibri" pitchFamily="34" charset="-122"/>
                <a:cs typeface="Calibri" pitchFamily="34" charset="-120"/>
              </a:rPr>
              <a:t>Brokers net identical option symbols</a:t>
            </a:r>
            <a:endParaRPr lang="en-US" sz="1250" dirty="0"/>
          </a:p>
        </p:txBody>
      </p:sp>
      <p:sp>
        <p:nvSpPr>
          <p:cNvPr id="71" name="Text 69"/>
          <p:cNvSpPr txBox="1"/>
          <p:nvPr/>
        </p:nvSpPr>
        <p:spPr>
          <a:xfrm>
            <a:off x="4553712" y="5458968"/>
            <a:ext cx="3063240" cy="91440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Re-opening the same condor doubles one position rather than creating a second, so every count-based limit was blind to it. The two gold checks are the fix.</a:t>
            </a:r>
            <a:endParaRPr lang="en-US" sz="1050" dirty="0"/>
          </a:p>
        </p:txBody>
      </p:sp>
      <p:sp>
        <p:nvSpPr>
          <p:cNvPr id="72" name="Shape 70"/>
          <p:cNvSpPr/>
          <p:nvPr/>
        </p:nvSpPr>
        <p:spPr>
          <a:xfrm>
            <a:off x="8010144" y="4846320"/>
            <a:ext cx="3502152" cy="1645920"/>
          </a:xfrm>
          <a:prstGeom prst="roundRect">
            <a:avLst>
              <a:gd name="adj" fmla="val 3333"/>
            </a:avLst>
          </a:prstGeom>
          <a:solidFill>
            <a:srgbClr val="F1F4F9"/>
          </a:solidFill>
          <a:ln w="12700">
            <a:solidFill>
              <a:srgbClr val="F1F4F9"/>
            </a:solidFill>
            <a:prstDash val="solid"/>
          </a:ln>
        </p:spPr>
      </p:sp>
      <p:sp>
        <p:nvSpPr>
          <p:cNvPr id="73" name="Text 71"/>
          <p:cNvSpPr txBox="1"/>
          <p:nvPr/>
        </p:nvSpPr>
        <p:spPr>
          <a:xfrm>
            <a:off x="8238744" y="4983480"/>
            <a:ext cx="3063240" cy="457200"/>
          </a:xfrm>
          <a:prstGeom prst="rect">
            <a:avLst/>
          </a:prstGeom>
          <a:noFill/>
          <a:ln/>
        </p:spPr>
        <p:txBody>
          <a:bodyPr wrap="square" lIns="0" tIns="0" rIns="0" bIns="0" rtlCol="0" anchor="b"/>
          <a:lstStyle/>
          <a:p>
            <a:pPr indent="0" marL="0">
              <a:lnSpc>
                <a:spcPts val="1500"/>
              </a:lnSpc>
              <a:buNone/>
            </a:pPr>
            <a:r>
              <a:rPr lang="en-US" sz="1250" b="1" dirty="0">
                <a:solidFill>
                  <a:srgbClr val="16202F"/>
                </a:solidFill>
                <a:latin typeface="Calibri" pitchFamily="34" charset="0"/>
                <a:ea typeface="Calibri" pitchFamily="34" charset="-122"/>
                <a:cs typeface="Calibri" pitchFamily="34" charset="-120"/>
              </a:rPr>
              <a:t>A capital firewall, not politeness</a:t>
            </a:r>
            <a:endParaRPr lang="en-US" sz="1250" dirty="0"/>
          </a:p>
        </p:txBody>
      </p:sp>
      <p:sp>
        <p:nvSpPr>
          <p:cNvPr id="74" name="Text 72"/>
          <p:cNvSpPr txBox="1"/>
          <p:nvPr/>
        </p:nvSpPr>
        <p:spPr>
          <a:xfrm>
            <a:off x="8238744" y="5458968"/>
            <a:ext cx="3063240" cy="91440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Carry's margin is reserved first; intraday leases what Reg T leaves. 15:15 liquidates the transient books and polls until confirmed flat, 15:45 signs it off.</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2FBF71"/>
                </a:solidFill>
                <a:latin typeface="Calibri" pitchFamily="34" charset="0"/>
                <a:ea typeface="Calibri" pitchFamily="34" charset="-122"/>
                <a:cs typeface="Calibri" pitchFamily="34" charset="-120"/>
              </a:rPr>
              <a:t>EVIDENCE · REAL ALPACA BARS, FEB–AUG 2026</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The carry book carries it, and the exits decide it</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441 closed trades across 14 index and sector ETFs, with spread and fees charged inside every fill. Net P&amp;L in USD, trade count in brackets.</a:t>
            </a:r>
            <a:endParaRPr lang="en-US" sz="1450" dirty="0"/>
          </a:p>
        </p:txBody>
      </p:sp>
      <p:sp>
        <p:nvSpPr>
          <p:cNvPr id="5" name="Shape 3"/>
          <p:cNvSpPr/>
          <p:nvPr/>
        </p:nvSpPr>
        <p:spPr>
          <a:xfrm>
            <a:off x="640080" y="1783080"/>
            <a:ext cx="2084832" cy="868680"/>
          </a:xfrm>
          <a:prstGeom prst="roundRect">
            <a:avLst>
              <a:gd name="adj" fmla="val 6316"/>
            </a:avLst>
          </a:prstGeom>
          <a:solidFill>
            <a:srgbClr val="F1F4F9"/>
          </a:solidFill>
          <a:ln w="12700">
            <a:solidFill>
              <a:srgbClr val="F1F4F9"/>
            </a:solidFill>
            <a:prstDash val="solid"/>
          </a:ln>
        </p:spPr>
      </p:sp>
      <p:sp>
        <p:nvSpPr>
          <p:cNvPr id="6" name="Text 4"/>
          <p:cNvSpPr txBox="1"/>
          <p:nvPr/>
        </p:nvSpPr>
        <p:spPr>
          <a:xfrm>
            <a:off x="804672" y="1874520"/>
            <a:ext cx="1783080" cy="41148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+$13,765</a:t>
            </a:r>
            <a:endParaRPr lang="en-US" sz="1900" dirty="0"/>
          </a:p>
        </p:txBody>
      </p:sp>
      <p:sp>
        <p:nvSpPr>
          <p:cNvPr id="7" name="Text 5"/>
          <p:cNvSpPr txBox="1"/>
          <p:nvPr/>
        </p:nvSpPr>
        <p:spPr>
          <a:xfrm>
            <a:off x="804672" y="2286000"/>
            <a:ext cx="1783080" cy="274320"/>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net P&amp;L</a:t>
            </a:r>
            <a:endParaRPr lang="en-US" sz="1050" dirty="0"/>
          </a:p>
        </p:txBody>
      </p:sp>
      <p:sp>
        <p:nvSpPr>
          <p:cNvPr id="8" name="Shape 6"/>
          <p:cNvSpPr/>
          <p:nvPr/>
        </p:nvSpPr>
        <p:spPr>
          <a:xfrm>
            <a:off x="2852928" y="1783080"/>
            <a:ext cx="2084832" cy="868680"/>
          </a:xfrm>
          <a:prstGeom prst="roundRect">
            <a:avLst>
              <a:gd name="adj" fmla="val 6316"/>
            </a:avLst>
          </a:prstGeom>
          <a:solidFill>
            <a:srgbClr val="F1F4F9"/>
          </a:solidFill>
          <a:ln w="12700">
            <a:solidFill>
              <a:srgbClr val="F1F4F9"/>
            </a:solidFill>
            <a:prstDash val="solid"/>
          </a:ln>
        </p:spPr>
      </p:sp>
      <p:sp>
        <p:nvSpPr>
          <p:cNvPr id="9" name="Text 7"/>
          <p:cNvSpPr txBox="1"/>
          <p:nvPr/>
        </p:nvSpPr>
        <p:spPr>
          <a:xfrm>
            <a:off x="3017520" y="1874520"/>
            <a:ext cx="1783080" cy="41148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2.42</a:t>
            </a:r>
            <a:endParaRPr lang="en-US" sz="1900" dirty="0"/>
          </a:p>
        </p:txBody>
      </p:sp>
      <p:sp>
        <p:nvSpPr>
          <p:cNvPr id="10" name="Text 8"/>
          <p:cNvSpPr txBox="1"/>
          <p:nvPr/>
        </p:nvSpPr>
        <p:spPr>
          <a:xfrm>
            <a:off x="3017520" y="2286000"/>
            <a:ext cx="1783080" cy="274320"/>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Sharpe</a:t>
            </a:r>
            <a:endParaRPr lang="en-US" sz="1050" dirty="0"/>
          </a:p>
        </p:txBody>
      </p:sp>
      <p:sp>
        <p:nvSpPr>
          <p:cNvPr id="11" name="Shape 9"/>
          <p:cNvSpPr/>
          <p:nvPr/>
        </p:nvSpPr>
        <p:spPr>
          <a:xfrm>
            <a:off x="5065776" y="1783080"/>
            <a:ext cx="2084832" cy="868680"/>
          </a:xfrm>
          <a:prstGeom prst="roundRect">
            <a:avLst>
              <a:gd name="adj" fmla="val 6316"/>
            </a:avLst>
          </a:prstGeom>
          <a:solidFill>
            <a:srgbClr val="F1F4F9"/>
          </a:solidFill>
          <a:ln w="12700">
            <a:solidFill>
              <a:srgbClr val="F1F4F9"/>
            </a:solidFill>
            <a:prstDash val="solid"/>
          </a:ln>
        </p:spPr>
      </p:sp>
      <p:sp>
        <p:nvSpPr>
          <p:cNvPr id="12" name="Text 10"/>
          <p:cNvSpPr txBox="1"/>
          <p:nvPr/>
        </p:nvSpPr>
        <p:spPr>
          <a:xfrm>
            <a:off x="5230368" y="1874520"/>
            <a:ext cx="1783080" cy="41148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−3.6%</a:t>
            </a:r>
            <a:endParaRPr lang="en-US" sz="1900" dirty="0"/>
          </a:p>
        </p:txBody>
      </p:sp>
      <p:sp>
        <p:nvSpPr>
          <p:cNvPr id="13" name="Text 11"/>
          <p:cNvSpPr txBox="1"/>
          <p:nvPr/>
        </p:nvSpPr>
        <p:spPr>
          <a:xfrm>
            <a:off x="5230368" y="2286000"/>
            <a:ext cx="1783080" cy="274320"/>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max drawdown</a:t>
            </a:r>
            <a:endParaRPr lang="en-US" sz="1050" dirty="0"/>
          </a:p>
        </p:txBody>
      </p:sp>
      <p:sp>
        <p:nvSpPr>
          <p:cNvPr id="14" name="Shape 12"/>
          <p:cNvSpPr/>
          <p:nvPr/>
        </p:nvSpPr>
        <p:spPr>
          <a:xfrm>
            <a:off x="7278624" y="1783080"/>
            <a:ext cx="2084832" cy="868680"/>
          </a:xfrm>
          <a:prstGeom prst="roundRect">
            <a:avLst>
              <a:gd name="adj" fmla="val 6316"/>
            </a:avLst>
          </a:prstGeom>
          <a:solidFill>
            <a:srgbClr val="F1F4F9"/>
          </a:solidFill>
          <a:ln w="12700">
            <a:solidFill>
              <a:srgbClr val="F1F4F9"/>
            </a:solidFill>
            <a:prstDash val="solid"/>
          </a:ln>
        </p:spPr>
      </p:sp>
      <p:sp>
        <p:nvSpPr>
          <p:cNvPr id="15" name="Text 13"/>
          <p:cNvSpPr txBox="1"/>
          <p:nvPr/>
        </p:nvSpPr>
        <p:spPr>
          <a:xfrm>
            <a:off x="7443216" y="1874520"/>
            <a:ext cx="1783080" cy="41148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1.40</a:t>
            </a:r>
            <a:endParaRPr lang="en-US" sz="1900" dirty="0"/>
          </a:p>
        </p:txBody>
      </p:sp>
      <p:sp>
        <p:nvSpPr>
          <p:cNvPr id="16" name="Text 14"/>
          <p:cNvSpPr txBox="1"/>
          <p:nvPr/>
        </p:nvSpPr>
        <p:spPr>
          <a:xfrm>
            <a:off x="7443216" y="2286000"/>
            <a:ext cx="1783080" cy="274320"/>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profit factor</a:t>
            </a:r>
            <a:endParaRPr lang="en-US" sz="1050" dirty="0"/>
          </a:p>
        </p:txBody>
      </p:sp>
      <p:sp>
        <p:nvSpPr>
          <p:cNvPr id="17" name="Shape 15"/>
          <p:cNvSpPr/>
          <p:nvPr/>
        </p:nvSpPr>
        <p:spPr>
          <a:xfrm>
            <a:off x="9491472" y="1783080"/>
            <a:ext cx="2084832" cy="868680"/>
          </a:xfrm>
          <a:prstGeom prst="roundRect">
            <a:avLst>
              <a:gd name="adj" fmla="val 6316"/>
            </a:avLst>
          </a:prstGeom>
          <a:solidFill>
            <a:srgbClr val="F1F4F9"/>
          </a:solidFill>
          <a:ln w="12700">
            <a:solidFill>
              <a:srgbClr val="F1F4F9"/>
            </a:solidFill>
            <a:prstDash val="solid"/>
          </a:ln>
        </p:spPr>
      </p:sp>
      <p:sp>
        <p:nvSpPr>
          <p:cNvPr id="18" name="Text 16"/>
          <p:cNvSpPr txBox="1"/>
          <p:nvPr/>
        </p:nvSpPr>
        <p:spPr>
          <a:xfrm>
            <a:off x="9656064" y="1874520"/>
            <a:ext cx="1783080" cy="411480"/>
          </a:xfrm>
          <a:prstGeom prst="rect">
            <a:avLst/>
          </a:prstGeom>
          <a:noFill/>
          <a:ln/>
        </p:spPr>
        <p:txBody>
          <a:bodyPr wrap="square" lIns="0" tIns="0" rIns="0" bIns="0" rtlCol="0" anchor="ctr"/>
          <a:lstStyle/>
          <a:p>
            <a:pPr indent="0" marL="0">
              <a:buNone/>
            </a:pPr>
            <a:r>
              <a:rPr lang="en-US" sz="1900" b="1" dirty="0">
                <a:solidFill>
                  <a:srgbClr val="E5484D"/>
                </a:solidFill>
                <a:latin typeface="Cambria" pitchFamily="34" charset="0"/>
                <a:ea typeface="Cambria" pitchFamily="34" charset="-122"/>
                <a:cs typeface="Cambria" pitchFamily="34" charset="-120"/>
              </a:rPr>
              <a:t>$12,990</a:t>
            </a:r>
            <a:endParaRPr lang="en-US" sz="1900" dirty="0"/>
          </a:p>
        </p:txBody>
      </p:sp>
      <p:sp>
        <p:nvSpPr>
          <p:cNvPr id="19" name="Text 17"/>
          <p:cNvSpPr txBox="1"/>
          <p:nvPr/>
        </p:nvSpPr>
        <p:spPr>
          <a:xfrm>
            <a:off x="9656064" y="2286000"/>
            <a:ext cx="1783080" cy="274320"/>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paid in spread</a:t>
            </a:r>
            <a:endParaRPr lang="en-US" sz="1050" dirty="0"/>
          </a:p>
        </p:txBody>
      </p:sp>
      <p:sp>
        <p:nvSpPr>
          <p:cNvPr id="20" name="Shape 18"/>
          <p:cNvSpPr/>
          <p:nvPr/>
        </p:nvSpPr>
        <p:spPr>
          <a:xfrm>
            <a:off x="3209544" y="2761488"/>
            <a:ext cx="10973" cy="3218688"/>
          </a:xfrm>
          <a:prstGeom prst="rect">
            <a:avLst/>
          </a:prstGeom>
          <a:solidFill>
            <a:srgbClr val="C7D0DC"/>
          </a:solidFill>
          <a:ln/>
        </p:spPr>
      </p:sp>
      <p:sp>
        <p:nvSpPr>
          <p:cNvPr id="21" name="Text 19"/>
          <p:cNvSpPr txBox="1"/>
          <p:nvPr/>
        </p:nvSpPr>
        <p:spPr>
          <a:xfrm>
            <a:off x="640080" y="28072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Carry: profit target (61)</a:t>
            </a:r>
            <a:endParaRPr lang="en-US" sz="1050" dirty="0"/>
          </a:p>
        </p:txBody>
      </p:sp>
      <p:sp>
        <p:nvSpPr>
          <p:cNvPr id="22" name="Shape 20"/>
          <p:cNvSpPr/>
          <p:nvPr/>
        </p:nvSpPr>
        <p:spPr>
          <a:xfrm>
            <a:off x="3337560" y="2834640"/>
            <a:ext cx="3101703" cy="265176"/>
          </a:xfrm>
          <a:prstGeom prst="rect">
            <a:avLst/>
          </a:prstGeom>
          <a:solidFill>
            <a:srgbClr val="2FBF71"/>
          </a:solidFill>
          <a:ln/>
        </p:spPr>
      </p:sp>
      <p:sp>
        <p:nvSpPr>
          <p:cNvPr id="23" name="Text 21"/>
          <p:cNvSpPr txBox="1"/>
          <p:nvPr/>
        </p:nvSpPr>
        <p:spPr>
          <a:xfrm>
            <a:off x="6548991" y="2807208"/>
            <a:ext cx="1280160" cy="320040"/>
          </a:xfrm>
          <a:prstGeom prst="rect">
            <a:avLst/>
          </a:prstGeom>
          <a:noFill/>
          <a:ln/>
        </p:spPr>
        <p:txBody>
          <a:bodyPr wrap="square" lIns="0" tIns="0" rIns="0" bIns="0" rtlCol="0" anchor="ctr"/>
          <a:lstStyle/>
          <a:p>
            <a:pPr indent="0" marL="0">
              <a:buNone/>
            </a:pPr>
            <a:r>
              <a:rPr lang="en-US" sz="1100" b="1" dirty="0">
                <a:solidFill>
                  <a:srgbClr val="16202F"/>
                </a:solidFill>
                <a:latin typeface="Calibri" pitchFamily="34" charset="0"/>
                <a:ea typeface="Calibri" pitchFamily="34" charset="-122"/>
                <a:cs typeface="Calibri" pitchFamily="34" charset="-120"/>
              </a:rPr>
              <a:t>+$28,992</a:t>
            </a:r>
            <a:endParaRPr lang="en-US" sz="1100" dirty="0"/>
          </a:p>
        </p:txBody>
      </p:sp>
      <p:sp>
        <p:nvSpPr>
          <p:cNvPr id="24" name="Text 22"/>
          <p:cNvSpPr txBox="1"/>
          <p:nvPr/>
        </p:nvSpPr>
        <p:spPr>
          <a:xfrm>
            <a:off x="640080" y="32644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Carry: DTE floor (37)</a:t>
            </a:r>
            <a:endParaRPr lang="en-US" sz="1050" dirty="0"/>
          </a:p>
        </p:txBody>
      </p:sp>
      <p:sp>
        <p:nvSpPr>
          <p:cNvPr id="25" name="Shape 23"/>
          <p:cNvSpPr/>
          <p:nvPr/>
        </p:nvSpPr>
        <p:spPr>
          <a:xfrm>
            <a:off x="3337560" y="3291840"/>
            <a:ext cx="231729" cy="265176"/>
          </a:xfrm>
          <a:prstGeom prst="rect">
            <a:avLst/>
          </a:prstGeom>
          <a:solidFill>
            <a:srgbClr val="2FBF71"/>
          </a:solidFill>
          <a:ln/>
        </p:spPr>
      </p:sp>
      <p:sp>
        <p:nvSpPr>
          <p:cNvPr id="26" name="Text 24"/>
          <p:cNvSpPr txBox="1"/>
          <p:nvPr/>
        </p:nvSpPr>
        <p:spPr>
          <a:xfrm>
            <a:off x="3679017" y="3264408"/>
            <a:ext cx="1280160" cy="320040"/>
          </a:xfrm>
          <a:prstGeom prst="rect">
            <a:avLst/>
          </a:prstGeom>
          <a:noFill/>
          <a:ln/>
        </p:spPr>
        <p:txBody>
          <a:bodyPr wrap="square" lIns="0" tIns="0" rIns="0" bIns="0" rtlCol="0" anchor="ctr"/>
          <a:lstStyle/>
          <a:p>
            <a:pPr indent="0" marL="0">
              <a:buNone/>
            </a:pPr>
            <a:r>
              <a:rPr lang="en-US" sz="1100" b="1" dirty="0">
                <a:solidFill>
                  <a:srgbClr val="16202F"/>
                </a:solidFill>
                <a:latin typeface="Calibri" pitchFamily="34" charset="0"/>
                <a:ea typeface="Calibri" pitchFamily="34" charset="-122"/>
                <a:cs typeface="Calibri" pitchFamily="34" charset="-120"/>
              </a:rPr>
              <a:t>+$2,166</a:t>
            </a:r>
            <a:endParaRPr lang="en-US" sz="1100" dirty="0"/>
          </a:p>
        </p:txBody>
      </p:sp>
      <p:sp>
        <p:nvSpPr>
          <p:cNvPr id="27" name="Text 25"/>
          <p:cNvSpPr txBox="1"/>
          <p:nvPr/>
        </p:nvSpPr>
        <p:spPr>
          <a:xfrm>
            <a:off x="640080" y="37216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Carry: short strike touched (94)</a:t>
            </a:r>
            <a:endParaRPr lang="en-US" sz="1050" dirty="0"/>
          </a:p>
        </p:txBody>
      </p:sp>
      <p:sp>
        <p:nvSpPr>
          <p:cNvPr id="28" name="Shape 26"/>
          <p:cNvSpPr/>
          <p:nvPr/>
        </p:nvSpPr>
        <p:spPr>
          <a:xfrm>
            <a:off x="3337560" y="3749040"/>
            <a:ext cx="1247550" cy="265176"/>
          </a:xfrm>
          <a:prstGeom prst="rect">
            <a:avLst/>
          </a:prstGeom>
          <a:solidFill>
            <a:srgbClr val="E5484D"/>
          </a:solidFill>
          <a:ln/>
        </p:spPr>
      </p:sp>
      <p:sp>
        <p:nvSpPr>
          <p:cNvPr id="29" name="Text 27"/>
          <p:cNvSpPr txBox="1"/>
          <p:nvPr/>
        </p:nvSpPr>
        <p:spPr>
          <a:xfrm>
            <a:off x="4694838" y="3721608"/>
            <a:ext cx="1280160" cy="32004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−$11,661</a:t>
            </a:r>
            <a:endParaRPr lang="en-US" sz="1100" dirty="0"/>
          </a:p>
        </p:txBody>
      </p:sp>
      <p:sp>
        <p:nvSpPr>
          <p:cNvPr id="30" name="Text 28"/>
          <p:cNvSpPr txBox="1"/>
          <p:nvPr/>
        </p:nvSpPr>
        <p:spPr>
          <a:xfrm>
            <a:off x="640080" y="41788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Intraday: target 10% (75)</a:t>
            </a:r>
            <a:endParaRPr lang="en-US" sz="1050" dirty="0"/>
          </a:p>
        </p:txBody>
      </p:sp>
      <p:sp>
        <p:nvSpPr>
          <p:cNvPr id="31" name="Shape 29"/>
          <p:cNvSpPr/>
          <p:nvPr/>
        </p:nvSpPr>
        <p:spPr>
          <a:xfrm>
            <a:off x="3337560" y="4206240"/>
            <a:ext cx="1116493" cy="265176"/>
          </a:xfrm>
          <a:prstGeom prst="rect">
            <a:avLst/>
          </a:prstGeom>
          <a:solidFill>
            <a:srgbClr val="2FBF71"/>
          </a:solidFill>
          <a:ln/>
        </p:spPr>
      </p:sp>
      <p:sp>
        <p:nvSpPr>
          <p:cNvPr id="32" name="Text 30"/>
          <p:cNvSpPr txBox="1"/>
          <p:nvPr/>
        </p:nvSpPr>
        <p:spPr>
          <a:xfrm>
            <a:off x="4563781" y="4178808"/>
            <a:ext cx="1280160" cy="320040"/>
          </a:xfrm>
          <a:prstGeom prst="rect">
            <a:avLst/>
          </a:prstGeom>
          <a:noFill/>
          <a:ln/>
        </p:spPr>
        <p:txBody>
          <a:bodyPr wrap="square" lIns="0" tIns="0" rIns="0" bIns="0" rtlCol="0" anchor="ctr"/>
          <a:lstStyle/>
          <a:p>
            <a:pPr indent="0" marL="0">
              <a:buNone/>
            </a:pPr>
            <a:r>
              <a:rPr lang="en-US" sz="1100" b="1" dirty="0">
                <a:solidFill>
                  <a:srgbClr val="16202F"/>
                </a:solidFill>
                <a:latin typeface="Calibri" pitchFamily="34" charset="0"/>
                <a:ea typeface="Calibri" pitchFamily="34" charset="-122"/>
                <a:cs typeface="Calibri" pitchFamily="34" charset="-120"/>
              </a:rPr>
              <a:t>+$10,436</a:t>
            </a:r>
            <a:endParaRPr lang="en-US" sz="1100" dirty="0"/>
          </a:p>
        </p:txBody>
      </p:sp>
      <p:sp>
        <p:nvSpPr>
          <p:cNvPr id="33" name="Text 31"/>
          <p:cNvSpPr txBox="1"/>
          <p:nvPr/>
        </p:nvSpPr>
        <p:spPr>
          <a:xfrm>
            <a:off x="640080" y="46360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Intraday: time stop (70)</a:t>
            </a:r>
            <a:endParaRPr lang="en-US" sz="1050" dirty="0"/>
          </a:p>
        </p:txBody>
      </p:sp>
      <p:sp>
        <p:nvSpPr>
          <p:cNvPr id="34" name="Shape 32"/>
          <p:cNvSpPr/>
          <p:nvPr/>
        </p:nvSpPr>
        <p:spPr>
          <a:xfrm>
            <a:off x="3337560" y="4663440"/>
            <a:ext cx="131698" cy="265176"/>
          </a:xfrm>
          <a:prstGeom prst="rect">
            <a:avLst/>
          </a:prstGeom>
          <a:solidFill>
            <a:srgbClr val="E5484D"/>
          </a:solidFill>
          <a:ln/>
        </p:spPr>
      </p:sp>
      <p:sp>
        <p:nvSpPr>
          <p:cNvPr id="35" name="Text 33"/>
          <p:cNvSpPr txBox="1"/>
          <p:nvPr/>
        </p:nvSpPr>
        <p:spPr>
          <a:xfrm>
            <a:off x="3578986" y="4636008"/>
            <a:ext cx="1280160" cy="32004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−$1,231</a:t>
            </a:r>
            <a:endParaRPr lang="en-US" sz="1100" dirty="0"/>
          </a:p>
        </p:txBody>
      </p:sp>
      <p:sp>
        <p:nvSpPr>
          <p:cNvPr id="36" name="Text 34"/>
          <p:cNvSpPr txBox="1"/>
          <p:nvPr/>
        </p:nvSpPr>
        <p:spPr>
          <a:xfrm>
            <a:off x="640080" y="50932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Intraday: VWAP re-cross (55)</a:t>
            </a:r>
            <a:endParaRPr lang="en-US" sz="1050" dirty="0"/>
          </a:p>
        </p:txBody>
      </p:sp>
      <p:sp>
        <p:nvSpPr>
          <p:cNvPr id="37" name="Shape 35"/>
          <p:cNvSpPr/>
          <p:nvPr/>
        </p:nvSpPr>
        <p:spPr>
          <a:xfrm>
            <a:off x="3337560" y="5120640"/>
            <a:ext cx="398518" cy="265176"/>
          </a:xfrm>
          <a:prstGeom prst="rect">
            <a:avLst/>
          </a:prstGeom>
          <a:solidFill>
            <a:srgbClr val="E5484D"/>
          </a:solidFill>
          <a:ln/>
        </p:spPr>
      </p:sp>
      <p:sp>
        <p:nvSpPr>
          <p:cNvPr id="38" name="Text 36"/>
          <p:cNvSpPr txBox="1"/>
          <p:nvPr/>
        </p:nvSpPr>
        <p:spPr>
          <a:xfrm>
            <a:off x="3845806" y="5093208"/>
            <a:ext cx="1280160" cy="32004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−$3,725</a:t>
            </a:r>
            <a:endParaRPr lang="en-US" sz="1100" dirty="0"/>
          </a:p>
        </p:txBody>
      </p:sp>
      <p:sp>
        <p:nvSpPr>
          <p:cNvPr id="39" name="Text 37"/>
          <p:cNvSpPr txBox="1"/>
          <p:nvPr/>
        </p:nvSpPr>
        <p:spPr>
          <a:xfrm>
            <a:off x="640080" y="5550408"/>
            <a:ext cx="2560320" cy="320040"/>
          </a:xfrm>
          <a:prstGeom prst="rect">
            <a:avLst/>
          </a:prstGeom>
          <a:noFill/>
          <a:ln/>
        </p:spPr>
        <p:txBody>
          <a:bodyPr wrap="square" lIns="0" tIns="0" rIns="0" bIns="0" rtlCol="0" anchor="ctr"/>
          <a:lstStyle/>
          <a:p>
            <a:pPr algn="r" indent="0" marL="0">
              <a:buNone/>
            </a:pPr>
            <a:r>
              <a:rPr lang="en-US" sz="1050" dirty="0">
                <a:solidFill>
                  <a:srgbClr val="16202F"/>
                </a:solidFill>
                <a:latin typeface="Calibri" pitchFamily="34" charset="0"/>
                <a:ea typeface="Calibri" pitchFamily="34" charset="-122"/>
                <a:cs typeface="Calibri" pitchFamily="34" charset="-120"/>
              </a:rPr>
              <a:t>Intraday: stop 15% (43)</a:t>
            </a:r>
            <a:endParaRPr lang="en-US" sz="1050" dirty="0"/>
          </a:p>
        </p:txBody>
      </p:sp>
      <p:sp>
        <p:nvSpPr>
          <p:cNvPr id="40" name="Shape 38"/>
          <p:cNvSpPr/>
          <p:nvPr/>
        </p:nvSpPr>
        <p:spPr>
          <a:xfrm>
            <a:off x="3337560" y="5577840"/>
            <a:ext cx="1123019" cy="265176"/>
          </a:xfrm>
          <a:prstGeom prst="rect">
            <a:avLst/>
          </a:prstGeom>
          <a:solidFill>
            <a:srgbClr val="E5484D"/>
          </a:solidFill>
          <a:ln/>
        </p:spPr>
      </p:sp>
      <p:sp>
        <p:nvSpPr>
          <p:cNvPr id="41" name="Text 39"/>
          <p:cNvSpPr txBox="1"/>
          <p:nvPr/>
        </p:nvSpPr>
        <p:spPr>
          <a:xfrm>
            <a:off x="4570307" y="5550408"/>
            <a:ext cx="1280160" cy="32004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−$10,497</a:t>
            </a:r>
            <a:endParaRPr lang="en-US" sz="1100" dirty="0"/>
          </a:p>
        </p:txBody>
      </p:sp>
      <p:sp>
        <p:nvSpPr>
          <p:cNvPr id="42" name="Shape 40"/>
          <p:cNvSpPr/>
          <p:nvPr/>
        </p:nvSpPr>
        <p:spPr>
          <a:xfrm>
            <a:off x="8138160" y="2788920"/>
            <a:ext cx="3383280" cy="1600200"/>
          </a:xfrm>
          <a:prstGeom prst="roundRect">
            <a:avLst>
              <a:gd name="adj" fmla="val 3429"/>
            </a:avLst>
          </a:prstGeom>
          <a:solidFill>
            <a:srgbClr val="F1F4F9"/>
          </a:solidFill>
          <a:ln w="12700">
            <a:solidFill>
              <a:srgbClr val="F1F4F9"/>
            </a:solidFill>
            <a:prstDash val="solid"/>
          </a:ln>
        </p:spPr>
      </p:sp>
      <p:sp>
        <p:nvSpPr>
          <p:cNvPr id="43" name="Text 41"/>
          <p:cNvSpPr txBox="1"/>
          <p:nvPr/>
        </p:nvSpPr>
        <p:spPr>
          <a:xfrm>
            <a:off x="8321040" y="2926080"/>
            <a:ext cx="3017520" cy="237744"/>
          </a:xfrm>
          <a:prstGeom prst="rect">
            <a:avLst/>
          </a:prstGeom>
          <a:noFill/>
          <a:ln/>
        </p:spPr>
        <p:txBody>
          <a:bodyPr wrap="square" lIns="0" tIns="0" rIns="0" bIns="0" rtlCol="0" anchor="ctr"/>
          <a:lstStyle/>
          <a:p>
            <a:pPr indent="0" marL="0">
              <a:buNone/>
            </a:pPr>
            <a:r>
              <a:rPr lang="en-US" sz="1150" b="1" dirty="0">
                <a:solidFill>
                  <a:srgbClr val="2FBF71"/>
                </a:solidFill>
                <a:latin typeface="Calibri" pitchFamily="34" charset="0"/>
                <a:ea typeface="Calibri" pitchFamily="34" charset="-122"/>
                <a:cs typeface="Calibri" pitchFamily="34" charset="-120"/>
              </a:rPr>
              <a:t>vol_carry</a:t>
            </a:r>
            <a:endParaRPr lang="en-US" sz="1150" dirty="0"/>
          </a:p>
        </p:txBody>
      </p:sp>
      <p:sp>
        <p:nvSpPr>
          <p:cNvPr id="44" name="Text 42"/>
          <p:cNvSpPr txBox="1"/>
          <p:nvPr/>
        </p:nvSpPr>
        <p:spPr>
          <a:xfrm>
            <a:off x="8321040" y="3145536"/>
            <a:ext cx="3017520" cy="292608"/>
          </a:xfrm>
          <a:prstGeom prst="rect">
            <a:avLst/>
          </a:prstGeom>
          <a:noFill/>
          <a:ln/>
        </p:spPr>
        <p:txBody>
          <a:bodyPr wrap="square" lIns="0" tIns="0" rIns="0" bIns="0" rtlCol="0" anchor="ctr"/>
          <a:lstStyle/>
          <a:p>
            <a:pPr indent="0" marL="0">
              <a:lnSpc>
                <a:spcPts val="1200"/>
              </a:lnSpc>
              <a:buNone/>
            </a:pPr>
            <a:r>
              <a:rPr lang="en-US" sz="1000" dirty="0">
                <a:solidFill>
                  <a:srgbClr val="5A6779"/>
                </a:solidFill>
                <a:latin typeface="Calibri" pitchFamily="34" charset="0"/>
                <a:ea typeface="Calibri" pitchFamily="34" charset="-122"/>
                <a:cs typeface="Calibri" pitchFamily="34" charset="-120"/>
              </a:rPr>
              <a:t>198 trades · 54% win · +$18,782</a:t>
            </a:r>
            <a:endParaRPr lang="en-US" sz="1000" dirty="0"/>
          </a:p>
        </p:txBody>
      </p:sp>
      <p:sp>
        <p:nvSpPr>
          <p:cNvPr id="45" name="Text 43"/>
          <p:cNvSpPr txBox="1"/>
          <p:nvPr/>
        </p:nvSpPr>
        <p:spPr>
          <a:xfrm>
            <a:off x="8321040" y="3429000"/>
            <a:ext cx="3017520" cy="237744"/>
          </a:xfrm>
          <a:prstGeom prst="rect">
            <a:avLst/>
          </a:prstGeom>
          <a:noFill/>
          <a:ln/>
        </p:spPr>
        <p:txBody>
          <a:bodyPr wrap="square" lIns="0" tIns="0" rIns="0" bIns="0" rtlCol="0" anchor="ctr"/>
          <a:lstStyle/>
          <a:p>
            <a:pPr indent="0" marL="0">
              <a:buNone/>
            </a:pPr>
            <a:r>
              <a:rPr lang="en-US" sz="1150" b="1" dirty="0">
                <a:solidFill>
                  <a:srgbClr val="E5484D"/>
                </a:solidFill>
                <a:latin typeface="Calibri" pitchFamily="34" charset="0"/>
                <a:ea typeface="Calibri" pitchFamily="34" charset="-122"/>
                <a:cs typeface="Calibri" pitchFamily="34" charset="-120"/>
              </a:rPr>
              <a:t>intraday_momentum</a:t>
            </a:r>
            <a:endParaRPr lang="en-US" sz="1150" dirty="0"/>
          </a:p>
        </p:txBody>
      </p:sp>
      <p:sp>
        <p:nvSpPr>
          <p:cNvPr id="46" name="Text 44"/>
          <p:cNvSpPr txBox="1"/>
          <p:nvPr/>
        </p:nvSpPr>
        <p:spPr>
          <a:xfrm>
            <a:off x="8321040" y="3648456"/>
            <a:ext cx="3017520" cy="292608"/>
          </a:xfrm>
          <a:prstGeom prst="rect">
            <a:avLst/>
          </a:prstGeom>
          <a:noFill/>
          <a:ln/>
        </p:spPr>
        <p:txBody>
          <a:bodyPr wrap="square" lIns="0" tIns="0" rIns="0" bIns="0" rtlCol="0" anchor="ctr"/>
          <a:lstStyle/>
          <a:p>
            <a:pPr indent="0" marL="0">
              <a:lnSpc>
                <a:spcPts val="1200"/>
              </a:lnSpc>
              <a:buNone/>
            </a:pPr>
            <a:r>
              <a:rPr lang="en-US" sz="1000" dirty="0">
                <a:solidFill>
                  <a:srgbClr val="5A6779"/>
                </a:solidFill>
                <a:latin typeface="Calibri" pitchFamily="34" charset="0"/>
                <a:ea typeface="Calibri" pitchFamily="34" charset="-122"/>
                <a:cs typeface="Calibri" pitchFamily="34" charset="-120"/>
              </a:rPr>
              <a:t>243 trades · 40% win · −$5,018</a:t>
            </a:r>
            <a:endParaRPr lang="en-US" sz="1000" dirty="0"/>
          </a:p>
        </p:txBody>
      </p:sp>
      <p:sp>
        <p:nvSpPr>
          <p:cNvPr id="47" name="Text 45"/>
          <p:cNvSpPr txBox="1"/>
          <p:nvPr/>
        </p:nvSpPr>
        <p:spPr>
          <a:xfrm>
            <a:off x="8321040" y="3931920"/>
            <a:ext cx="3017520" cy="237744"/>
          </a:xfrm>
          <a:prstGeom prst="rect">
            <a:avLst/>
          </a:prstGeom>
          <a:noFill/>
          <a:ln/>
        </p:spPr>
        <p:txBody>
          <a:bodyPr wrap="square" lIns="0" tIns="0" rIns="0" bIns="0" rtlCol="0" anchor="ctr"/>
          <a:lstStyle/>
          <a:p>
            <a:pPr indent="0" marL="0">
              <a:buNone/>
            </a:pPr>
            <a:r>
              <a:rPr lang="en-US" sz="1150" b="1" dirty="0">
                <a:solidFill>
                  <a:srgbClr val="8B5CF6"/>
                </a:solidFill>
                <a:latin typeface="Calibri" pitchFamily="34" charset="0"/>
                <a:ea typeface="Calibri" pitchFamily="34" charset="-122"/>
                <a:cs typeface="Calibri" pitchFamily="34" charset="-120"/>
              </a:rPr>
              <a:t>earnings_event_directional</a:t>
            </a:r>
            <a:endParaRPr lang="en-US" sz="1150" dirty="0"/>
          </a:p>
        </p:txBody>
      </p:sp>
      <p:sp>
        <p:nvSpPr>
          <p:cNvPr id="48" name="Text 46"/>
          <p:cNvSpPr txBox="1"/>
          <p:nvPr/>
        </p:nvSpPr>
        <p:spPr>
          <a:xfrm>
            <a:off x="8321040" y="4151376"/>
            <a:ext cx="3017520" cy="292608"/>
          </a:xfrm>
          <a:prstGeom prst="rect">
            <a:avLst/>
          </a:prstGeom>
          <a:noFill/>
          <a:ln/>
        </p:spPr>
        <p:txBody>
          <a:bodyPr wrap="square" lIns="0" tIns="0" rIns="0" bIns="0" rtlCol="0" anchor="ctr"/>
          <a:lstStyle/>
          <a:p>
            <a:pPr indent="0" marL="0">
              <a:lnSpc>
                <a:spcPts val="1200"/>
              </a:lnSpc>
              <a:buNone/>
            </a:pPr>
            <a:r>
              <a:rPr lang="en-US" sz="1000" dirty="0">
                <a:solidFill>
                  <a:srgbClr val="5A6779"/>
                </a:solidFill>
                <a:latin typeface="Calibri" pitchFamily="34" charset="0"/>
                <a:ea typeface="Calibri" pitchFamily="34" charset="-122"/>
                <a:cs typeface="Calibri" pitchFamily="34" charset="-120"/>
              </a:rPr>
              <a:t>no usable backtest — four prints per name is not a sample</a:t>
            </a:r>
            <a:endParaRPr lang="en-US" sz="1000" dirty="0"/>
          </a:p>
        </p:txBody>
      </p:sp>
      <p:sp>
        <p:nvSpPr>
          <p:cNvPr id="49" name="Shape 47"/>
          <p:cNvSpPr/>
          <p:nvPr/>
        </p:nvSpPr>
        <p:spPr>
          <a:xfrm>
            <a:off x="8138160" y="4526280"/>
            <a:ext cx="3383280" cy="1920240"/>
          </a:xfrm>
          <a:prstGeom prst="roundRect">
            <a:avLst>
              <a:gd name="adj" fmla="val 2857"/>
            </a:avLst>
          </a:prstGeom>
          <a:solidFill>
            <a:srgbClr val="0F1A2E"/>
          </a:solidFill>
          <a:ln w="12700">
            <a:solidFill>
              <a:srgbClr val="0F1A2E"/>
            </a:solidFill>
            <a:prstDash val="solid"/>
          </a:ln>
        </p:spPr>
      </p:sp>
      <p:sp>
        <p:nvSpPr>
          <p:cNvPr id="50" name="Text 48"/>
          <p:cNvSpPr txBox="1"/>
          <p:nvPr/>
        </p:nvSpPr>
        <p:spPr>
          <a:xfrm>
            <a:off x="8321040" y="4681728"/>
            <a:ext cx="3017520" cy="292608"/>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Read the spread first</a:t>
            </a:r>
            <a:endParaRPr lang="en-US" sz="1500" dirty="0"/>
          </a:p>
        </p:txBody>
      </p:sp>
      <p:sp>
        <p:nvSpPr>
          <p:cNvPr id="51" name="Text 49"/>
          <p:cNvSpPr txBox="1"/>
          <p:nvPr/>
        </p:nvSpPr>
        <p:spPr>
          <a:xfrm>
            <a:off x="8321040" y="5029200"/>
            <a:ext cx="3017520" cy="1325880"/>
          </a:xfrm>
          <a:prstGeom prst="rect">
            <a:avLst/>
          </a:prstGeom>
          <a:noFill/>
          <a:ln/>
        </p:spPr>
        <p:txBody>
          <a:bodyPr wrap="square" lIns="0" tIns="0" rIns="0" bIns="0" rtlCol="0" anchor="ctr"/>
          <a:lstStyle/>
          <a:p>
            <a:pPr indent="0" marL="0">
              <a:lnSpc>
                <a:spcPts val="1400"/>
              </a:lnSpc>
              <a:buNone/>
            </a:pPr>
            <a:r>
              <a:rPr lang="en-US" sz="1100" dirty="0">
                <a:solidFill>
                  <a:srgbClr val="CADCFC"/>
                </a:solidFill>
                <a:latin typeface="Calibri" pitchFamily="34" charset="0"/>
                <a:ea typeface="Calibri" pitchFamily="34" charset="-122"/>
                <a:cs typeface="Calibri" pitchFamily="34" charset="-120"/>
              </a:rPr>
              <a:t>Gross P&amp;L was $13,973 and the spread cost $12,990. The book paid out roughly its own gross profit in execution cost — which is why a cost gate sits in front of every trade and the spread is charged inside the fills rather than added beside them.</a:t>
            </a:r>
            <a:endParaRPr lang="en-US" sz="1100" dirty="0"/>
          </a:p>
        </p:txBody>
      </p:sp>
      <p:sp>
        <p:nvSpPr>
          <p:cNvPr id="52" name="Text 50"/>
          <p:cNvSpPr txBox="1"/>
          <p:nvPr/>
        </p:nvSpPr>
        <p:spPr>
          <a:xfrm>
            <a:off x="640080" y="5989320"/>
            <a:ext cx="7315200" cy="411480"/>
          </a:xfrm>
          <a:prstGeom prst="rect">
            <a:avLst/>
          </a:prstGeom>
          <a:noFill/>
          <a:ln/>
        </p:spPr>
        <p:txBody>
          <a:bodyPr wrap="square" lIns="0" tIns="0" rIns="0" bIns="0" rtlCol="0" anchor="ctr"/>
          <a:lstStyle/>
          <a:p>
            <a:pPr indent="0" marL="0">
              <a:buNone/>
            </a:pPr>
            <a:r>
              <a:rPr lang="en-US" sz="1050" i="1" dirty="0">
                <a:solidFill>
                  <a:srgbClr val="5A6779"/>
                </a:solidFill>
                <a:latin typeface="Calibri" pitchFamily="34" charset="0"/>
                <a:ea typeface="Calibri" pitchFamily="34" charset="-122"/>
                <a:cs typeface="Calibri" pitchFamily="34" charset="-120"/>
              </a:rPr>
              <a:t>Carry-only, Jan–Aug 2026: +$14,366 · Sharpe 2.48 · 216 trades · 3.98-day average hold. Short-strike touches are the carry book's cost of doing business; the intraday stop is wider than its target on purpose, and it shows.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10881360" y="-1371600"/>
            <a:ext cx="4023360" cy="4023360"/>
          </a:xfrm>
          <a:prstGeom prst="ellipse">
            <a:avLst/>
          </a:prstGeom>
          <a:solidFill>
            <a:srgbClr val="1B2A45"/>
          </a:solidFill>
          <a:ln/>
        </p:spPr>
      </p:sp>
      <p:sp>
        <p:nvSpPr>
          <p:cNvPr id="3" name="Text 1"/>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E8A33D"/>
                </a:solidFill>
                <a:latin typeface="Calibri" pitchFamily="34" charset="0"/>
                <a:ea typeface="Calibri" pitchFamily="34" charset="-122"/>
                <a:cs typeface="Calibri" pitchFamily="34" charset="-120"/>
              </a:rPr>
              <a:t>HONESTY, AND THE ARGUMENT</a:t>
            </a:r>
            <a:endParaRPr lang="en-US" sz="1150" dirty="0"/>
          </a:p>
        </p:txBody>
      </p:sp>
      <p:sp>
        <p:nvSpPr>
          <p:cNvPr id="4" name="Text 2"/>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know is wrong with it</a:t>
            </a:r>
            <a:endParaRPr lang="en-US" sz="3400" dirty="0"/>
          </a:p>
        </p:txBody>
      </p:sp>
      <p:sp>
        <p:nvSpPr>
          <p:cNvPr id="5" name="Text 3"/>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Every one of these is measured and in the repo. A deck that only lists strengths is a deck that has not been tested.</a:t>
            </a:r>
            <a:endParaRPr lang="en-US" sz="1450" dirty="0"/>
          </a:p>
        </p:txBody>
      </p:sp>
      <p:sp>
        <p:nvSpPr>
          <p:cNvPr id="6" name="Shape 4"/>
          <p:cNvSpPr/>
          <p:nvPr/>
        </p:nvSpPr>
        <p:spPr>
          <a:xfrm>
            <a:off x="640080" y="1783080"/>
            <a:ext cx="2606040" cy="2011680"/>
          </a:xfrm>
          <a:prstGeom prst="roundRect">
            <a:avLst>
              <a:gd name="adj" fmla="val 2727"/>
            </a:avLst>
          </a:prstGeom>
          <a:solidFill>
            <a:srgbClr val="1B2A45"/>
          </a:solidFill>
          <a:ln w="12700">
            <a:solidFill>
              <a:srgbClr val="1B2A45"/>
            </a:solidFill>
            <a:prstDash val="solid"/>
          </a:ln>
        </p:spPr>
      </p:sp>
      <p:sp>
        <p:nvSpPr>
          <p:cNvPr id="7" name="Text 5"/>
          <p:cNvSpPr txBox="1"/>
          <p:nvPr/>
        </p:nvSpPr>
        <p:spPr>
          <a:xfrm>
            <a:off x="841248" y="1965960"/>
            <a:ext cx="2194560" cy="548640"/>
          </a:xfrm>
          <a:prstGeom prst="rect">
            <a:avLst/>
          </a:prstGeom>
          <a:noFill/>
          <a:ln/>
        </p:spPr>
        <p:txBody>
          <a:bodyPr wrap="square" lIns="0" tIns="0" rIns="0" bIns="0" rtlCol="0" anchor="b"/>
          <a:lstStyle/>
          <a:p>
            <a:pPr indent="0" marL="0">
              <a:lnSpc>
                <a:spcPts val="1600"/>
              </a:lnSpc>
              <a:buNone/>
            </a:pPr>
            <a:r>
              <a:rPr lang="en-US" sz="1300" b="1" dirty="0">
                <a:solidFill>
                  <a:srgbClr val="E8A33D"/>
                </a:solidFill>
                <a:latin typeface="Cambria" pitchFamily="34" charset="0"/>
                <a:ea typeface="Cambria" pitchFamily="34" charset="-122"/>
                <a:cs typeface="Cambria" pitchFamily="34" charset="-120"/>
              </a:rPr>
              <a:t>Exit code is not shared</a:t>
            </a:r>
            <a:endParaRPr lang="en-US" sz="1300" dirty="0"/>
          </a:p>
        </p:txBody>
      </p:sp>
      <p:sp>
        <p:nvSpPr>
          <p:cNvPr id="8" name="Text 6"/>
          <p:cNvSpPr txBox="1"/>
          <p:nvPr/>
        </p:nvSpPr>
        <p:spPr>
          <a:xfrm>
            <a:off x="841248" y="2578608"/>
            <a:ext cx="2194560" cy="1097280"/>
          </a:xfrm>
          <a:prstGeom prst="rect">
            <a:avLst/>
          </a:prstGeom>
          <a:noFill/>
          <a:ln/>
        </p:spPr>
        <p:txBody>
          <a:bodyPr wrap="square" lIns="0" tIns="0" rIns="0" bIns="0"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Entry is the same objects live and in replay. Exit is reimplemented in the backtest engine, and nothing asserts the two agree.</a:t>
            </a:r>
            <a:endParaRPr lang="en-US" sz="1050" dirty="0"/>
          </a:p>
        </p:txBody>
      </p:sp>
      <p:sp>
        <p:nvSpPr>
          <p:cNvPr id="9" name="Shape 7"/>
          <p:cNvSpPr/>
          <p:nvPr/>
        </p:nvSpPr>
        <p:spPr>
          <a:xfrm>
            <a:off x="3401568" y="1783080"/>
            <a:ext cx="2606040" cy="2011680"/>
          </a:xfrm>
          <a:prstGeom prst="roundRect">
            <a:avLst>
              <a:gd name="adj" fmla="val 2727"/>
            </a:avLst>
          </a:prstGeom>
          <a:solidFill>
            <a:srgbClr val="1B2A45"/>
          </a:solidFill>
          <a:ln w="12700">
            <a:solidFill>
              <a:srgbClr val="1B2A45"/>
            </a:solidFill>
            <a:prstDash val="solid"/>
          </a:ln>
        </p:spPr>
      </p:sp>
      <p:sp>
        <p:nvSpPr>
          <p:cNvPr id="10" name="Text 8"/>
          <p:cNvSpPr txBox="1"/>
          <p:nvPr/>
        </p:nvSpPr>
        <p:spPr>
          <a:xfrm>
            <a:off x="3602736" y="1965960"/>
            <a:ext cx="2194560" cy="548640"/>
          </a:xfrm>
          <a:prstGeom prst="rect">
            <a:avLst/>
          </a:prstGeom>
          <a:noFill/>
          <a:ln/>
        </p:spPr>
        <p:txBody>
          <a:bodyPr wrap="square" lIns="0" tIns="0" rIns="0" bIns="0" rtlCol="0" anchor="b"/>
          <a:lstStyle/>
          <a:p>
            <a:pPr indent="0" marL="0">
              <a:lnSpc>
                <a:spcPts val="1600"/>
              </a:lnSpc>
              <a:buNone/>
            </a:pPr>
            <a:r>
              <a:rPr lang="en-US" sz="1300" b="1" dirty="0">
                <a:solidFill>
                  <a:srgbClr val="E8A33D"/>
                </a:solidFill>
                <a:latin typeface="Cambria" pitchFamily="34" charset="0"/>
                <a:ea typeface="Cambria" pitchFamily="34" charset="-122"/>
                <a:cs typeface="Cambria" pitchFamily="34" charset="-120"/>
              </a:rPr>
              <a:t>Intraday marks are coarse</a:t>
            </a:r>
            <a:endParaRPr lang="en-US" sz="1300" dirty="0"/>
          </a:p>
        </p:txBody>
      </p:sp>
      <p:sp>
        <p:nvSpPr>
          <p:cNvPr id="11" name="Text 9"/>
          <p:cNvSpPr txBox="1"/>
          <p:nvPr/>
        </p:nvSpPr>
        <p:spPr>
          <a:xfrm>
            <a:off x="3602736" y="2578608"/>
            <a:ext cx="2194560" cy="1097280"/>
          </a:xfrm>
          <a:prstGeom prst="rect">
            <a:avLst/>
          </a:prstGeom>
          <a:noFill/>
          <a:ln/>
        </p:spPr>
        <p:txBody>
          <a:bodyPr wrap="square" lIns="0" tIns="0" rIns="0" bIns="0"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Replayed option marks are far coarser than a 20-minute hold, so that book's replay P&amp;L reads for candidate flow, not edge.</a:t>
            </a:r>
            <a:endParaRPr lang="en-US" sz="1050" dirty="0"/>
          </a:p>
        </p:txBody>
      </p:sp>
      <p:sp>
        <p:nvSpPr>
          <p:cNvPr id="12" name="Shape 10"/>
          <p:cNvSpPr/>
          <p:nvPr/>
        </p:nvSpPr>
        <p:spPr>
          <a:xfrm>
            <a:off x="6163056" y="1783080"/>
            <a:ext cx="2606040" cy="2011680"/>
          </a:xfrm>
          <a:prstGeom prst="roundRect">
            <a:avLst>
              <a:gd name="adj" fmla="val 2727"/>
            </a:avLst>
          </a:prstGeom>
          <a:solidFill>
            <a:srgbClr val="1B2A45"/>
          </a:solidFill>
          <a:ln w="12700">
            <a:solidFill>
              <a:srgbClr val="1B2A45"/>
            </a:solidFill>
            <a:prstDash val="solid"/>
          </a:ln>
        </p:spPr>
      </p:sp>
      <p:sp>
        <p:nvSpPr>
          <p:cNvPr id="13" name="Text 11"/>
          <p:cNvSpPr txBox="1"/>
          <p:nvPr/>
        </p:nvSpPr>
        <p:spPr>
          <a:xfrm>
            <a:off x="6364224" y="1965960"/>
            <a:ext cx="2194560" cy="548640"/>
          </a:xfrm>
          <a:prstGeom prst="rect">
            <a:avLst/>
          </a:prstGeom>
          <a:noFill/>
          <a:ln/>
        </p:spPr>
        <p:txBody>
          <a:bodyPr wrap="square" lIns="0" tIns="0" rIns="0" bIns="0" rtlCol="0" anchor="b"/>
          <a:lstStyle/>
          <a:p>
            <a:pPr indent="0" marL="0">
              <a:lnSpc>
                <a:spcPts val="1600"/>
              </a:lnSpc>
              <a:buNone/>
            </a:pPr>
            <a:r>
              <a:rPr lang="en-US" sz="1300" b="1" dirty="0">
                <a:solidFill>
                  <a:srgbClr val="E8A33D"/>
                </a:solidFill>
                <a:latin typeface="Cambria" pitchFamily="34" charset="0"/>
                <a:ea typeface="Cambria" pitchFamily="34" charset="-122"/>
                <a:cs typeface="Cambria" pitchFamily="34" charset="-120"/>
              </a:rPr>
              <a:t>Paper fills flatter</a:t>
            </a:r>
            <a:endParaRPr lang="en-US" sz="1300" dirty="0"/>
          </a:p>
        </p:txBody>
      </p:sp>
      <p:sp>
        <p:nvSpPr>
          <p:cNvPr id="14" name="Text 12"/>
          <p:cNvSpPr txBox="1"/>
          <p:nvPr/>
        </p:nvSpPr>
        <p:spPr>
          <a:xfrm>
            <a:off x="6364224" y="2578608"/>
            <a:ext cx="2194560" cy="1097280"/>
          </a:xfrm>
          <a:prstGeom prst="rect">
            <a:avLst/>
          </a:prstGeom>
          <a:noFill/>
          <a:ln/>
        </p:spPr>
        <p:txBody>
          <a:bodyPr wrap="square" lIns="0" tIns="0" rIns="0" bIns="0"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Mid fills, no queue, no partials — and spread is the primary loss mechanism, which is exactly what paper does not simulate.</a:t>
            </a:r>
            <a:endParaRPr lang="en-US" sz="1050" dirty="0"/>
          </a:p>
        </p:txBody>
      </p:sp>
      <p:sp>
        <p:nvSpPr>
          <p:cNvPr id="15" name="Shape 13"/>
          <p:cNvSpPr/>
          <p:nvPr/>
        </p:nvSpPr>
        <p:spPr>
          <a:xfrm>
            <a:off x="8924544" y="1783080"/>
            <a:ext cx="2606040" cy="2011680"/>
          </a:xfrm>
          <a:prstGeom prst="roundRect">
            <a:avLst>
              <a:gd name="adj" fmla="val 2727"/>
            </a:avLst>
          </a:prstGeom>
          <a:solidFill>
            <a:srgbClr val="1B2A45"/>
          </a:solidFill>
          <a:ln w="12700">
            <a:solidFill>
              <a:srgbClr val="1B2A45"/>
            </a:solidFill>
            <a:prstDash val="solid"/>
          </a:ln>
        </p:spPr>
      </p:sp>
      <p:sp>
        <p:nvSpPr>
          <p:cNvPr id="16" name="Text 14"/>
          <p:cNvSpPr txBox="1"/>
          <p:nvPr/>
        </p:nvSpPr>
        <p:spPr>
          <a:xfrm>
            <a:off x="9125712" y="1965960"/>
            <a:ext cx="2194560" cy="548640"/>
          </a:xfrm>
          <a:prstGeom prst="rect">
            <a:avLst/>
          </a:prstGeom>
          <a:noFill/>
          <a:ln/>
        </p:spPr>
        <p:txBody>
          <a:bodyPr wrap="square" lIns="0" tIns="0" rIns="0" bIns="0" rtlCol="0" anchor="b"/>
          <a:lstStyle/>
          <a:p>
            <a:pPr indent="0" marL="0">
              <a:lnSpc>
                <a:spcPts val="1600"/>
              </a:lnSpc>
              <a:buNone/>
            </a:pPr>
            <a:r>
              <a:rPr lang="en-US" sz="1300" b="1" dirty="0">
                <a:solidFill>
                  <a:srgbClr val="E8A33D"/>
                </a:solidFill>
                <a:latin typeface="Cambria" pitchFamily="34" charset="0"/>
                <a:ea typeface="Cambria" pitchFamily="34" charset="-122"/>
                <a:cs typeface="Cambria" pitchFamily="34" charset="-120"/>
              </a:rPr>
              <a:t>Five sessions is not a sample</a:t>
            </a:r>
            <a:endParaRPr lang="en-US" sz="1300" dirty="0"/>
          </a:p>
        </p:txBody>
      </p:sp>
      <p:sp>
        <p:nvSpPr>
          <p:cNvPr id="17" name="Text 15"/>
          <p:cNvSpPr txBox="1"/>
          <p:nvPr/>
        </p:nvSpPr>
        <p:spPr>
          <a:xfrm>
            <a:off x="9125712" y="2578608"/>
            <a:ext cx="2194560" cy="1097280"/>
          </a:xfrm>
          <a:prstGeom prst="rect">
            <a:avLst/>
          </a:prstGeom>
          <a:noFill/>
          <a:ln/>
        </p:spPr>
        <p:txBody>
          <a:bodyPr wrap="square" lIns="0" tIns="0" rIns="0" bIns="0"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Expect 10–20 trades in the judged window. That cannot separate edge from luck in either direction.</a:t>
            </a:r>
            <a:endParaRPr lang="en-US" sz="1050" dirty="0"/>
          </a:p>
        </p:txBody>
      </p:sp>
      <p:sp>
        <p:nvSpPr>
          <p:cNvPr id="18" name="Text 16"/>
          <p:cNvSpPr txBox="1"/>
          <p:nvPr/>
        </p:nvSpPr>
        <p:spPr>
          <a:xfrm>
            <a:off x="640080" y="4114800"/>
            <a:ext cx="694944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agent's job is to decline.</a:t>
            </a:r>
            <a:endParaRPr lang="en-US" sz="3200" dirty="0"/>
          </a:p>
        </p:txBody>
      </p:sp>
      <p:sp>
        <p:nvSpPr>
          <p:cNvPr id="19" name="Text 17"/>
          <p:cNvSpPr txBox="1"/>
          <p:nvPr/>
        </p:nvSpPr>
        <p:spPr>
          <a:xfrm>
            <a:off x="640080" y="4754880"/>
            <a:ext cx="6675120" cy="82296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8,569 ideas were generated and 441 were taken. The artefact worth reading is not the equity curve — it is the rejection log: every declined trade recorded with the gate that stopped it and the number it measured.</a:t>
            </a:r>
            <a:endParaRPr lang="en-US" sz="1350" dirty="0"/>
          </a:p>
        </p:txBody>
      </p:sp>
      <p:sp>
        <p:nvSpPr>
          <p:cNvPr id="20" name="Text 18"/>
          <p:cNvSpPr txBox="1"/>
          <p:nvPr/>
        </p:nvSpPr>
        <p:spPr>
          <a:xfrm>
            <a:off x="640080" y="5669280"/>
            <a:ext cx="2103120" cy="45720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8,569</a:t>
            </a:r>
            <a:endParaRPr lang="en-US" sz="2600" dirty="0"/>
          </a:p>
        </p:txBody>
      </p:sp>
      <p:sp>
        <p:nvSpPr>
          <p:cNvPr id="21" name="Text 19"/>
          <p:cNvSpPr txBox="1"/>
          <p:nvPr/>
        </p:nvSpPr>
        <p:spPr>
          <a:xfrm>
            <a:off x="640080" y="6144768"/>
            <a:ext cx="2103120" cy="41148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ideas</a:t>
            </a:r>
            <a:endParaRPr lang="en-US" sz="1050" dirty="0"/>
          </a:p>
        </p:txBody>
      </p:sp>
      <p:sp>
        <p:nvSpPr>
          <p:cNvPr id="22" name="Text 20"/>
          <p:cNvSpPr txBox="1"/>
          <p:nvPr/>
        </p:nvSpPr>
        <p:spPr>
          <a:xfrm>
            <a:off x="2926080" y="5669280"/>
            <a:ext cx="2103120" cy="45720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441</a:t>
            </a:r>
            <a:endParaRPr lang="en-US" sz="2600" dirty="0"/>
          </a:p>
        </p:txBody>
      </p:sp>
      <p:sp>
        <p:nvSpPr>
          <p:cNvPr id="23" name="Text 21"/>
          <p:cNvSpPr txBox="1"/>
          <p:nvPr/>
        </p:nvSpPr>
        <p:spPr>
          <a:xfrm>
            <a:off x="2926080" y="6144768"/>
            <a:ext cx="2103120" cy="41148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taken</a:t>
            </a:r>
            <a:endParaRPr lang="en-US" sz="1050" dirty="0"/>
          </a:p>
        </p:txBody>
      </p:sp>
      <p:sp>
        <p:nvSpPr>
          <p:cNvPr id="24" name="Text 22"/>
          <p:cNvSpPr txBox="1"/>
          <p:nvPr/>
        </p:nvSpPr>
        <p:spPr>
          <a:xfrm>
            <a:off x="5212080" y="5669280"/>
            <a:ext cx="2103120" cy="45720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72,753</a:t>
            </a:r>
            <a:endParaRPr lang="en-US" sz="2600" dirty="0"/>
          </a:p>
        </p:txBody>
      </p:sp>
      <p:sp>
        <p:nvSpPr>
          <p:cNvPr id="25" name="Text 23"/>
          <p:cNvSpPr txBox="1"/>
          <p:nvPr/>
        </p:nvSpPr>
        <p:spPr>
          <a:xfrm>
            <a:off x="5212080" y="6144768"/>
            <a:ext cx="2103120" cy="41148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rejections logged with a reason</a:t>
            </a:r>
            <a:endParaRPr lang="en-US" sz="1050" dirty="0"/>
          </a:p>
        </p:txBody>
      </p:sp>
      <p:sp>
        <p:nvSpPr>
          <p:cNvPr id="26" name="Shape 24"/>
          <p:cNvSpPr/>
          <p:nvPr/>
        </p:nvSpPr>
        <p:spPr>
          <a:xfrm>
            <a:off x="7863840" y="4306824"/>
            <a:ext cx="146304" cy="146304"/>
          </a:xfrm>
          <a:prstGeom prst="ellipse">
            <a:avLst/>
          </a:prstGeom>
          <a:solidFill>
            <a:srgbClr val="E8A33D"/>
          </a:solidFill>
          <a:ln/>
        </p:spPr>
      </p:sp>
      <p:sp>
        <p:nvSpPr>
          <p:cNvPr id="27" name="Text 25"/>
          <p:cNvSpPr txBox="1"/>
          <p:nvPr/>
        </p:nvSpPr>
        <p:spPr>
          <a:xfrm>
            <a:off x="8183880" y="4224528"/>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Gates are hard, not scored</a:t>
            </a:r>
            <a:endParaRPr lang="en-US" sz="1400" dirty="0"/>
          </a:p>
        </p:txBody>
      </p:sp>
      <p:sp>
        <p:nvSpPr>
          <p:cNvPr id="28" name="Shape 26"/>
          <p:cNvSpPr/>
          <p:nvPr/>
        </p:nvSpPr>
        <p:spPr>
          <a:xfrm>
            <a:off x="7863840" y="4873752"/>
            <a:ext cx="146304" cy="146304"/>
          </a:xfrm>
          <a:prstGeom prst="ellipse">
            <a:avLst/>
          </a:prstGeom>
          <a:solidFill>
            <a:srgbClr val="E8A33D"/>
          </a:solidFill>
          <a:ln/>
        </p:spPr>
      </p:sp>
      <p:sp>
        <p:nvSpPr>
          <p:cNvPr id="29" name="Text 27"/>
          <p:cNvSpPr txBox="1"/>
          <p:nvPr/>
        </p:nvSpPr>
        <p:spPr>
          <a:xfrm>
            <a:off x="8183880" y="4791456"/>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model can approve</a:t>
            </a:r>
            <a:endParaRPr lang="en-US" sz="1400" dirty="0"/>
          </a:p>
        </p:txBody>
      </p:sp>
      <p:sp>
        <p:nvSpPr>
          <p:cNvPr id="30" name="Shape 28"/>
          <p:cNvSpPr/>
          <p:nvPr/>
        </p:nvSpPr>
        <p:spPr>
          <a:xfrm>
            <a:off x="7863840" y="5440680"/>
            <a:ext cx="146304" cy="146304"/>
          </a:xfrm>
          <a:prstGeom prst="ellipse">
            <a:avLst/>
          </a:prstGeom>
          <a:solidFill>
            <a:srgbClr val="E8A33D"/>
          </a:solidFill>
          <a:ln/>
        </p:spPr>
      </p:sp>
      <p:sp>
        <p:nvSpPr>
          <p:cNvPr id="31" name="Text 29"/>
          <p:cNvSpPr txBox="1"/>
          <p:nvPr/>
        </p:nvSpPr>
        <p:spPr>
          <a:xfrm>
            <a:off x="8183880" y="535838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Every number is defended</a:t>
            </a:r>
            <a:endParaRPr lang="en-US" sz="1400" dirty="0"/>
          </a:p>
        </p:txBody>
      </p:sp>
      <p:sp>
        <p:nvSpPr>
          <p:cNvPr id="32" name="Text 30"/>
          <p:cNvSpPr txBox="1"/>
          <p:nvPr/>
        </p:nvSpPr>
        <p:spPr>
          <a:xfrm>
            <a:off x="8183880" y="5897880"/>
            <a:ext cx="3291840" cy="640080"/>
          </a:xfrm>
          <a:prstGeom prst="rect">
            <a:avLst/>
          </a:prstGeom>
          <a:noFill/>
          <a:ln/>
        </p:spPr>
        <p:txBody>
          <a:bodyPr wrap="square" lIns="0" tIns="0" rIns="0" bIns="0" rtlCol="0" anchor="ctr"/>
          <a:lstStyle/>
          <a:p>
            <a:pPr indent="0" marL="0">
              <a:lnSpc>
                <a:spcPts val="1300"/>
              </a:lnSpc>
              <a:buNone/>
            </a:pPr>
            <a:r>
              <a:rPr lang="en-US" sz="1050" i="1" dirty="0">
                <a:solidFill>
                  <a:srgbClr val="CADCFC"/>
                </a:solidFill>
                <a:latin typeface="Calibri" pitchFamily="34" charset="0"/>
                <a:ea typeface="Calibri" pitchFamily="34" charset="-122"/>
                <a:cs typeface="Calibri" pitchFamily="34" charset="-120"/>
              </a:rPr>
              <a:t>Appendix: a slide per book, every parameter with the measurement behind it, the rejection funnel and the universe rule.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1463040" y="-1645920"/>
            <a:ext cx="5120640" cy="5120640"/>
          </a:xfrm>
          <a:prstGeom prst="ellipse">
            <a:avLst/>
          </a:prstGeom>
          <a:solidFill>
            <a:srgbClr val="1B2A45"/>
          </a:solidFill>
          <a:ln/>
        </p:spPr>
      </p:sp>
      <p:sp>
        <p:nvSpPr>
          <p:cNvPr id="3" name="Text 1"/>
          <p:cNvSpPr txBox="1"/>
          <p:nvPr/>
        </p:nvSpPr>
        <p:spPr>
          <a:xfrm>
            <a:off x="822960" y="2743200"/>
            <a:ext cx="7315200" cy="36576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4" name="Text 2"/>
          <p:cNvSpPr txBox="1"/>
          <p:nvPr/>
        </p:nvSpPr>
        <p:spPr>
          <a:xfrm>
            <a:off x="822960" y="320040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detail, per book</a:t>
            </a:r>
            <a:endParaRPr lang="en-US" sz="4000" dirty="0"/>
          </a:p>
        </p:txBody>
      </p:sp>
      <p:sp>
        <p:nvSpPr>
          <p:cNvPr id="5" name="Text 3"/>
          <p:cNvSpPr txBox="1"/>
          <p:nvPr/>
        </p:nvSpPr>
        <p:spPr>
          <a:xfrm>
            <a:off x="822960" y="4114800"/>
            <a:ext cx="694944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Twelve slides, in the order the questions usually come.</a:t>
            </a:r>
            <a:endParaRPr lang="en-US" sz="1400" dirty="0"/>
          </a:p>
        </p:txBody>
      </p:sp>
      <p:sp>
        <p:nvSpPr>
          <p:cNvPr id="6" name="Text 4"/>
          <p:cNvSpPr txBox="1"/>
          <p:nvPr/>
        </p:nvSpPr>
        <p:spPr>
          <a:xfrm>
            <a:off x="822960" y="4800600"/>
            <a:ext cx="246888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CARRY</a:t>
            </a:r>
            <a:endParaRPr lang="en-US" sz="1100" dirty="0"/>
          </a:p>
        </p:txBody>
      </p:sp>
      <p:sp>
        <p:nvSpPr>
          <p:cNvPr id="7" name="Text 5"/>
          <p:cNvSpPr txBox="1"/>
          <p:nvPr/>
        </p:nvSpPr>
        <p:spPr>
          <a:xfrm>
            <a:off x="822960" y="5138928"/>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four hard gates</a:t>
            </a:r>
            <a:endParaRPr lang="en-US" sz="1100" dirty="0"/>
          </a:p>
        </p:txBody>
      </p:sp>
      <p:sp>
        <p:nvSpPr>
          <p:cNvPr id="8" name="Text 6"/>
          <p:cNvSpPr txBox="1"/>
          <p:nvPr/>
        </p:nvSpPr>
        <p:spPr>
          <a:xfrm>
            <a:off x="822960" y="5486400"/>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Exit arithmetic: 87% vs 75% breakeven</a:t>
            </a:r>
            <a:endParaRPr lang="en-US" sz="1100" dirty="0"/>
          </a:p>
        </p:txBody>
      </p:sp>
      <p:sp>
        <p:nvSpPr>
          <p:cNvPr id="9" name="Text 7"/>
          <p:cNvSpPr txBox="1"/>
          <p:nvPr/>
        </p:nvSpPr>
        <p:spPr>
          <a:xfrm>
            <a:off x="822960" y="5833872"/>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Every parameter, with its measurement</a:t>
            </a:r>
            <a:endParaRPr lang="en-US" sz="1100" dirty="0"/>
          </a:p>
        </p:txBody>
      </p:sp>
      <p:sp>
        <p:nvSpPr>
          <p:cNvPr id="10" name="Text 8"/>
          <p:cNvSpPr txBox="1"/>
          <p:nvPr/>
        </p:nvSpPr>
        <p:spPr>
          <a:xfrm>
            <a:off x="3584448" y="4800600"/>
            <a:ext cx="246888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INTRADAY</a:t>
            </a:r>
            <a:endParaRPr lang="en-US" sz="1100" dirty="0"/>
          </a:p>
        </p:txBody>
      </p:sp>
      <p:sp>
        <p:nvSpPr>
          <p:cNvPr id="11" name="Text 9"/>
          <p:cNvSpPr txBox="1"/>
          <p:nvPr/>
        </p:nvSpPr>
        <p:spPr>
          <a:xfrm>
            <a:off x="3584448" y="5138928"/>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three-question signal stack</a:t>
            </a:r>
            <a:endParaRPr lang="en-US" sz="1100" dirty="0"/>
          </a:p>
        </p:txBody>
      </p:sp>
      <p:sp>
        <p:nvSpPr>
          <p:cNvPr id="12" name="Text 10"/>
          <p:cNvSpPr txBox="1"/>
          <p:nvPr/>
        </p:nvSpPr>
        <p:spPr>
          <a:xfrm>
            <a:off x="3584448" y="5486400"/>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Why 0.7⁸ meant it never fired</a:t>
            </a:r>
            <a:endParaRPr lang="en-US" sz="1100" dirty="0"/>
          </a:p>
        </p:txBody>
      </p:sp>
      <p:sp>
        <p:nvSpPr>
          <p:cNvPr id="13" name="Text 11"/>
          <p:cNvSpPr txBox="1"/>
          <p:nvPr/>
        </p:nvSpPr>
        <p:spPr>
          <a:xfrm>
            <a:off x="3584448" y="5833872"/>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Every parameter, with its measurement</a:t>
            </a:r>
            <a:endParaRPr lang="en-US" sz="1100" dirty="0"/>
          </a:p>
        </p:txBody>
      </p:sp>
      <p:sp>
        <p:nvSpPr>
          <p:cNvPr id="14" name="Text 12"/>
          <p:cNvSpPr txBox="1"/>
          <p:nvPr/>
        </p:nvSpPr>
        <p:spPr>
          <a:xfrm>
            <a:off x="6345936" y="4800600"/>
            <a:ext cx="246888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EVENTS</a:t>
            </a:r>
            <a:endParaRPr lang="en-US" sz="1100" dirty="0"/>
          </a:p>
        </p:txBody>
      </p:sp>
      <p:sp>
        <p:nvSpPr>
          <p:cNvPr id="15" name="Text 13"/>
          <p:cNvSpPr txBox="1"/>
          <p:nvPr/>
        </p:nvSpPr>
        <p:spPr>
          <a:xfrm>
            <a:off x="6345936" y="5138928"/>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date, the screen, the calendar</a:t>
            </a:r>
            <a:endParaRPr lang="en-US" sz="1100" dirty="0"/>
          </a:p>
        </p:txBody>
      </p:sp>
      <p:sp>
        <p:nvSpPr>
          <p:cNvPr id="16" name="Text 14"/>
          <p:cNvSpPr txBox="1"/>
          <p:nvPr/>
        </p:nvSpPr>
        <p:spPr>
          <a:xfrm>
            <a:off x="6345936" y="5486400"/>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watch and the direction call</a:t>
            </a:r>
            <a:endParaRPr lang="en-US" sz="1100" dirty="0"/>
          </a:p>
        </p:txBody>
      </p:sp>
      <p:sp>
        <p:nvSpPr>
          <p:cNvPr id="17" name="Text 15"/>
          <p:cNvSpPr txBox="1"/>
          <p:nvPr/>
        </p:nvSpPr>
        <p:spPr>
          <a:xfrm>
            <a:off x="6345936" y="5833872"/>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divergence rule and the strikes</a:t>
            </a:r>
            <a:endParaRPr lang="en-US" sz="1100" dirty="0"/>
          </a:p>
        </p:txBody>
      </p:sp>
      <p:sp>
        <p:nvSpPr>
          <p:cNvPr id="18" name="Text 16"/>
          <p:cNvSpPr txBox="1"/>
          <p:nvPr/>
        </p:nvSpPr>
        <p:spPr>
          <a:xfrm>
            <a:off x="6345936" y="6181344"/>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Every parameter, with its measurement</a:t>
            </a:r>
            <a:endParaRPr lang="en-US" sz="1100" dirty="0"/>
          </a:p>
        </p:txBody>
      </p:sp>
      <p:sp>
        <p:nvSpPr>
          <p:cNvPr id="19" name="Text 17"/>
          <p:cNvSpPr txBox="1"/>
          <p:nvPr/>
        </p:nvSpPr>
        <p:spPr>
          <a:xfrm>
            <a:off x="9107424" y="4800600"/>
            <a:ext cx="246888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SHARED</a:t>
            </a:r>
            <a:endParaRPr lang="en-US" sz="1100" dirty="0"/>
          </a:p>
        </p:txBody>
      </p:sp>
      <p:sp>
        <p:nvSpPr>
          <p:cNvPr id="20" name="Text 18"/>
          <p:cNvSpPr txBox="1"/>
          <p:nvPr/>
        </p:nvSpPr>
        <p:spPr>
          <a:xfrm>
            <a:off x="9107424" y="5138928"/>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rejection funnel, by gate</a:t>
            </a:r>
            <a:endParaRPr lang="en-US" sz="1100" dirty="0"/>
          </a:p>
        </p:txBody>
      </p:sp>
      <p:sp>
        <p:nvSpPr>
          <p:cNvPr id="21" name="Text 19"/>
          <p:cNvSpPr txBox="1"/>
          <p:nvPr/>
        </p:nvSpPr>
        <p:spPr>
          <a:xfrm>
            <a:off x="9107424" y="5486400"/>
            <a:ext cx="2514600" cy="329184"/>
          </a:xfrm>
          <a:prstGeom prst="rect">
            <a:avLst/>
          </a:prstGeom>
          <a:noFill/>
          <a:ln/>
        </p:spPr>
        <p:txBody>
          <a:bodyPr wrap="square" lIns="0" tIns="0" rIns="0" bIns="0" rtlCol="0" anchor="ctr"/>
          <a:lstStyle/>
          <a:p>
            <a:pPr indent="0" marL="0">
              <a:lnSpc>
                <a:spcPts val="1300"/>
              </a:lnSpc>
              <a:buNone/>
            </a:pPr>
            <a:r>
              <a:rPr lang="en-US" sz="1100" dirty="0">
                <a:solidFill>
                  <a:srgbClr val="CADCFC"/>
                </a:solidFill>
                <a:latin typeface="Calibri" pitchFamily="34" charset="0"/>
                <a:ea typeface="Calibri" pitchFamily="34" charset="-122"/>
                <a:cs typeface="Calibri" pitchFamily="34" charset="-120"/>
              </a:rPr>
              <a:t>The universe rule and what it removed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2FBF71"/>
                </a:solidFill>
                <a:latin typeface="Calibri" pitchFamily="34" charset="0"/>
                <a:ea typeface="Calibri" pitchFamily="34" charset="-122"/>
                <a:cs typeface="Calibri" pitchFamily="34" charset="-120"/>
              </a:rPr>
              <a:t>CARRY BOOK · VOL_CARRY</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Four hard gates, then economics</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Hard gates, not a blended score. A score would let a rich IV reading paper over an earnings date — the one trade this book must never take.</a:t>
            </a:r>
            <a:endParaRPr lang="en-US" sz="1450" dirty="0"/>
          </a:p>
        </p:txBody>
      </p:sp>
      <p:sp>
        <p:nvSpPr>
          <p:cNvPr id="5" name="Shape 3"/>
          <p:cNvSpPr/>
          <p:nvPr/>
        </p:nvSpPr>
        <p:spPr>
          <a:xfrm>
            <a:off x="640080" y="1783080"/>
            <a:ext cx="10881360" cy="932688"/>
          </a:xfrm>
          <a:prstGeom prst="roundRect">
            <a:avLst>
              <a:gd name="adj" fmla="val 5882"/>
            </a:avLst>
          </a:prstGeom>
          <a:solidFill>
            <a:srgbClr val="F1F4F9"/>
          </a:solidFill>
          <a:ln w="12700">
            <a:solidFill>
              <a:srgbClr val="F1F4F9"/>
            </a:solidFill>
            <a:prstDash val="solid"/>
          </a:ln>
        </p:spPr>
      </p:sp>
      <p:sp>
        <p:nvSpPr>
          <p:cNvPr id="6" name="Shape 4"/>
          <p:cNvSpPr/>
          <p:nvPr/>
        </p:nvSpPr>
        <p:spPr>
          <a:xfrm>
            <a:off x="896112" y="2057400"/>
            <a:ext cx="384048" cy="384048"/>
          </a:xfrm>
          <a:prstGeom prst="ellipse">
            <a:avLst/>
          </a:prstGeom>
          <a:solidFill>
            <a:srgbClr val="2FBF71"/>
          </a:solidFill>
          <a:ln/>
        </p:spPr>
      </p:sp>
      <p:sp>
        <p:nvSpPr>
          <p:cNvPr id="7" name="Text 5"/>
          <p:cNvSpPr txBox="1"/>
          <p:nvPr/>
        </p:nvSpPr>
        <p:spPr>
          <a:xfrm>
            <a:off x="896112" y="2057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463040" y="1911096"/>
            <a:ext cx="173736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Premium</a:t>
            </a:r>
            <a:endParaRPr lang="en-US" sz="1600" dirty="0"/>
          </a:p>
        </p:txBody>
      </p:sp>
      <p:sp>
        <p:nvSpPr>
          <p:cNvPr id="9" name="Text 7"/>
          <p:cNvSpPr txBox="1"/>
          <p:nvPr/>
        </p:nvSpPr>
        <p:spPr>
          <a:xfrm>
            <a:off x="1463040" y="2240280"/>
            <a:ext cx="4206240" cy="365760"/>
          </a:xfrm>
          <a:prstGeom prst="rect">
            <a:avLst/>
          </a:prstGeom>
          <a:noFill/>
          <a:ln/>
        </p:spPr>
        <p:txBody>
          <a:bodyPr wrap="square" lIns="0" tIns="0" rIns="0" bIns="0" rtlCol="0" anchor="ctr"/>
          <a:lstStyle/>
          <a:p>
            <a:pPr indent="0" marL="0">
              <a:buNone/>
            </a:pPr>
            <a:r>
              <a:rPr lang="en-US" sz="1200" dirty="0">
                <a:solidFill>
                  <a:srgbClr val="2FBF71"/>
                </a:solidFill>
                <a:latin typeface="Courier New" pitchFamily="34" charset="0"/>
                <a:ea typeface="Courier New" pitchFamily="34" charset="-122"/>
                <a:cs typeface="Courier New" pitchFamily="34" charset="-120"/>
              </a:rPr>
              <a:t>IV rank ≥ 0.35  AND  IV − RV ≥ 3 vol points</a:t>
            </a:r>
            <a:endParaRPr lang="en-US" sz="1200" dirty="0"/>
          </a:p>
        </p:txBody>
      </p:sp>
      <p:sp>
        <p:nvSpPr>
          <p:cNvPr id="10" name="Text 8"/>
          <p:cNvSpPr txBox="1"/>
          <p:nvPr/>
        </p:nvSpPr>
        <p:spPr>
          <a:xfrm>
            <a:off x="5943600" y="1929384"/>
            <a:ext cx="5349240" cy="685800"/>
          </a:xfrm>
          <a:prstGeom prst="rect">
            <a:avLst/>
          </a:prstGeom>
          <a:noFill/>
          <a:ln/>
        </p:spPr>
        <p:txBody>
          <a:bodyPr wrap="square" lIns="0" tIns="0" rIns="0" bIns="0" rtlCol="0" anchor="ctr"/>
          <a:lstStyle/>
          <a:p>
            <a:pPr indent="0" marL="0">
              <a:lnSpc>
                <a:spcPts val="1600"/>
              </a:lnSpc>
              <a:buNone/>
            </a:pPr>
            <a:r>
              <a:rPr lang="en-US" sz="1200" dirty="0">
                <a:solidFill>
                  <a:srgbClr val="5A6779"/>
                </a:solidFill>
                <a:latin typeface="Calibri" pitchFamily="34" charset="0"/>
                <a:ea typeface="Calibri" pitchFamily="34" charset="-122"/>
                <a:cs typeface="Calibri" pitchFamily="34" charset="-120"/>
              </a:rPr>
              <a:t>Rank says vol is high for this name. The spread says you are paid more than it has actually been moving. The spread is the edge; the rank is only a regime filter.</a:t>
            </a:r>
            <a:endParaRPr lang="en-US" sz="1200" dirty="0"/>
          </a:p>
        </p:txBody>
      </p:sp>
      <p:sp>
        <p:nvSpPr>
          <p:cNvPr id="11" name="Shape 9"/>
          <p:cNvSpPr/>
          <p:nvPr/>
        </p:nvSpPr>
        <p:spPr>
          <a:xfrm>
            <a:off x="640080" y="2843784"/>
            <a:ext cx="10881360" cy="932688"/>
          </a:xfrm>
          <a:prstGeom prst="roundRect">
            <a:avLst>
              <a:gd name="adj" fmla="val 5882"/>
            </a:avLst>
          </a:prstGeom>
          <a:solidFill>
            <a:srgbClr val="F1F4F9"/>
          </a:solidFill>
          <a:ln w="12700">
            <a:solidFill>
              <a:srgbClr val="F1F4F9"/>
            </a:solidFill>
            <a:prstDash val="solid"/>
          </a:ln>
        </p:spPr>
      </p:sp>
      <p:sp>
        <p:nvSpPr>
          <p:cNvPr id="12" name="Shape 10"/>
          <p:cNvSpPr/>
          <p:nvPr/>
        </p:nvSpPr>
        <p:spPr>
          <a:xfrm>
            <a:off x="896112" y="3118104"/>
            <a:ext cx="384048" cy="384048"/>
          </a:xfrm>
          <a:prstGeom prst="ellipse">
            <a:avLst/>
          </a:prstGeom>
          <a:solidFill>
            <a:srgbClr val="2FBF71"/>
          </a:solidFill>
          <a:ln/>
        </p:spPr>
      </p:sp>
      <p:sp>
        <p:nvSpPr>
          <p:cNvPr id="13" name="Text 11"/>
          <p:cNvSpPr txBox="1"/>
          <p:nvPr/>
        </p:nvSpPr>
        <p:spPr>
          <a:xfrm>
            <a:off x="896112" y="31181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463040" y="2971800"/>
            <a:ext cx="173736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Trend</a:t>
            </a:r>
            <a:endParaRPr lang="en-US" sz="1600" dirty="0"/>
          </a:p>
        </p:txBody>
      </p:sp>
      <p:sp>
        <p:nvSpPr>
          <p:cNvPr id="15" name="Text 13"/>
          <p:cNvSpPr txBox="1"/>
          <p:nvPr/>
        </p:nvSpPr>
        <p:spPr>
          <a:xfrm>
            <a:off x="1463040" y="3300984"/>
            <a:ext cx="4206240" cy="365760"/>
          </a:xfrm>
          <a:prstGeom prst="rect">
            <a:avLst/>
          </a:prstGeom>
          <a:noFill/>
          <a:ln/>
        </p:spPr>
        <p:txBody>
          <a:bodyPr wrap="square" lIns="0" tIns="0" rIns="0" bIns="0" rtlCol="0" anchor="ctr"/>
          <a:lstStyle/>
          <a:p>
            <a:pPr indent="0" marL="0">
              <a:buNone/>
            </a:pPr>
            <a:r>
              <a:rPr lang="en-US" sz="1200" dirty="0">
                <a:solidFill>
                  <a:srgbClr val="2FBF71"/>
                </a:solidFill>
                <a:latin typeface="Courier New" pitchFamily="34" charset="0"/>
                <a:ea typeface="Courier New" pitchFamily="34" charset="-122"/>
                <a:cs typeface="Courier New" pitchFamily="34" charset="-120"/>
              </a:rPr>
              <a:t>ADX ≤ 25  and  |trend strength| ≤ 0.60</a:t>
            </a:r>
            <a:endParaRPr lang="en-US" sz="1200" dirty="0"/>
          </a:p>
        </p:txBody>
      </p:sp>
      <p:sp>
        <p:nvSpPr>
          <p:cNvPr id="16" name="Text 14"/>
          <p:cNvSpPr txBox="1"/>
          <p:nvPr/>
        </p:nvSpPr>
        <p:spPr>
          <a:xfrm>
            <a:off x="5943600" y="2990088"/>
            <a:ext cx="5349240" cy="685800"/>
          </a:xfrm>
          <a:prstGeom prst="rect">
            <a:avLst/>
          </a:prstGeom>
          <a:noFill/>
          <a:ln/>
        </p:spPr>
        <p:txBody>
          <a:bodyPr wrap="square" lIns="0" tIns="0" rIns="0" bIns="0" rtlCol="0" anchor="ctr"/>
          <a:lstStyle/>
          <a:p>
            <a:pPr indent="0" marL="0">
              <a:lnSpc>
                <a:spcPts val="1600"/>
              </a:lnSpc>
              <a:buNone/>
            </a:pPr>
            <a:r>
              <a:rPr lang="en-US" sz="1200" dirty="0">
                <a:solidFill>
                  <a:srgbClr val="5A6779"/>
                </a:solidFill>
                <a:latin typeface="Calibri" pitchFamily="34" charset="0"/>
                <a:ea typeface="Calibri" pitchFamily="34" charset="-122"/>
                <a:cs typeface="Calibri" pitchFamily="34" charset="-120"/>
              </a:rPr>
              <a:t>Short premium is short movement. A name that is going somewhere is disqualified before anything else is measured.</a:t>
            </a:r>
            <a:endParaRPr lang="en-US" sz="1200" dirty="0"/>
          </a:p>
        </p:txBody>
      </p:sp>
      <p:sp>
        <p:nvSpPr>
          <p:cNvPr id="17" name="Shape 15"/>
          <p:cNvSpPr/>
          <p:nvPr/>
        </p:nvSpPr>
        <p:spPr>
          <a:xfrm>
            <a:off x="640080" y="3904488"/>
            <a:ext cx="10881360" cy="932688"/>
          </a:xfrm>
          <a:prstGeom prst="roundRect">
            <a:avLst>
              <a:gd name="adj" fmla="val 5882"/>
            </a:avLst>
          </a:prstGeom>
          <a:solidFill>
            <a:srgbClr val="F1F4F9"/>
          </a:solidFill>
          <a:ln w="12700">
            <a:solidFill>
              <a:srgbClr val="F1F4F9"/>
            </a:solidFill>
            <a:prstDash val="solid"/>
          </a:ln>
        </p:spPr>
      </p:sp>
      <p:sp>
        <p:nvSpPr>
          <p:cNvPr id="18" name="Shape 16"/>
          <p:cNvSpPr/>
          <p:nvPr/>
        </p:nvSpPr>
        <p:spPr>
          <a:xfrm>
            <a:off x="896112" y="4178808"/>
            <a:ext cx="384048" cy="384048"/>
          </a:xfrm>
          <a:prstGeom prst="ellipse">
            <a:avLst/>
          </a:prstGeom>
          <a:solidFill>
            <a:srgbClr val="2FBF71"/>
          </a:solidFill>
          <a:ln/>
        </p:spPr>
      </p:sp>
      <p:sp>
        <p:nvSpPr>
          <p:cNvPr id="19" name="Text 17"/>
          <p:cNvSpPr txBox="1"/>
          <p:nvPr/>
        </p:nvSpPr>
        <p:spPr>
          <a:xfrm>
            <a:off x="896112" y="4178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1463040" y="4032504"/>
            <a:ext cx="173736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Event</a:t>
            </a:r>
            <a:endParaRPr lang="en-US" sz="1600" dirty="0"/>
          </a:p>
        </p:txBody>
      </p:sp>
      <p:sp>
        <p:nvSpPr>
          <p:cNvPr id="21" name="Text 19"/>
          <p:cNvSpPr txBox="1"/>
          <p:nvPr/>
        </p:nvSpPr>
        <p:spPr>
          <a:xfrm>
            <a:off x="1463040" y="4361688"/>
            <a:ext cx="4206240" cy="365760"/>
          </a:xfrm>
          <a:prstGeom prst="rect">
            <a:avLst/>
          </a:prstGeom>
          <a:noFill/>
          <a:ln/>
        </p:spPr>
        <p:txBody>
          <a:bodyPr wrap="square" lIns="0" tIns="0" rIns="0" bIns="0" rtlCol="0" anchor="ctr"/>
          <a:lstStyle/>
          <a:p>
            <a:pPr indent="0" marL="0">
              <a:buNone/>
            </a:pPr>
            <a:r>
              <a:rPr lang="en-US" sz="1200" dirty="0">
                <a:solidFill>
                  <a:srgbClr val="2FBF71"/>
                </a:solidFill>
                <a:latin typeface="Courier New" pitchFamily="34" charset="0"/>
                <a:ea typeface="Courier New" pitchFamily="34" charset="-122"/>
                <a:cs typeface="Courier New" pitchFamily="34" charset="-120"/>
              </a:rPr>
              <a:t>No earnings in the expiry window · no ex-div under a short call</a:t>
            </a:r>
            <a:endParaRPr lang="en-US" sz="1200" dirty="0"/>
          </a:p>
        </p:txBody>
      </p:sp>
      <p:sp>
        <p:nvSpPr>
          <p:cNvPr id="22" name="Text 20"/>
          <p:cNvSpPr txBox="1"/>
          <p:nvPr/>
        </p:nvSpPr>
        <p:spPr>
          <a:xfrm>
            <a:off x="5943600" y="4050792"/>
            <a:ext cx="5349240" cy="685800"/>
          </a:xfrm>
          <a:prstGeom prst="rect">
            <a:avLst/>
          </a:prstGeom>
          <a:noFill/>
          <a:ln/>
        </p:spPr>
        <p:txBody>
          <a:bodyPr wrap="square" lIns="0" tIns="0" rIns="0" bIns="0" rtlCol="0" anchor="ctr"/>
          <a:lstStyle/>
          <a:p>
            <a:pPr indent="0" marL="0">
              <a:lnSpc>
                <a:spcPts val="1600"/>
              </a:lnSpc>
              <a:buNone/>
            </a:pPr>
            <a:r>
              <a:rPr lang="en-US" sz="1200" dirty="0">
                <a:solidFill>
                  <a:srgbClr val="5A6779"/>
                </a:solidFill>
                <a:latin typeface="Calibri" pitchFamily="34" charset="0"/>
                <a:ea typeface="Calibri" pitchFamily="34" charset="-122"/>
                <a:cs typeface="Calibri" pitchFamily="34" charset="-120"/>
              </a:rPr>
              <a:t>IV before earnings is elevated because of the event. Selling it is selling a coin flip at fair odds.</a:t>
            </a:r>
            <a:endParaRPr lang="en-US" sz="1200" dirty="0"/>
          </a:p>
        </p:txBody>
      </p:sp>
      <p:sp>
        <p:nvSpPr>
          <p:cNvPr id="23" name="Shape 21"/>
          <p:cNvSpPr/>
          <p:nvPr/>
        </p:nvSpPr>
        <p:spPr>
          <a:xfrm>
            <a:off x="640080" y="4965192"/>
            <a:ext cx="10881360" cy="932688"/>
          </a:xfrm>
          <a:prstGeom prst="roundRect">
            <a:avLst>
              <a:gd name="adj" fmla="val 5882"/>
            </a:avLst>
          </a:prstGeom>
          <a:solidFill>
            <a:srgbClr val="F1F4F9"/>
          </a:solidFill>
          <a:ln w="12700">
            <a:solidFill>
              <a:srgbClr val="F1F4F9"/>
            </a:solidFill>
            <a:prstDash val="solid"/>
          </a:ln>
        </p:spPr>
      </p:sp>
      <p:sp>
        <p:nvSpPr>
          <p:cNvPr id="24" name="Shape 22"/>
          <p:cNvSpPr/>
          <p:nvPr/>
        </p:nvSpPr>
        <p:spPr>
          <a:xfrm>
            <a:off x="896112" y="5239512"/>
            <a:ext cx="384048" cy="384048"/>
          </a:xfrm>
          <a:prstGeom prst="ellipse">
            <a:avLst/>
          </a:prstGeom>
          <a:solidFill>
            <a:srgbClr val="2FBF71"/>
          </a:solidFill>
          <a:ln/>
        </p:spPr>
      </p:sp>
      <p:sp>
        <p:nvSpPr>
          <p:cNvPr id="25" name="Text 23"/>
          <p:cNvSpPr txBox="1"/>
          <p:nvPr/>
        </p:nvSpPr>
        <p:spPr>
          <a:xfrm>
            <a:off x="896112" y="52395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1463040" y="5093208"/>
            <a:ext cx="173736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Macro lens</a:t>
            </a:r>
            <a:endParaRPr lang="en-US" sz="1600" dirty="0"/>
          </a:p>
        </p:txBody>
      </p:sp>
      <p:sp>
        <p:nvSpPr>
          <p:cNvPr id="27" name="Text 25"/>
          <p:cNvSpPr txBox="1"/>
          <p:nvPr/>
        </p:nvSpPr>
        <p:spPr>
          <a:xfrm>
            <a:off x="1463040" y="5422392"/>
            <a:ext cx="4206240" cy="365760"/>
          </a:xfrm>
          <a:prstGeom prst="rect">
            <a:avLst/>
          </a:prstGeom>
          <a:noFill/>
          <a:ln/>
        </p:spPr>
        <p:txBody>
          <a:bodyPr wrap="square" lIns="0" tIns="0" rIns="0" bIns="0" rtlCol="0" anchor="ctr"/>
          <a:lstStyle/>
          <a:p>
            <a:pPr indent="0" marL="0">
              <a:buNone/>
            </a:pPr>
            <a:r>
              <a:rPr lang="en-US" sz="1200" dirty="0">
                <a:solidFill>
                  <a:srgbClr val="2FBF71"/>
                </a:solidFill>
                <a:latin typeface="Courier New" pitchFamily="34" charset="0"/>
                <a:ea typeface="Courier New" pitchFamily="34" charset="-122"/>
                <a:cs typeface="Courier New" pitchFamily="34" charset="-120"/>
              </a:rPr>
              <a:t>Sector-wide vol → sell.  Idiosyncratic → veto.</a:t>
            </a:r>
            <a:endParaRPr lang="en-US" sz="1200" dirty="0"/>
          </a:p>
        </p:txBody>
      </p:sp>
      <p:sp>
        <p:nvSpPr>
          <p:cNvPr id="28" name="Text 26"/>
          <p:cNvSpPr txBox="1"/>
          <p:nvPr/>
        </p:nvSpPr>
        <p:spPr>
          <a:xfrm>
            <a:off x="5943600" y="5111496"/>
            <a:ext cx="5349240" cy="685800"/>
          </a:xfrm>
          <a:prstGeom prst="rect">
            <a:avLst/>
          </a:prstGeom>
          <a:noFill/>
          <a:ln/>
        </p:spPr>
        <p:txBody>
          <a:bodyPr wrap="square" lIns="0" tIns="0" rIns="0" bIns="0" rtlCol="0" anchor="ctr"/>
          <a:lstStyle/>
          <a:p>
            <a:pPr indent="0" marL="0">
              <a:lnSpc>
                <a:spcPts val="1600"/>
              </a:lnSpc>
              <a:buNone/>
            </a:pPr>
            <a:r>
              <a:rPr lang="en-US" sz="1200" dirty="0">
                <a:solidFill>
                  <a:srgbClr val="5A6779"/>
                </a:solidFill>
                <a:latin typeface="Calibri" pitchFamily="34" charset="0"/>
                <a:ea typeface="Calibri" pitchFamily="34" charset="-122"/>
                <a:cs typeface="Calibri" pitchFamily="34" charset="-120"/>
              </a:rPr>
              <a:t>A shared move has no single headline behind it. A name-specific one does, and a short condor has no defence against the next one.</a:t>
            </a:r>
            <a:endParaRPr lang="en-US" sz="1200" dirty="0"/>
          </a:p>
        </p:txBody>
      </p:sp>
      <p:sp>
        <p:nvSpPr>
          <p:cNvPr id="29" name="Shape 27"/>
          <p:cNvSpPr/>
          <p:nvPr/>
        </p:nvSpPr>
        <p:spPr>
          <a:xfrm>
            <a:off x="640080" y="6053328"/>
            <a:ext cx="10881360" cy="603504"/>
          </a:xfrm>
          <a:prstGeom prst="roundRect">
            <a:avLst>
              <a:gd name="adj" fmla="val 9091"/>
            </a:avLst>
          </a:prstGeom>
          <a:solidFill>
            <a:srgbClr val="0F1A2E"/>
          </a:solidFill>
          <a:ln w="12700">
            <a:solidFill>
              <a:srgbClr val="0F1A2E"/>
            </a:solidFill>
            <a:prstDash val="solid"/>
          </a:ln>
        </p:spPr>
      </p:sp>
      <p:sp>
        <p:nvSpPr>
          <p:cNvPr id="30" name="Text 28"/>
          <p:cNvSpPr txBox="1"/>
          <p:nvPr/>
        </p:nvSpPr>
        <p:spPr>
          <a:xfrm>
            <a:off x="914400" y="6053328"/>
            <a:ext cx="10332720" cy="60350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Then the cost gate:  </a:t>
            </a:r>
            <a:pPr indent="0" marL="0">
              <a:buNone/>
            </a:pPr>
            <a:r>
              <a:rPr lang="en-US" sz="1250" b="1" dirty="0">
                <a:solidFill>
                  <a:srgbClr val="FFFFFF"/>
                </a:solidFill>
                <a:latin typeface="Calibri" pitchFamily="34" charset="0"/>
                <a:ea typeface="Calibri" pitchFamily="34" charset="-122"/>
                <a:cs typeface="Calibri" pitchFamily="34" charset="-120"/>
              </a:rPr>
              <a:t>round-trip spread ≤ 20% of the credit received</a:t>
            </a:r>
            <a:pPr indent="0" marL="0">
              <a:buNone/>
            </a:pPr>
            <a:r>
              <a:rPr lang="en-US" sz="1250" dirty="0">
                <a:solidFill>
                  <a:srgbClr val="CADCFC"/>
                </a:solidFill>
                <a:latin typeface="Calibri" pitchFamily="34" charset="0"/>
                <a:ea typeface="Calibri" pitchFamily="34" charset="-122"/>
                <a:cs typeface="Calibri" pitchFamily="34" charset="-120"/>
              </a:rPr>
              <a:t>  —  a four-leg condor crosses eight half-spreads on a round trip, so this is most of the P&amp;L, not a nicety.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2FBF71"/>
                </a:solidFill>
                <a:latin typeface="Calibri" pitchFamily="34" charset="0"/>
                <a:ea typeface="Calibri" pitchFamily="34" charset="-122"/>
                <a:cs typeface="Calibri" pitchFamily="34" charset="-120"/>
              </a:rPr>
              <a:t>CARRY BOOK · EXITS</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The exit pair sets the hit rate you need</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Breakeven hit rate  =  stop ÷ (target + stop).  It is arithmetic, and it is decided before any trade is taken.</a:t>
            </a:r>
            <a:endParaRPr lang="en-US" sz="1450" dirty="0"/>
          </a:p>
        </p:txBody>
      </p:sp>
      <p:sp>
        <p:nvSpPr>
          <p:cNvPr id="5" name="Shape 3"/>
          <p:cNvSpPr/>
          <p:nvPr/>
        </p:nvSpPr>
        <p:spPr>
          <a:xfrm>
            <a:off x="640080" y="1783080"/>
            <a:ext cx="5212080" cy="2148840"/>
          </a:xfrm>
          <a:prstGeom prst="roundRect">
            <a:avLst>
              <a:gd name="adj" fmla="val 2553"/>
            </a:avLst>
          </a:prstGeom>
          <a:solidFill>
            <a:srgbClr val="0F1A2E"/>
          </a:solidFill>
          <a:ln w="12700">
            <a:solidFill>
              <a:srgbClr val="0F1A2E"/>
            </a:solidFill>
            <a:prstDash val="solid"/>
          </a:ln>
        </p:spPr>
      </p:sp>
      <p:sp>
        <p:nvSpPr>
          <p:cNvPr id="6" name="Text 4"/>
          <p:cNvSpPr txBox="1"/>
          <p:nvPr/>
        </p:nvSpPr>
        <p:spPr>
          <a:xfrm>
            <a:off x="960120" y="1965960"/>
            <a:ext cx="45720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Old:  30% target / 2.0× stop</a:t>
            </a:r>
            <a:endParaRPr lang="en-US" sz="1300" dirty="0"/>
          </a:p>
        </p:txBody>
      </p:sp>
      <p:sp>
        <p:nvSpPr>
          <p:cNvPr id="7" name="Text 5"/>
          <p:cNvSpPr txBox="1"/>
          <p:nvPr/>
        </p:nvSpPr>
        <p:spPr>
          <a:xfrm>
            <a:off x="960120" y="2286000"/>
            <a:ext cx="2377440" cy="731520"/>
          </a:xfrm>
          <a:prstGeom prst="rect">
            <a:avLst/>
          </a:prstGeom>
          <a:noFill/>
          <a:ln/>
        </p:spPr>
        <p:txBody>
          <a:bodyPr wrap="square" lIns="0" tIns="0" rIns="0" bIns="0" rtlCol="0" anchor="ctr"/>
          <a:lstStyle/>
          <a:p>
            <a:pPr indent="0" marL="0">
              <a:buNone/>
            </a:pPr>
            <a:r>
              <a:rPr lang="en-US" sz="4800" b="1" dirty="0">
                <a:solidFill>
                  <a:srgbClr val="E5484D"/>
                </a:solidFill>
                <a:latin typeface="Cambria" pitchFamily="34" charset="0"/>
                <a:ea typeface="Cambria" pitchFamily="34" charset="-122"/>
                <a:cs typeface="Cambria" pitchFamily="34" charset="-120"/>
              </a:rPr>
              <a:t>87.0%</a:t>
            </a:r>
            <a:endParaRPr lang="en-US" sz="4800" dirty="0"/>
          </a:p>
        </p:txBody>
      </p:sp>
      <p:sp>
        <p:nvSpPr>
          <p:cNvPr id="8" name="Text 6"/>
          <p:cNvSpPr txBox="1"/>
          <p:nvPr/>
        </p:nvSpPr>
        <p:spPr>
          <a:xfrm>
            <a:off x="3291840" y="2651760"/>
            <a:ext cx="22860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needed, before any spread</a:t>
            </a:r>
            <a:endParaRPr lang="en-US" sz="1200" dirty="0"/>
          </a:p>
        </p:txBody>
      </p:sp>
      <p:sp>
        <p:nvSpPr>
          <p:cNvPr id="9" name="Text 7"/>
          <p:cNvSpPr txBox="1"/>
          <p:nvPr/>
        </p:nvSpPr>
        <p:spPr>
          <a:xfrm>
            <a:off x="960120" y="3063240"/>
            <a:ext cx="4572000" cy="73152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Observed win rate was 88%. One point of margin — and the 20% cost ceiling implied 95.7%, so the gate was admitting trades the arithmetic said would lose.</a:t>
            </a:r>
            <a:endParaRPr lang="en-US" sz="1150" dirty="0"/>
          </a:p>
        </p:txBody>
      </p:sp>
      <p:sp>
        <p:nvSpPr>
          <p:cNvPr id="10" name="Shape 8"/>
          <p:cNvSpPr/>
          <p:nvPr/>
        </p:nvSpPr>
        <p:spPr>
          <a:xfrm>
            <a:off x="6309360" y="1783080"/>
            <a:ext cx="5212080" cy="2148840"/>
          </a:xfrm>
          <a:prstGeom prst="roundRect">
            <a:avLst>
              <a:gd name="adj" fmla="val 2553"/>
            </a:avLst>
          </a:prstGeom>
          <a:solidFill>
            <a:srgbClr val="F1F4F9"/>
          </a:solidFill>
          <a:ln w="12700">
            <a:solidFill>
              <a:srgbClr val="F1F4F9"/>
            </a:solidFill>
            <a:prstDash val="solid"/>
          </a:ln>
        </p:spPr>
      </p:sp>
      <p:sp>
        <p:nvSpPr>
          <p:cNvPr id="11" name="Text 9"/>
          <p:cNvSpPr txBox="1"/>
          <p:nvPr/>
        </p:nvSpPr>
        <p:spPr>
          <a:xfrm>
            <a:off x="6629400" y="1965960"/>
            <a:ext cx="4572000" cy="320040"/>
          </a:xfrm>
          <a:prstGeom prst="rect">
            <a:avLst/>
          </a:prstGeom>
          <a:noFill/>
          <a:ln/>
        </p:spPr>
        <p:txBody>
          <a:bodyPr wrap="square" lIns="0" tIns="0" rIns="0" bIns="0" rtlCol="0" anchor="ctr"/>
          <a:lstStyle/>
          <a:p>
            <a:pPr indent="0" marL="0">
              <a:buNone/>
            </a:pPr>
            <a:r>
              <a:rPr lang="en-US" sz="1300" dirty="0">
                <a:solidFill>
                  <a:srgbClr val="5A6779"/>
                </a:solidFill>
                <a:latin typeface="Calibri" pitchFamily="34" charset="0"/>
                <a:ea typeface="Calibri" pitchFamily="34" charset="-122"/>
                <a:cs typeface="Calibri" pitchFamily="34" charset="-120"/>
              </a:rPr>
              <a:t>Now:  50% target / 1.5× stop</a:t>
            </a:r>
            <a:endParaRPr lang="en-US" sz="1300" dirty="0"/>
          </a:p>
        </p:txBody>
      </p:sp>
      <p:sp>
        <p:nvSpPr>
          <p:cNvPr id="12" name="Text 10"/>
          <p:cNvSpPr txBox="1"/>
          <p:nvPr/>
        </p:nvSpPr>
        <p:spPr>
          <a:xfrm>
            <a:off x="6629400" y="2286000"/>
            <a:ext cx="2377440" cy="731520"/>
          </a:xfrm>
          <a:prstGeom prst="rect">
            <a:avLst/>
          </a:prstGeom>
          <a:noFill/>
          <a:ln/>
        </p:spPr>
        <p:txBody>
          <a:bodyPr wrap="square" lIns="0" tIns="0" rIns="0" bIns="0" rtlCol="0" anchor="ctr"/>
          <a:lstStyle/>
          <a:p>
            <a:pPr indent="0" marL="0">
              <a:buNone/>
            </a:pPr>
            <a:r>
              <a:rPr lang="en-US" sz="4800" b="1" dirty="0">
                <a:solidFill>
                  <a:srgbClr val="2FBF71"/>
                </a:solidFill>
                <a:latin typeface="Cambria" pitchFamily="34" charset="0"/>
                <a:ea typeface="Cambria" pitchFamily="34" charset="-122"/>
                <a:cs typeface="Cambria" pitchFamily="34" charset="-120"/>
              </a:rPr>
              <a:t>75.0%</a:t>
            </a:r>
            <a:endParaRPr lang="en-US" sz="4800" dirty="0"/>
          </a:p>
        </p:txBody>
      </p:sp>
      <p:sp>
        <p:nvSpPr>
          <p:cNvPr id="13" name="Text 11"/>
          <p:cNvSpPr txBox="1"/>
          <p:nvPr/>
        </p:nvSpPr>
        <p:spPr>
          <a:xfrm>
            <a:off x="8961120" y="2651760"/>
            <a:ext cx="2286000" cy="365760"/>
          </a:xfrm>
          <a:prstGeom prst="rect">
            <a:avLst/>
          </a:prstGeom>
          <a:noFill/>
          <a:ln/>
        </p:spPr>
        <p:txBody>
          <a:bodyPr wrap="square" lIns="0" tIns="0" rIns="0" bIns="0" rtlCol="0" anchor="ctr"/>
          <a:lstStyle/>
          <a:p>
            <a:pPr indent="0" marL="0">
              <a:buNone/>
            </a:pPr>
            <a:r>
              <a:rPr lang="en-US" sz="1200" dirty="0">
                <a:solidFill>
                  <a:srgbClr val="5A6779"/>
                </a:solidFill>
                <a:latin typeface="Calibri" pitchFamily="34" charset="0"/>
                <a:ea typeface="Calibri" pitchFamily="34" charset="-122"/>
                <a:cs typeface="Calibri" pitchFamily="34" charset="-120"/>
              </a:rPr>
              <a:t>needed, before any spread</a:t>
            </a:r>
            <a:endParaRPr lang="en-US" sz="1200" dirty="0"/>
          </a:p>
        </p:txBody>
      </p:sp>
      <p:sp>
        <p:nvSpPr>
          <p:cNvPr id="14" name="Text 12"/>
          <p:cNvSpPr txBox="1"/>
          <p:nvPr/>
        </p:nvSpPr>
        <p:spPr>
          <a:xfrm>
            <a:off x="6629400" y="3063240"/>
            <a:ext cx="4572000" cy="731520"/>
          </a:xfrm>
          <a:prstGeom prst="rect">
            <a:avLst/>
          </a:prstGeom>
          <a:noFill/>
          <a:ln/>
        </p:spPr>
        <p:txBody>
          <a:bodyPr wrap="square" lIns="0" tIns="0" rIns="0" bIns="0" rtlCol="0" anchor="ctr"/>
          <a:lstStyle/>
          <a:p>
            <a:pPr indent="0" marL="0">
              <a:lnSpc>
                <a:spcPts val="1500"/>
              </a:lnSpc>
              <a:buNone/>
            </a:pPr>
            <a:r>
              <a:rPr lang="en-US" sz="1150" dirty="0">
                <a:solidFill>
                  <a:srgbClr val="5A6779"/>
                </a:solidFill>
                <a:latin typeface="Calibri" pitchFamily="34" charset="0"/>
                <a:ea typeface="Calibri" pitchFamily="34" charset="-122"/>
                <a:cs typeface="Calibri" pitchFamily="34" charset="-120"/>
              </a:rPr>
              <a:t>The same 20% cost ceiling now implies 85% — three points of margin. Same gate, opposite meaning, because the exits changed underneath it.</a:t>
            </a:r>
            <a:endParaRPr lang="en-US" sz="1150" dirty="0"/>
          </a:p>
        </p:txBody>
      </p:sp>
      <p:sp>
        <p:nvSpPr>
          <p:cNvPr id="15" name="Text 13"/>
          <p:cNvSpPr txBox="1"/>
          <p:nvPr/>
        </p:nvSpPr>
        <p:spPr>
          <a:xfrm>
            <a:off x="640080" y="4114800"/>
            <a:ext cx="5486400" cy="320040"/>
          </a:xfrm>
          <a:prstGeom prst="rect">
            <a:avLst/>
          </a:prstGeom>
          <a:noFill/>
          <a:ln/>
        </p:spPr>
        <p:txBody>
          <a:bodyPr wrap="square" lIns="0" tIns="0" rIns="0" bIns="0" rtlCol="0" anchor="ctr"/>
          <a:lstStyle/>
          <a:p>
            <a:pPr indent="0" marL="0">
              <a:buNone/>
            </a:pPr>
            <a:r>
              <a:rPr lang="en-US" sz="1400" b="1" dirty="0">
                <a:solidFill>
                  <a:srgbClr val="16202F"/>
                </a:solidFill>
                <a:latin typeface="Cambria" pitchFamily="34" charset="0"/>
                <a:ea typeface="Cambria" pitchFamily="34" charset="-122"/>
                <a:cs typeface="Cambria" pitchFamily="34" charset="-120"/>
              </a:rPr>
              <a:t>Checked in this order, every cycle</a:t>
            </a:r>
            <a:endParaRPr lang="en-US" sz="1400" dirty="0"/>
          </a:p>
        </p:txBody>
      </p:sp>
      <p:sp>
        <p:nvSpPr>
          <p:cNvPr id="16" name="Shape 14"/>
          <p:cNvSpPr/>
          <p:nvPr/>
        </p:nvSpPr>
        <p:spPr>
          <a:xfrm>
            <a:off x="640080" y="4526280"/>
            <a:ext cx="3474720" cy="603504"/>
          </a:xfrm>
          <a:prstGeom prst="roundRect">
            <a:avLst>
              <a:gd name="adj" fmla="val 9091"/>
            </a:avLst>
          </a:prstGeom>
          <a:solidFill>
            <a:srgbClr val="F1F4F9"/>
          </a:solidFill>
          <a:ln w="12700">
            <a:solidFill>
              <a:srgbClr val="F1F4F9"/>
            </a:solidFill>
            <a:prstDash val="solid"/>
          </a:ln>
        </p:spPr>
      </p:sp>
      <p:sp>
        <p:nvSpPr>
          <p:cNvPr id="17" name="Text 15"/>
          <p:cNvSpPr txBox="1"/>
          <p:nvPr/>
        </p:nvSpPr>
        <p:spPr>
          <a:xfrm>
            <a:off x="822960" y="4572000"/>
            <a:ext cx="3200400" cy="292608"/>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$450 hard dollar stop</a:t>
            </a:r>
            <a:endParaRPr lang="en-US" sz="1250" dirty="0"/>
          </a:p>
        </p:txBody>
      </p:sp>
      <p:sp>
        <p:nvSpPr>
          <p:cNvPr id="18" name="Text 16"/>
          <p:cNvSpPr txBox="1"/>
          <p:nvPr/>
        </p:nvSpPr>
        <p:spPr>
          <a:xfrm>
            <a:off x="822960" y="4846320"/>
            <a:ext cx="3200400" cy="256032"/>
          </a:xfrm>
          <a:prstGeom prst="rect">
            <a:avLst/>
          </a:prstGeom>
          <a:noFill/>
          <a:ln/>
        </p:spPr>
        <p:txBody>
          <a:bodyPr wrap="square" lIns="0" tIns="0" rIns="0" bIns="0" rtlCol="0" anchor="ctr"/>
          <a:lstStyle/>
          <a:p>
            <a:pPr indent="0" marL="0">
              <a:buNone/>
            </a:pPr>
            <a:r>
              <a:rPr lang="en-US" sz="1100" dirty="0">
                <a:solidFill>
                  <a:srgbClr val="5A6779"/>
                </a:solidFill>
                <a:latin typeface="Calibri" pitchFamily="34" charset="0"/>
                <a:ea typeface="Calibri" pitchFamily="34" charset="-122"/>
                <a:cs typeface="Calibri" pitchFamily="34" charset="-120"/>
              </a:rPr>
              <a:t>checked first</a:t>
            </a:r>
            <a:endParaRPr lang="en-US" sz="1100" dirty="0"/>
          </a:p>
        </p:txBody>
      </p:sp>
      <p:sp>
        <p:nvSpPr>
          <p:cNvPr id="19" name="Shape 17"/>
          <p:cNvSpPr/>
          <p:nvPr/>
        </p:nvSpPr>
        <p:spPr>
          <a:xfrm>
            <a:off x="4297680" y="4526280"/>
            <a:ext cx="3474720" cy="603504"/>
          </a:xfrm>
          <a:prstGeom prst="roundRect">
            <a:avLst>
              <a:gd name="adj" fmla="val 9091"/>
            </a:avLst>
          </a:prstGeom>
          <a:solidFill>
            <a:srgbClr val="F1F4F9"/>
          </a:solidFill>
          <a:ln w="12700">
            <a:solidFill>
              <a:srgbClr val="F1F4F9"/>
            </a:solidFill>
            <a:prstDash val="solid"/>
          </a:ln>
        </p:spPr>
      </p:sp>
      <p:sp>
        <p:nvSpPr>
          <p:cNvPr id="20" name="Text 18"/>
          <p:cNvSpPr txBox="1"/>
          <p:nvPr/>
        </p:nvSpPr>
        <p:spPr>
          <a:xfrm>
            <a:off x="4480560" y="4572000"/>
            <a:ext cx="3200400" cy="292608"/>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50% of max profit</a:t>
            </a:r>
            <a:endParaRPr lang="en-US" sz="1250" dirty="0"/>
          </a:p>
        </p:txBody>
      </p:sp>
      <p:sp>
        <p:nvSpPr>
          <p:cNvPr id="21" name="Text 19"/>
          <p:cNvSpPr txBox="1"/>
          <p:nvPr/>
        </p:nvSpPr>
        <p:spPr>
          <a:xfrm>
            <a:off x="4480560" y="4846320"/>
            <a:ext cx="3200400" cy="256032"/>
          </a:xfrm>
          <a:prstGeom prst="rect">
            <a:avLst/>
          </a:prstGeom>
          <a:noFill/>
          <a:ln/>
        </p:spPr>
        <p:txBody>
          <a:bodyPr wrap="square" lIns="0" tIns="0" rIns="0" bIns="0" rtlCol="0" anchor="ctr"/>
          <a:lstStyle/>
          <a:p>
            <a:pPr indent="0" marL="0">
              <a:buNone/>
            </a:pPr>
            <a:r>
              <a:rPr lang="en-US" sz="1100" dirty="0">
                <a:solidFill>
                  <a:srgbClr val="5A6779"/>
                </a:solidFill>
                <a:latin typeface="Calibri" pitchFamily="34" charset="0"/>
                <a:ea typeface="Calibri" pitchFamily="34" charset="-122"/>
                <a:cs typeface="Calibri" pitchFamily="34" charset="-120"/>
              </a:rPr>
              <a:t>close</a:t>
            </a:r>
            <a:endParaRPr lang="en-US" sz="1100" dirty="0"/>
          </a:p>
        </p:txBody>
      </p:sp>
      <p:sp>
        <p:nvSpPr>
          <p:cNvPr id="22" name="Shape 20"/>
          <p:cNvSpPr/>
          <p:nvPr/>
        </p:nvSpPr>
        <p:spPr>
          <a:xfrm>
            <a:off x="7955280" y="4526280"/>
            <a:ext cx="3474720" cy="603504"/>
          </a:xfrm>
          <a:prstGeom prst="roundRect">
            <a:avLst>
              <a:gd name="adj" fmla="val 9091"/>
            </a:avLst>
          </a:prstGeom>
          <a:solidFill>
            <a:srgbClr val="F1F4F9"/>
          </a:solidFill>
          <a:ln w="12700">
            <a:solidFill>
              <a:srgbClr val="F1F4F9"/>
            </a:solidFill>
            <a:prstDash val="solid"/>
          </a:ln>
        </p:spPr>
      </p:sp>
      <p:sp>
        <p:nvSpPr>
          <p:cNvPr id="23" name="Text 21"/>
          <p:cNvSpPr txBox="1"/>
          <p:nvPr/>
        </p:nvSpPr>
        <p:spPr>
          <a:xfrm>
            <a:off x="8138160" y="4572000"/>
            <a:ext cx="3200400" cy="292608"/>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loss = 1.5× credit</a:t>
            </a:r>
            <a:endParaRPr lang="en-US" sz="1250" dirty="0"/>
          </a:p>
        </p:txBody>
      </p:sp>
      <p:sp>
        <p:nvSpPr>
          <p:cNvPr id="24" name="Text 22"/>
          <p:cNvSpPr txBox="1"/>
          <p:nvPr/>
        </p:nvSpPr>
        <p:spPr>
          <a:xfrm>
            <a:off x="8138160" y="4846320"/>
            <a:ext cx="3200400" cy="256032"/>
          </a:xfrm>
          <a:prstGeom prst="rect">
            <a:avLst/>
          </a:prstGeom>
          <a:noFill/>
          <a:ln/>
        </p:spPr>
        <p:txBody>
          <a:bodyPr wrap="square" lIns="0" tIns="0" rIns="0" bIns="0" rtlCol="0" anchor="ctr"/>
          <a:lstStyle/>
          <a:p>
            <a:pPr indent="0" marL="0">
              <a:buNone/>
            </a:pPr>
            <a:r>
              <a:rPr lang="en-US" sz="1100" dirty="0">
                <a:solidFill>
                  <a:srgbClr val="5A6779"/>
                </a:solidFill>
                <a:latin typeface="Calibri" pitchFamily="34" charset="0"/>
                <a:ea typeface="Calibri" pitchFamily="34" charset="-122"/>
                <a:cs typeface="Calibri" pitchFamily="34" charset="-120"/>
              </a:rPr>
              <a:t>close</a:t>
            </a:r>
            <a:endParaRPr lang="en-US" sz="1100" dirty="0"/>
          </a:p>
        </p:txBody>
      </p:sp>
      <p:sp>
        <p:nvSpPr>
          <p:cNvPr id="25" name="Shape 23"/>
          <p:cNvSpPr/>
          <p:nvPr/>
        </p:nvSpPr>
        <p:spPr>
          <a:xfrm>
            <a:off x="640080" y="5239512"/>
            <a:ext cx="3474720" cy="603504"/>
          </a:xfrm>
          <a:prstGeom prst="roundRect">
            <a:avLst>
              <a:gd name="adj" fmla="val 9091"/>
            </a:avLst>
          </a:prstGeom>
          <a:solidFill>
            <a:srgbClr val="F1F4F9"/>
          </a:solidFill>
          <a:ln w="12700">
            <a:solidFill>
              <a:srgbClr val="F1F4F9"/>
            </a:solidFill>
            <a:prstDash val="solid"/>
          </a:ln>
        </p:spPr>
      </p:sp>
      <p:sp>
        <p:nvSpPr>
          <p:cNvPr id="26" name="Text 24"/>
          <p:cNvSpPr txBox="1"/>
          <p:nvPr/>
        </p:nvSpPr>
        <p:spPr>
          <a:xfrm>
            <a:off x="822960" y="5285232"/>
            <a:ext cx="3200400" cy="292608"/>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3 DTE floor</a:t>
            </a:r>
            <a:endParaRPr lang="en-US" sz="1250" dirty="0"/>
          </a:p>
        </p:txBody>
      </p:sp>
      <p:sp>
        <p:nvSpPr>
          <p:cNvPr id="27" name="Text 25"/>
          <p:cNvSpPr txBox="1"/>
          <p:nvPr/>
        </p:nvSpPr>
        <p:spPr>
          <a:xfrm>
            <a:off x="822960" y="5559552"/>
            <a:ext cx="3200400" cy="256032"/>
          </a:xfrm>
          <a:prstGeom prst="rect">
            <a:avLst/>
          </a:prstGeom>
          <a:noFill/>
          <a:ln/>
        </p:spPr>
        <p:txBody>
          <a:bodyPr wrap="square" lIns="0" tIns="0" rIns="0" bIns="0" rtlCol="0" anchor="ctr"/>
          <a:lstStyle/>
          <a:p>
            <a:pPr indent="0" marL="0">
              <a:buNone/>
            </a:pPr>
            <a:r>
              <a:rPr lang="en-US" sz="1100" dirty="0">
                <a:solidFill>
                  <a:srgbClr val="5A6779"/>
                </a:solidFill>
                <a:latin typeface="Calibri" pitchFamily="34" charset="0"/>
                <a:ea typeface="Calibri" pitchFamily="34" charset="-122"/>
                <a:cs typeface="Calibri" pitchFamily="34" charset="-120"/>
              </a:rPr>
              <a:t>close regardless of P&amp;L</a:t>
            </a:r>
            <a:endParaRPr lang="en-US" sz="1100" dirty="0"/>
          </a:p>
        </p:txBody>
      </p:sp>
      <p:sp>
        <p:nvSpPr>
          <p:cNvPr id="28" name="Shape 26"/>
          <p:cNvSpPr/>
          <p:nvPr/>
        </p:nvSpPr>
        <p:spPr>
          <a:xfrm>
            <a:off x="4297680" y="5239512"/>
            <a:ext cx="3474720" cy="603504"/>
          </a:xfrm>
          <a:prstGeom prst="roundRect">
            <a:avLst>
              <a:gd name="adj" fmla="val 9091"/>
            </a:avLst>
          </a:prstGeom>
          <a:solidFill>
            <a:srgbClr val="F1F4F9"/>
          </a:solidFill>
          <a:ln w="12700">
            <a:solidFill>
              <a:srgbClr val="F1F4F9"/>
            </a:solidFill>
            <a:prstDash val="solid"/>
          </a:ln>
        </p:spPr>
      </p:sp>
      <p:sp>
        <p:nvSpPr>
          <p:cNvPr id="29" name="Text 27"/>
          <p:cNvSpPr txBox="1"/>
          <p:nvPr/>
        </p:nvSpPr>
        <p:spPr>
          <a:xfrm>
            <a:off x="4480560" y="5285232"/>
            <a:ext cx="3200400" cy="292608"/>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short strike touched</a:t>
            </a:r>
            <a:endParaRPr lang="en-US" sz="1250" dirty="0"/>
          </a:p>
        </p:txBody>
      </p:sp>
      <p:sp>
        <p:nvSpPr>
          <p:cNvPr id="30" name="Text 28"/>
          <p:cNvSpPr txBox="1"/>
          <p:nvPr/>
        </p:nvSpPr>
        <p:spPr>
          <a:xfrm>
            <a:off x="4480560" y="5559552"/>
            <a:ext cx="3200400" cy="256032"/>
          </a:xfrm>
          <a:prstGeom prst="rect">
            <a:avLst/>
          </a:prstGeom>
          <a:noFill/>
          <a:ln/>
        </p:spPr>
        <p:txBody>
          <a:bodyPr wrap="square" lIns="0" tIns="0" rIns="0" bIns="0" rtlCol="0" anchor="ctr"/>
          <a:lstStyle/>
          <a:p>
            <a:pPr indent="0" marL="0">
              <a:buNone/>
            </a:pPr>
            <a:r>
              <a:rPr lang="en-US" sz="1100" dirty="0">
                <a:solidFill>
                  <a:srgbClr val="5A6779"/>
                </a:solidFill>
                <a:latin typeface="Calibri" pitchFamily="34" charset="0"/>
                <a:ea typeface="Calibri" pitchFamily="34" charset="-122"/>
                <a:cs typeface="Calibri" pitchFamily="34" charset="-120"/>
              </a:rPr>
              <a:t>close the tested side</a:t>
            </a:r>
            <a:endParaRPr lang="en-US" sz="1100" dirty="0"/>
          </a:p>
        </p:txBody>
      </p:sp>
      <p:sp>
        <p:nvSpPr>
          <p:cNvPr id="31" name="Shape 29"/>
          <p:cNvSpPr/>
          <p:nvPr/>
        </p:nvSpPr>
        <p:spPr>
          <a:xfrm>
            <a:off x="7955280" y="5239512"/>
            <a:ext cx="3474720" cy="603504"/>
          </a:xfrm>
          <a:prstGeom prst="roundRect">
            <a:avLst>
              <a:gd name="adj" fmla="val 9091"/>
            </a:avLst>
          </a:prstGeom>
          <a:solidFill>
            <a:srgbClr val="F1F4F9"/>
          </a:solidFill>
          <a:ln w="12700">
            <a:solidFill>
              <a:srgbClr val="F1F4F9"/>
            </a:solidFill>
            <a:prstDash val="solid"/>
          </a:ln>
        </p:spPr>
      </p:sp>
      <p:sp>
        <p:nvSpPr>
          <p:cNvPr id="32" name="Text 30"/>
          <p:cNvSpPr txBox="1"/>
          <p:nvPr/>
        </p:nvSpPr>
        <p:spPr>
          <a:xfrm>
            <a:off x="8138160" y="5285232"/>
            <a:ext cx="3200400" cy="292608"/>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macro flag / flatten</a:t>
            </a:r>
            <a:endParaRPr lang="en-US" sz="1250" dirty="0"/>
          </a:p>
        </p:txBody>
      </p:sp>
      <p:sp>
        <p:nvSpPr>
          <p:cNvPr id="33" name="Text 31"/>
          <p:cNvSpPr txBox="1"/>
          <p:nvPr/>
        </p:nvSpPr>
        <p:spPr>
          <a:xfrm>
            <a:off x="8138160" y="5559552"/>
            <a:ext cx="3200400" cy="256032"/>
          </a:xfrm>
          <a:prstGeom prst="rect">
            <a:avLst/>
          </a:prstGeom>
          <a:noFill/>
          <a:ln/>
        </p:spPr>
        <p:txBody>
          <a:bodyPr wrap="square" lIns="0" tIns="0" rIns="0" bIns="0" rtlCol="0" anchor="ctr"/>
          <a:lstStyle/>
          <a:p>
            <a:pPr indent="0" marL="0">
              <a:buNone/>
            </a:pPr>
            <a:r>
              <a:rPr lang="en-US" sz="1100" dirty="0">
                <a:solidFill>
                  <a:srgbClr val="5A6779"/>
                </a:solidFill>
                <a:latin typeface="Calibri" pitchFamily="34" charset="0"/>
                <a:ea typeface="Calibri" pitchFamily="34" charset="-122"/>
                <a:cs typeface="Calibri" pitchFamily="34" charset="-120"/>
              </a:rPr>
              <a:t>close at next open</a:t>
            </a:r>
            <a:endParaRPr lang="en-US" sz="1100" dirty="0"/>
          </a:p>
        </p:txBody>
      </p:sp>
      <p:sp>
        <p:nvSpPr>
          <p:cNvPr id="34" name="Text 32"/>
          <p:cNvSpPr txBox="1"/>
          <p:nvPr/>
        </p:nvSpPr>
        <p:spPr>
          <a:xfrm>
            <a:off x="640080" y="6035040"/>
            <a:ext cx="10881360" cy="548640"/>
          </a:xfrm>
          <a:prstGeom prst="rect">
            <a:avLst/>
          </a:prstGeom>
          <a:noFill/>
          <a:ln/>
        </p:spPr>
        <p:txBody>
          <a:bodyPr wrap="square" lIns="0" tIns="0" rIns="0" bIns="0" rtlCol="0" anchor="ctr"/>
          <a:lstStyle/>
          <a:p>
            <a:pPr indent="0" marL="0">
              <a:lnSpc>
                <a:spcPts val="1500"/>
              </a:lnSpc>
              <a:buNone/>
            </a:pPr>
            <a:r>
              <a:rPr lang="en-US" sz="1150" i="1" dirty="0">
                <a:solidFill>
                  <a:srgbClr val="5A6779"/>
                </a:solidFill>
                <a:latin typeface="Calibri" pitchFamily="34" charset="0"/>
                <a:ea typeface="Calibri" pitchFamily="34" charset="-122"/>
                <a:cs typeface="Calibri" pitchFamily="34" charset="-120"/>
              </a:rPr>
              <a:t>The dollar stop was $900 and never fired: the six largest losses were $780–868, all sitting just underneath it, and every one exited on the DTE floor instead — which realises whatever has accumulated rather than capping it. A stop set above the loss distribution is decoration.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E8A33D"/>
                </a:solidFill>
                <a:latin typeface="Calibri" pitchFamily="34" charset="0"/>
                <a:ea typeface="Calibri" pitchFamily="34" charset="-122"/>
                <a:cs typeface="Calibri" pitchFamily="34" charset="-120"/>
              </a:rPr>
              <a:t>INTRADAY BOOK · INTRADAY_MOMENTUM</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Three indicators, three different questions</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Only VWAP has an opinion on direction, so the other two cannot quietly agree with it and call that confluence.</a:t>
            </a:r>
            <a:endParaRPr lang="en-US" sz="1450" dirty="0"/>
          </a:p>
        </p:txBody>
      </p:sp>
      <p:sp>
        <p:nvSpPr>
          <p:cNvPr id="5" name="Shape 3"/>
          <p:cNvSpPr/>
          <p:nvPr/>
        </p:nvSpPr>
        <p:spPr>
          <a:xfrm>
            <a:off x="640080" y="1783080"/>
            <a:ext cx="6949440" cy="1078992"/>
          </a:xfrm>
          <a:prstGeom prst="roundRect">
            <a:avLst>
              <a:gd name="adj" fmla="val 5085"/>
            </a:avLst>
          </a:prstGeom>
          <a:solidFill>
            <a:srgbClr val="F1F4F9"/>
          </a:solidFill>
          <a:ln w="12700">
            <a:solidFill>
              <a:srgbClr val="F1F4F9"/>
            </a:solidFill>
            <a:prstDash val="solid"/>
          </a:ln>
        </p:spPr>
      </p:sp>
      <p:sp>
        <p:nvSpPr>
          <p:cNvPr id="6" name="Shape 4"/>
          <p:cNvSpPr/>
          <p:nvPr/>
        </p:nvSpPr>
        <p:spPr>
          <a:xfrm>
            <a:off x="914400" y="2084832"/>
            <a:ext cx="475488" cy="475488"/>
          </a:xfrm>
          <a:prstGeom prst="ellipse">
            <a:avLst/>
          </a:prstGeom>
          <a:solidFill>
            <a:srgbClr val="E8A33D"/>
          </a:solidFill>
          <a:ln/>
        </p:spPr>
      </p:sp>
      <p:sp>
        <p:nvSpPr>
          <p:cNvPr id="7" name="Text 5"/>
          <p:cNvSpPr txBox="1"/>
          <p:nvPr/>
        </p:nvSpPr>
        <p:spPr>
          <a:xfrm>
            <a:off x="1600200" y="1929384"/>
            <a:ext cx="292608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VWAP</a:t>
            </a:r>
            <a:endParaRPr lang="en-US" sz="1600" dirty="0"/>
          </a:p>
        </p:txBody>
      </p:sp>
      <p:sp>
        <p:nvSpPr>
          <p:cNvPr id="8" name="Text 6"/>
          <p:cNvSpPr txBox="1"/>
          <p:nvPr/>
        </p:nvSpPr>
        <p:spPr>
          <a:xfrm>
            <a:off x="4526280" y="1965960"/>
            <a:ext cx="13716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TRIGGER</a:t>
            </a:r>
            <a:endParaRPr lang="en-US" sz="1000" dirty="0"/>
          </a:p>
        </p:txBody>
      </p:sp>
      <p:sp>
        <p:nvSpPr>
          <p:cNvPr id="9" name="Text 7"/>
          <p:cNvSpPr txBox="1"/>
          <p:nvPr/>
        </p:nvSpPr>
        <p:spPr>
          <a:xfrm>
            <a:off x="1600200" y="2258568"/>
            <a:ext cx="5760720" cy="548640"/>
          </a:xfrm>
          <a:prstGeom prst="rect">
            <a:avLst/>
          </a:prstGeom>
          <a:noFill/>
          <a:ln/>
        </p:spPr>
        <p:txBody>
          <a:bodyPr wrap="square" lIns="0" tIns="0" rIns="0" bIns="0" rtlCol="0" anchor="ctr"/>
          <a:lstStyle/>
          <a:p>
            <a:pPr indent="0" marL="0">
              <a:lnSpc>
                <a:spcPts val="1500"/>
              </a:lnSpc>
              <a:buNone/>
            </a:pPr>
            <a:r>
              <a:rPr lang="en-US" sz="1150" dirty="0">
                <a:solidFill>
                  <a:srgbClr val="5A6779"/>
                </a:solidFill>
                <a:latin typeface="Calibri" pitchFamily="34" charset="0"/>
                <a:ea typeface="Calibri" pitchFamily="34" charset="-122"/>
                <a:cs typeface="Calibri" pitchFamily="34" charset="-120"/>
              </a:rPr>
              <a:t>Session VWAP cross, or price on the band within 2.0× the session's usual dispersion. Searched over the last 15 one-minute bars — exactly one polling gap, so a cross cannot fall between two cycles unseen.</a:t>
            </a:r>
            <a:endParaRPr lang="en-US" sz="1150" dirty="0"/>
          </a:p>
        </p:txBody>
      </p:sp>
      <p:sp>
        <p:nvSpPr>
          <p:cNvPr id="10" name="Shape 8"/>
          <p:cNvSpPr/>
          <p:nvPr/>
        </p:nvSpPr>
        <p:spPr>
          <a:xfrm>
            <a:off x="640080" y="2990088"/>
            <a:ext cx="6949440" cy="1078992"/>
          </a:xfrm>
          <a:prstGeom prst="roundRect">
            <a:avLst>
              <a:gd name="adj" fmla="val 5085"/>
            </a:avLst>
          </a:prstGeom>
          <a:solidFill>
            <a:srgbClr val="F1F4F9"/>
          </a:solidFill>
          <a:ln w="12700">
            <a:solidFill>
              <a:srgbClr val="F1F4F9"/>
            </a:solidFill>
            <a:prstDash val="solid"/>
          </a:ln>
        </p:spPr>
      </p:sp>
      <p:sp>
        <p:nvSpPr>
          <p:cNvPr id="11" name="Shape 9"/>
          <p:cNvSpPr/>
          <p:nvPr/>
        </p:nvSpPr>
        <p:spPr>
          <a:xfrm>
            <a:off x="914400" y="3291840"/>
            <a:ext cx="475488" cy="475488"/>
          </a:xfrm>
          <a:prstGeom prst="ellipse">
            <a:avLst/>
          </a:prstGeom>
          <a:solidFill>
            <a:srgbClr val="4C8DF6"/>
          </a:solidFill>
          <a:ln/>
        </p:spPr>
      </p:sp>
      <p:sp>
        <p:nvSpPr>
          <p:cNvPr id="12" name="Text 10"/>
          <p:cNvSpPr txBox="1"/>
          <p:nvPr/>
        </p:nvSpPr>
        <p:spPr>
          <a:xfrm>
            <a:off x="1600200" y="3136392"/>
            <a:ext cx="292608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Bollinger width</a:t>
            </a:r>
            <a:endParaRPr lang="en-US" sz="1600" dirty="0"/>
          </a:p>
        </p:txBody>
      </p:sp>
      <p:sp>
        <p:nvSpPr>
          <p:cNvPr id="13" name="Text 11"/>
          <p:cNvSpPr txBox="1"/>
          <p:nvPr/>
        </p:nvSpPr>
        <p:spPr>
          <a:xfrm>
            <a:off x="4526280" y="3172968"/>
            <a:ext cx="1371600" cy="256032"/>
          </a:xfrm>
          <a:prstGeom prst="rect">
            <a:avLst/>
          </a:prstGeom>
          <a:noFill/>
          <a:ln/>
        </p:spPr>
        <p:txBody>
          <a:bodyPr wrap="square" lIns="0" tIns="0" rIns="0" bIns="0" rtlCol="0" anchor="ctr"/>
          <a:lstStyle/>
          <a:p>
            <a:pPr indent="0" marL="0">
              <a:buNone/>
            </a:pPr>
            <a:r>
              <a:rPr lang="en-US" sz="1000" b="1" spc="150" kern="0" dirty="0">
                <a:solidFill>
                  <a:srgbClr val="4C8DF6"/>
                </a:solidFill>
                <a:latin typeface="Calibri" pitchFamily="34" charset="0"/>
                <a:ea typeface="Calibri" pitchFamily="34" charset="-122"/>
                <a:cs typeface="Calibri" pitchFamily="34" charset="-120"/>
              </a:rPr>
              <a:t>FILTER</a:t>
            </a:r>
            <a:endParaRPr lang="en-US" sz="1000" dirty="0"/>
          </a:p>
        </p:txBody>
      </p:sp>
      <p:sp>
        <p:nvSpPr>
          <p:cNvPr id="14" name="Text 12"/>
          <p:cNvSpPr txBox="1"/>
          <p:nvPr/>
        </p:nvSpPr>
        <p:spPr>
          <a:xfrm>
            <a:off x="1600200" y="3465576"/>
            <a:ext cx="5760720" cy="548640"/>
          </a:xfrm>
          <a:prstGeom prst="rect">
            <a:avLst/>
          </a:prstGeom>
          <a:noFill/>
          <a:ln/>
        </p:spPr>
        <p:txBody>
          <a:bodyPr wrap="square" lIns="0" tIns="0" rIns="0" bIns="0" rtlCol="0" anchor="ctr"/>
          <a:lstStyle/>
          <a:p>
            <a:pPr indent="0" marL="0">
              <a:lnSpc>
                <a:spcPts val="1500"/>
              </a:lnSpc>
              <a:buNone/>
            </a:pPr>
            <a:r>
              <a:rPr lang="en-US" sz="1150" dirty="0">
                <a:solidFill>
                  <a:srgbClr val="5A6779"/>
                </a:solidFill>
                <a:latin typeface="Calibri" pitchFamily="34" charset="0"/>
                <a:ea typeface="Calibri" pitchFamily="34" charset="-122"/>
                <a:cs typeface="Calibri" pitchFamily="34" charset="-120"/>
              </a:rPr>
              <a:t>Width, not position. Position is a mean-reversion signal and would fight VWAP on every candidate. Width asks one thing: is the volatility regime expanding?</a:t>
            </a:r>
            <a:endParaRPr lang="en-US" sz="1150" dirty="0"/>
          </a:p>
        </p:txBody>
      </p:sp>
      <p:sp>
        <p:nvSpPr>
          <p:cNvPr id="15" name="Shape 13"/>
          <p:cNvSpPr/>
          <p:nvPr/>
        </p:nvSpPr>
        <p:spPr>
          <a:xfrm>
            <a:off x="640080" y="4197096"/>
            <a:ext cx="6949440" cy="1078992"/>
          </a:xfrm>
          <a:prstGeom prst="roundRect">
            <a:avLst>
              <a:gd name="adj" fmla="val 5085"/>
            </a:avLst>
          </a:prstGeom>
          <a:solidFill>
            <a:srgbClr val="F1F4F9"/>
          </a:solidFill>
          <a:ln w="12700">
            <a:solidFill>
              <a:srgbClr val="F1F4F9"/>
            </a:solidFill>
            <a:prstDash val="solid"/>
          </a:ln>
        </p:spPr>
      </p:sp>
      <p:sp>
        <p:nvSpPr>
          <p:cNvPr id="16" name="Shape 14"/>
          <p:cNvSpPr/>
          <p:nvPr/>
        </p:nvSpPr>
        <p:spPr>
          <a:xfrm>
            <a:off x="914400" y="4498848"/>
            <a:ext cx="475488" cy="475488"/>
          </a:xfrm>
          <a:prstGeom prst="ellipse">
            <a:avLst/>
          </a:prstGeom>
          <a:solidFill>
            <a:srgbClr val="E5484D"/>
          </a:solidFill>
          <a:ln/>
        </p:spPr>
      </p:sp>
      <p:sp>
        <p:nvSpPr>
          <p:cNvPr id="17" name="Text 15"/>
          <p:cNvSpPr txBox="1"/>
          <p:nvPr/>
        </p:nvSpPr>
        <p:spPr>
          <a:xfrm>
            <a:off x="1600200" y="4343400"/>
            <a:ext cx="2926080" cy="320040"/>
          </a:xfrm>
          <a:prstGeom prst="rect">
            <a:avLst/>
          </a:prstGeom>
          <a:noFill/>
          <a:ln/>
        </p:spPr>
        <p:txBody>
          <a:bodyPr wrap="square" lIns="0" tIns="0" rIns="0" bIns="0" rtlCol="0" anchor="ctr"/>
          <a:lstStyle/>
          <a:p>
            <a:pPr indent="0" marL="0">
              <a:buNone/>
            </a:pPr>
            <a:r>
              <a:rPr lang="en-US" sz="1600" b="1" dirty="0">
                <a:solidFill>
                  <a:srgbClr val="16202F"/>
                </a:solidFill>
                <a:latin typeface="Cambria" pitchFamily="34" charset="0"/>
                <a:ea typeface="Cambria" pitchFamily="34" charset="-122"/>
                <a:cs typeface="Cambria" pitchFamily="34" charset="-120"/>
              </a:rPr>
              <a:t>RSI</a:t>
            </a:r>
            <a:endParaRPr lang="en-US" sz="1600" dirty="0"/>
          </a:p>
        </p:txBody>
      </p:sp>
      <p:sp>
        <p:nvSpPr>
          <p:cNvPr id="18" name="Text 16"/>
          <p:cNvSpPr txBox="1"/>
          <p:nvPr/>
        </p:nvSpPr>
        <p:spPr>
          <a:xfrm>
            <a:off x="4526280" y="4379976"/>
            <a:ext cx="1371600" cy="256032"/>
          </a:xfrm>
          <a:prstGeom prst="rect">
            <a:avLst/>
          </a:prstGeom>
          <a:noFill/>
          <a:ln/>
        </p:spPr>
        <p:txBody>
          <a:bodyPr wrap="square" lIns="0" tIns="0" rIns="0" bIns="0" rtlCol="0" anchor="ctr"/>
          <a:lstStyle/>
          <a:p>
            <a:pPr indent="0" marL="0">
              <a:buNone/>
            </a:pPr>
            <a:r>
              <a:rPr lang="en-US" sz="1000" b="1" spc="150" kern="0" dirty="0">
                <a:solidFill>
                  <a:srgbClr val="E5484D"/>
                </a:solidFill>
                <a:latin typeface="Calibri" pitchFamily="34" charset="0"/>
                <a:ea typeface="Calibri" pitchFamily="34" charset="-122"/>
                <a:cs typeface="Calibri" pitchFamily="34" charset="-120"/>
              </a:rPr>
              <a:t>VETO ONLY</a:t>
            </a:r>
            <a:endParaRPr lang="en-US" sz="1000" dirty="0"/>
          </a:p>
        </p:txBody>
      </p:sp>
      <p:sp>
        <p:nvSpPr>
          <p:cNvPr id="19" name="Text 17"/>
          <p:cNvSpPr txBox="1"/>
          <p:nvPr/>
        </p:nvSpPr>
        <p:spPr>
          <a:xfrm>
            <a:off x="1600200" y="4672584"/>
            <a:ext cx="5760720" cy="548640"/>
          </a:xfrm>
          <a:prstGeom prst="rect">
            <a:avLst/>
          </a:prstGeom>
          <a:noFill/>
          <a:ln/>
        </p:spPr>
        <p:txBody>
          <a:bodyPr wrap="square" lIns="0" tIns="0" rIns="0" bIns="0" rtlCol="0" anchor="ctr"/>
          <a:lstStyle/>
          <a:p>
            <a:pPr indent="0" marL="0">
              <a:lnSpc>
                <a:spcPts val="1500"/>
              </a:lnSpc>
              <a:buNone/>
            </a:pPr>
            <a:r>
              <a:rPr lang="en-US" sz="1150" dirty="0">
                <a:solidFill>
                  <a:srgbClr val="5A6779"/>
                </a:solidFill>
                <a:latin typeface="Calibri" pitchFamily="34" charset="0"/>
                <a:ea typeface="Calibri" pitchFamily="34" charset="-122"/>
                <a:cs typeface="Calibri" pitchFamily="34" charset="-120"/>
              </a:rPr>
              <a:t>One-sided, at 80/20 rather than 70/30. Strong momentum carries elevated RSI for long stretches, so a tight threshold rejects exactly the trades this book exists to take.</a:t>
            </a:r>
            <a:endParaRPr lang="en-US" sz="1150" dirty="0"/>
          </a:p>
        </p:txBody>
      </p:sp>
      <p:sp>
        <p:nvSpPr>
          <p:cNvPr id="20" name="Shape 18"/>
          <p:cNvSpPr/>
          <p:nvPr/>
        </p:nvSpPr>
        <p:spPr>
          <a:xfrm>
            <a:off x="7863840" y="1783080"/>
            <a:ext cx="3657600" cy="3529584"/>
          </a:xfrm>
          <a:prstGeom prst="roundRect">
            <a:avLst>
              <a:gd name="adj" fmla="val 1554"/>
            </a:avLst>
          </a:prstGeom>
          <a:solidFill>
            <a:srgbClr val="0F1A2E"/>
          </a:solidFill>
          <a:ln w="12700">
            <a:solidFill>
              <a:srgbClr val="0F1A2E"/>
            </a:solidFill>
            <a:prstDash val="solid"/>
          </a:ln>
        </p:spPr>
      </p:sp>
      <p:sp>
        <p:nvSpPr>
          <p:cNvPr id="21" name="Text 19"/>
          <p:cNvSpPr txBox="1"/>
          <p:nvPr/>
        </p:nvSpPr>
        <p:spPr>
          <a:xfrm>
            <a:off x="8183880" y="1965960"/>
            <a:ext cx="3108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non-generic layer</a:t>
            </a:r>
            <a:endParaRPr lang="en-US" sz="1600" dirty="0"/>
          </a:p>
        </p:txBody>
      </p:sp>
      <p:sp>
        <p:nvSpPr>
          <p:cNvPr id="22" name="Text 20"/>
          <p:cNvSpPr txBox="1"/>
          <p:nvPr/>
        </p:nvSpPr>
        <p:spPr>
          <a:xfrm>
            <a:off x="8183880" y="2377440"/>
            <a:ext cx="3108960" cy="68580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A VWAP cross with no reason behind it is drift, and drift reverts. A cross with a mechanism persists.</a:t>
            </a:r>
            <a:endParaRPr lang="en-US" sz="1200" dirty="0"/>
          </a:p>
        </p:txBody>
      </p:sp>
      <p:sp>
        <p:nvSpPr>
          <p:cNvPr id="23" name="Text 21"/>
          <p:cNvSpPr txBox="1"/>
          <p:nvPr/>
        </p:nvSpPr>
        <p:spPr>
          <a:xfrm>
            <a:off x="8183880" y="3154680"/>
            <a:ext cx="310896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Catalyst score</a:t>
            </a:r>
            <a:endParaRPr lang="en-US" sz="1100" dirty="0"/>
          </a:p>
        </p:txBody>
      </p:sp>
      <p:sp>
        <p:nvSpPr>
          <p:cNvPr id="24" name="Text 22"/>
          <p:cNvSpPr txBox="1"/>
          <p:nvPr/>
        </p:nvSpPr>
        <p:spPr>
          <a:xfrm>
            <a:off x="8183880" y="3474720"/>
            <a:ext cx="237744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News</a:t>
            </a:r>
            <a:endParaRPr lang="en-US" sz="1200" dirty="0"/>
          </a:p>
        </p:txBody>
      </p:sp>
      <p:sp>
        <p:nvSpPr>
          <p:cNvPr id="25" name="Text 23"/>
          <p:cNvSpPr txBox="1"/>
          <p:nvPr/>
        </p:nvSpPr>
        <p:spPr>
          <a:xfrm>
            <a:off x="10515600" y="3474720"/>
            <a:ext cx="777240" cy="274320"/>
          </a:xfrm>
          <a:prstGeom prst="rect">
            <a:avLst/>
          </a:prstGeom>
          <a:noFill/>
          <a:ln/>
        </p:spPr>
        <p:txBody>
          <a:bodyPr wrap="square" lIns="0" tIns="0" rIns="0" bIns="0" rtlCol="0" anchor="ctr"/>
          <a:lstStyle/>
          <a:p>
            <a:pPr algn="r" indent="0" marL="0">
              <a:buNone/>
            </a:pPr>
            <a:r>
              <a:rPr lang="en-US" sz="1200" b="1" dirty="0">
                <a:solidFill>
                  <a:srgbClr val="E8A33D"/>
                </a:solidFill>
                <a:latin typeface="Courier New" pitchFamily="34" charset="0"/>
                <a:ea typeface="Courier New" pitchFamily="34" charset="-122"/>
                <a:cs typeface="Courier New" pitchFamily="34" charset="-120"/>
              </a:rPr>
              <a:t>0.50</a:t>
            </a:r>
            <a:endParaRPr lang="en-US" sz="1200" dirty="0"/>
          </a:p>
        </p:txBody>
      </p:sp>
      <p:sp>
        <p:nvSpPr>
          <p:cNvPr id="26" name="Text 24"/>
          <p:cNvSpPr txBox="1"/>
          <p:nvPr/>
        </p:nvSpPr>
        <p:spPr>
          <a:xfrm>
            <a:off x="8183880" y="3803904"/>
            <a:ext cx="237744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Breadth</a:t>
            </a:r>
            <a:endParaRPr lang="en-US" sz="1200" dirty="0"/>
          </a:p>
        </p:txBody>
      </p:sp>
      <p:sp>
        <p:nvSpPr>
          <p:cNvPr id="27" name="Text 25"/>
          <p:cNvSpPr txBox="1"/>
          <p:nvPr/>
        </p:nvSpPr>
        <p:spPr>
          <a:xfrm>
            <a:off x="10515600" y="3803904"/>
            <a:ext cx="777240" cy="274320"/>
          </a:xfrm>
          <a:prstGeom prst="rect">
            <a:avLst/>
          </a:prstGeom>
          <a:noFill/>
          <a:ln/>
        </p:spPr>
        <p:txBody>
          <a:bodyPr wrap="square" lIns="0" tIns="0" rIns="0" bIns="0" rtlCol="0" anchor="ctr"/>
          <a:lstStyle/>
          <a:p>
            <a:pPr algn="r" indent="0" marL="0">
              <a:buNone/>
            </a:pPr>
            <a:r>
              <a:rPr lang="en-US" sz="1200" b="1" dirty="0">
                <a:solidFill>
                  <a:srgbClr val="E8A33D"/>
                </a:solidFill>
                <a:latin typeface="Courier New" pitchFamily="34" charset="0"/>
                <a:ea typeface="Courier New" pitchFamily="34" charset="-122"/>
                <a:cs typeface="Courier New" pitchFamily="34" charset="-120"/>
              </a:rPr>
              <a:t>0.35</a:t>
            </a:r>
            <a:endParaRPr lang="en-US" sz="1200" dirty="0"/>
          </a:p>
        </p:txBody>
      </p:sp>
      <p:sp>
        <p:nvSpPr>
          <p:cNvPr id="28" name="Text 26"/>
          <p:cNvSpPr txBox="1"/>
          <p:nvPr/>
        </p:nvSpPr>
        <p:spPr>
          <a:xfrm>
            <a:off x="8183880" y="4133088"/>
            <a:ext cx="237744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Volume participation</a:t>
            </a:r>
            <a:endParaRPr lang="en-US" sz="1200" dirty="0"/>
          </a:p>
        </p:txBody>
      </p:sp>
      <p:sp>
        <p:nvSpPr>
          <p:cNvPr id="29" name="Text 27"/>
          <p:cNvSpPr txBox="1"/>
          <p:nvPr/>
        </p:nvSpPr>
        <p:spPr>
          <a:xfrm>
            <a:off x="10515600" y="4133088"/>
            <a:ext cx="777240" cy="274320"/>
          </a:xfrm>
          <a:prstGeom prst="rect">
            <a:avLst/>
          </a:prstGeom>
          <a:noFill/>
          <a:ln/>
        </p:spPr>
        <p:txBody>
          <a:bodyPr wrap="square" lIns="0" tIns="0" rIns="0" bIns="0" rtlCol="0" anchor="ctr"/>
          <a:lstStyle/>
          <a:p>
            <a:pPr algn="r" indent="0" marL="0">
              <a:buNone/>
            </a:pPr>
            <a:r>
              <a:rPr lang="en-US" sz="1200" b="1" dirty="0">
                <a:solidFill>
                  <a:srgbClr val="E8A33D"/>
                </a:solidFill>
                <a:latin typeface="Courier New" pitchFamily="34" charset="0"/>
                <a:ea typeface="Courier New" pitchFamily="34" charset="-122"/>
                <a:cs typeface="Courier New" pitchFamily="34" charset="-120"/>
              </a:rPr>
              <a:t>0.15</a:t>
            </a:r>
            <a:endParaRPr lang="en-US" sz="1200" dirty="0"/>
          </a:p>
        </p:txBody>
      </p:sp>
      <p:sp>
        <p:nvSpPr>
          <p:cNvPr id="30" name="Text 28"/>
          <p:cNvSpPr txBox="1"/>
          <p:nvPr/>
        </p:nvSpPr>
        <p:spPr>
          <a:xfrm>
            <a:off x="8183880" y="4526280"/>
            <a:ext cx="3108960" cy="731520"/>
          </a:xfrm>
          <a:prstGeom prst="rect">
            <a:avLst/>
          </a:prstGeom>
          <a:noFill/>
          <a:ln/>
        </p:spPr>
        <p:txBody>
          <a:bodyPr wrap="square" lIns="0" tIns="0" rIns="0" bIns="0" rtlCol="0" anchor="ctr"/>
          <a:lstStyle/>
          <a:p>
            <a:pPr indent="0" marL="0">
              <a:lnSpc>
                <a:spcPts val="1400"/>
              </a:lnSpc>
              <a:buNone/>
            </a:pPr>
            <a:r>
              <a:rPr lang="en-US" sz="1050" dirty="0">
                <a:solidFill>
                  <a:srgbClr val="CADCFC"/>
                </a:solidFill>
                <a:latin typeface="Calibri" pitchFamily="34" charset="0"/>
                <a:ea typeface="Calibri" pitchFamily="34" charset="-122"/>
                <a:cs typeface="Calibri" pitchFamily="34" charset="-120"/>
              </a:rPr>
              <a:t>Rank-normalised within each source before the weights are applied — raw units across sources are not comparable. Deterministic by default: an LLM call inside a loop whose signal decays in minutes is a latency risk.</a:t>
            </a:r>
            <a:endParaRPr lang="en-US" sz="1050" dirty="0"/>
          </a:p>
        </p:txBody>
      </p:sp>
      <p:sp>
        <p:nvSpPr>
          <p:cNvPr id="31" name="Shape 29"/>
          <p:cNvSpPr/>
          <p:nvPr/>
        </p:nvSpPr>
        <p:spPr>
          <a:xfrm>
            <a:off x="640080" y="5440680"/>
            <a:ext cx="10881360" cy="1143000"/>
          </a:xfrm>
          <a:prstGeom prst="roundRect">
            <a:avLst>
              <a:gd name="adj" fmla="val 4800"/>
            </a:avLst>
          </a:prstGeom>
          <a:solidFill>
            <a:srgbClr val="F1F4F9"/>
          </a:solidFill>
          <a:ln w="12700">
            <a:solidFill>
              <a:srgbClr val="F1F4F9"/>
            </a:solidFill>
            <a:prstDash val="solid"/>
          </a:ln>
        </p:spPr>
      </p:sp>
      <p:sp>
        <p:nvSpPr>
          <p:cNvPr id="32" name="Text 30"/>
          <p:cNvSpPr txBox="1"/>
          <p:nvPr/>
        </p:nvSpPr>
        <p:spPr>
          <a:xfrm>
            <a:off x="914400" y="5559552"/>
            <a:ext cx="4572000" cy="292608"/>
          </a:xfrm>
          <a:prstGeom prst="rect">
            <a:avLst/>
          </a:prstGeom>
          <a:noFill/>
          <a:ln/>
        </p:spPr>
        <p:txBody>
          <a:bodyPr wrap="square" lIns="0" tIns="0" rIns="0" bIns="0" rtlCol="0" anchor="ctr"/>
          <a:lstStyle/>
          <a:p>
            <a:pPr indent="0" marL="0">
              <a:buNone/>
            </a:pPr>
            <a:r>
              <a:rPr lang="en-US" sz="1400" b="1" dirty="0">
                <a:solidFill>
                  <a:srgbClr val="16202F"/>
                </a:solidFill>
                <a:latin typeface="Cambria" pitchFamily="34" charset="0"/>
                <a:ea typeface="Cambria" pitchFamily="34" charset="-122"/>
                <a:cs typeface="Cambria" pitchFamily="34" charset="-120"/>
              </a:rPr>
              <a:t>Hard, always: the spread gate</a:t>
            </a:r>
            <a:endParaRPr lang="en-US" sz="1400" dirty="0"/>
          </a:p>
        </p:txBody>
      </p:sp>
      <p:sp>
        <p:nvSpPr>
          <p:cNvPr id="33" name="Text 31"/>
          <p:cNvSpPr txBox="1"/>
          <p:nvPr/>
        </p:nvSpPr>
        <p:spPr>
          <a:xfrm>
            <a:off x="914400" y="5870448"/>
            <a:ext cx="5669280" cy="292608"/>
          </a:xfrm>
          <a:prstGeom prst="rect">
            <a:avLst/>
          </a:prstGeom>
          <a:noFill/>
          <a:ln/>
        </p:spPr>
        <p:txBody>
          <a:bodyPr wrap="square" lIns="0" tIns="0" rIns="0" bIns="0" rtlCol="0" anchor="ctr"/>
          <a:lstStyle/>
          <a:p>
            <a:pPr indent="0" marL="0">
              <a:buNone/>
            </a:pPr>
            <a:r>
              <a:rPr lang="en-US" sz="1250" dirty="0">
                <a:solidFill>
                  <a:srgbClr val="E5484D"/>
                </a:solidFill>
                <a:latin typeface="Courier New" pitchFamily="34" charset="0"/>
                <a:ea typeface="Courier New" pitchFamily="34" charset="-122"/>
                <a:cs typeface="Courier New" pitchFamily="34" charset="-120"/>
              </a:rPr>
              <a:t>(ask − bid) / mid ≤ 4%   and   round-trip spread ≤ 30% of target</a:t>
            </a:r>
            <a:endParaRPr lang="en-US" sz="1250" dirty="0"/>
          </a:p>
        </p:txBody>
      </p:sp>
      <p:sp>
        <p:nvSpPr>
          <p:cNvPr id="34" name="Text 32"/>
          <p:cNvSpPr txBox="1"/>
          <p:nvPr/>
        </p:nvSpPr>
        <p:spPr>
          <a:xfrm>
            <a:off x="6766560" y="5559552"/>
            <a:ext cx="4526280" cy="914400"/>
          </a:xfrm>
          <a:prstGeom prst="rect">
            <a:avLst/>
          </a:prstGeom>
          <a:noFill/>
          <a:ln/>
        </p:spPr>
        <p:txBody>
          <a:bodyPr wrap="square" lIns="0" tIns="0" rIns="0" bIns="0" rtlCol="0" anchor="ctr"/>
          <a:lstStyle/>
          <a:p>
            <a:pPr indent="0" marL="0">
              <a:lnSpc>
                <a:spcPts val="1400"/>
              </a:lnSpc>
              <a:buNone/>
            </a:pPr>
            <a:r>
              <a:rPr lang="en-US" sz="1050" dirty="0">
                <a:solidFill>
                  <a:srgbClr val="5A6779"/>
                </a:solidFill>
                <a:latin typeface="Calibri" pitchFamily="34" charset="0"/>
                <a:ea typeface="Calibri" pitchFamily="34" charset="-122"/>
                <a:cs typeface="Calibri" pitchFamily="34" charset="-120"/>
              </a:rPr>
              <a:t>Target profit is $10–30 on a $2.00 contract. A $0.10-wide single-name quote costs $20 round trip — the whole target. Index ETFs only; the ceiling was 2% until measurement showed the tightest quote in the universe was 2.84%, so the gate was rejecting the market rather than selecting within 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E"/>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E8A33D"/>
                </a:solidFill>
                <a:latin typeface="Calibri" pitchFamily="34" charset="0"/>
                <a:ea typeface="Calibri" pitchFamily="34" charset="-122"/>
                <a:cs typeface="Calibri" pitchFamily="34" charset="-120"/>
              </a:rPr>
              <a:t>INTRADAY BOOK · THE DESIGN DECISION</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Eight vetoes in a row is not a strategy</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Each gate passed roughly 70% of candidates. Stacked as hard vetoes, that is 0.7⁸ ≈ 6% — a book arithmetically designed almost never to fire.</a:t>
            </a:r>
            <a:endParaRPr lang="en-US" sz="1450" dirty="0"/>
          </a:p>
        </p:txBody>
      </p:sp>
      <p:sp>
        <p:nvSpPr>
          <p:cNvPr id="5" name="Shape 3"/>
          <p:cNvSpPr/>
          <p:nvPr/>
        </p:nvSpPr>
        <p:spPr>
          <a:xfrm>
            <a:off x="640080" y="1783080"/>
            <a:ext cx="5029200" cy="2286000"/>
          </a:xfrm>
          <a:prstGeom prst="roundRect">
            <a:avLst>
              <a:gd name="adj" fmla="val 2400"/>
            </a:avLst>
          </a:prstGeom>
          <a:solidFill>
            <a:srgbClr val="1B2A45"/>
          </a:solidFill>
          <a:ln w="12700">
            <a:solidFill>
              <a:srgbClr val="1B2A45"/>
            </a:solidFill>
            <a:prstDash val="solid"/>
          </a:ln>
        </p:spPr>
      </p:sp>
      <p:sp>
        <p:nvSpPr>
          <p:cNvPr id="6" name="Text 4"/>
          <p:cNvSpPr txBox="1"/>
          <p:nvPr/>
        </p:nvSpPr>
        <p:spPr>
          <a:xfrm>
            <a:off x="960120" y="1965960"/>
            <a:ext cx="4480560" cy="274320"/>
          </a:xfrm>
          <a:prstGeom prst="rect">
            <a:avLst/>
          </a:prstGeom>
          <a:noFill/>
          <a:ln/>
        </p:spPr>
        <p:txBody>
          <a:bodyPr wrap="square" lIns="0" tIns="0" rIns="0" bIns="0" rtlCol="0" anchor="ctr"/>
          <a:lstStyle/>
          <a:p>
            <a:pPr indent="0" marL="0">
              <a:buNone/>
            </a:pPr>
            <a:r>
              <a:rPr lang="en-US" sz="1150" b="1" dirty="0">
                <a:solidFill>
                  <a:srgbClr val="E8A33D"/>
                </a:solidFill>
                <a:latin typeface="Calibri" pitchFamily="34" charset="0"/>
                <a:ea typeface="Calibri" pitchFamily="34" charset="-122"/>
                <a:cs typeface="Calibri" pitchFamily="34" charset="-120"/>
              </a:rPr>
              <a:t>Measured over 864 candidates, 9 sessions</a:t>
            </a:r>
            <a:endParaRPr lang="en-US" sz="1150" dirty="0"/>
          </a:p>
        </p:txBody>
      </p:sp>
      <p:sp>
        <p:nvSpPr>
          <p:cNvPr id="7" name="Text 5"/>
          <p:cNvSpPr txBox="1"/>
          <p:nvPr/>
        </p:nvSpPr>
        <p:spPr>
          <a:xfrm>
            <a:off x="960120" y="2286000"/>
            <a:ext cx="1737360" cy="6400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424</a:t>
            </a:r>
            <a:endParaRPr lang="en-US" sz="4400" dirty="0"/>
          </a:p>
        </p:txBody>
      </p:sp>
      <p:sp>
        <p:nvSpPr>
          <p:cNvPr id="8" name="Text 6"/>
          <p:cNvSpPr txBox="1"/>
          <p:nvPr/>
        </p:nvSpPr>
        <p:spPr>
          <a:xfrm>
            <a:off x="2743200" y="2606040"/>
            <a:ext cx="27432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died on the volume gate alone</a:t>
            </a:r>
            <a:endParaRPr lang="en-US" sz="1200" dirty="0"/>
          </a:p>
        </p:txBody>
      </p:sp>
      <p:sp>
        <p:nvSpPr>
          <p:cNvPr id="9" name="Text 7"/>
          <p:cNvSpPr txBox="1"/>
          <p:nvPr/>
        </p:nvSpPr>
        <p:spPr>
          <a:xfrm>
            <a:off x="960120" y="3017520"/>
            <a:ext cx="1737360" cy="640080"/>
          </a:xfrm>
          <a:prstGeom prst="rect">
            <a:avLst/>
          </a:prstGeom>
          <a:noFill/>
          <a:ln/>
        </p:spPr>
        <p:txBody>
          <a:bodyPr wrap="square" lIns="0" tIns="0" rIns="0" bIns="0" rtlCol="0" anchor="ctr"/>
          <a:lstStyle/>
          <a:p>
            <a:pPr indent="0" marL="0">
              <a:buNone/>
            </a:pPr>
            <a:r>
              <a:rPr lang="en-US" sz="4400" b="1" dirty="0">
                <a:solidFill>
                  <a:srgbClr val="E5484D"/>
                </a:solidFill>
                <a:latin typeface="Cambria" pitchFamily="34" charset="0"/>
                <a:ea typeface="Cambria" pitchFamily="34" charset="-122"/>
                <a:cs typeface="Cambria" pitchFamily="34" charset="-120"/>
              </a:rPr>
              <a:t>0</a:t>
            </a:r>
            <a:endParaRPr lang="en-US" sz="4400" dirty="0"/>
          </a:p>
        </p:txBody>
      </p:sp>
      <p:sp>
        <p:nvSpPr>
          <p:cNvPr id="10" name="Text 8"/>
          <p:cNvSpPr txBox="1"/>
          <p:nvPr/>
        </p:nvSpPr>
        <p:spPr>
          <a:xfrm>
            <a:off x="2743200" y="3108960"/>
            <a:ext cx="2743200" cy="777240"/>
          </a:xfrm>
          <a:prstGeom prst="rect">
            <a:avLst/>
          </a:prstGeom>
          <a:noFill/>
          <a:ln/>
        </p:spPr>
        <p:txBody>
          <a:bodyPr wrap="square" lIns="0" tIns="0" rIns="0" bIns="0" rtlCol="0" anchor="ctr"/>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survived the whole chain. Loosening any one gate simply promoted the next one to being the wall.</a:t>
            </a:r>
            <a:endParaRPr lang="en-US" sz="1200" dirty="0"/>
          </a:p>
        </p:txBody>
      </p:sp>
      <p:sp>
        <p:nvSpPr>
          <p:cNvPr id="11" name="Shape 9"/>
          <p:cNvSpPr/>
          <p:nvPr/>
        </p:nvSpPr>
        <p:spPr>
          <a:xfrm>
            <a:off x="5943600" y="1783080"/>
            <a:ext cx="5577840" cy="2286000"/>
          </a:xfrm>
          <a:prstGeom prst="roundRect">
            <a:avLst>
              <a:gd name="adj" fmla="val 2400"/>
            </a:avLst>
          </a:prstGeom>
          <a:solidFill>
            <a:srgbClr val="1B2A45"/>
          </a:solidFill>
          <a:ln w="12700">
            <a:solidFill>
              <a:srgbClr val="1B2A45"/>
            </a:solidFill>
            <a:prstDash val="solid"/>
          </a:ln>
        </p:spPr>
      </p:sp>
      <p:sp>
        <p:nvSpPr>
          <p:cNvPr id="12" name="Text 10"/>
          <p:cNvSpPr txBox="1"/>
          <p:nvPr/>
        </p:nvSpPr>
        <p:spPr>
          <a:xfrm>
            <a:off x="6263640" y="1965960"/>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The fix: two hard gates, everything else votes</a:t>
            </a:r>
            <a:endParaRPr lang="en-US" sz="1300" dirty="0"/>
          </a:p>
        </p:txBody>
      </p:sp>
      <p:sp>
        <p:nvSpPr>
          <p:cNvPr id="13" name="Text 11"/>
          <p:cNvSpPr txBox="1"/>
          <p:nvPr/>
        </p:nvSpPr>
        <p:spPr>
          <a:xfrm>
            <a:off x="6263640" y="2377440"/>
            <a:ext cx="1691640" cy="45720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VWAP trigger</a:t>
            </a:r>
            <a:endParaRPr lang="en-US" sz="1200" dirty="0"/>
          </a:p>
        </p:txBody>
      </p:sp>
      <p:sp>
        <p:nvSpPr>
          <p:cNvPr id="14" name="Text 12"/>
          <p:cNvSpPr txBox="1"/>
          <p:nvPr/>
        </p:nvSpPr>
        <p:spPr>
          <a:xfrm>
            <a:off x="8001000" y="2377440"/>
            <a:ext cx="3291840" cy="502920"/>
          </a:xfrm>
          <a:prstGeom prst="rect">
            <a:avLst/>
          </a:prstGeom>
          <a:noFill/>
          <a:ln/>
        </p:spPr>
        <p:txBody>
          <a:bodyPr wrap="square" lIns="0" tIns="0" rIns="0" bIns="0" rtlCol="0" anchor="ctr"/>
          <a:lstStyle/>
          <a:p>
            <a:pPr indent="0" marL="0">
              <a:lnSpc>
                <a:spcPts val="1400"/>
              </a:lnSpc>
              <a:buNone/>
            </a:pPr>
            <a:r>
              <a:rPr lang="en-US" sz="1150" dirty="0">
                <a:solidFill>
                  <a:srgbClr val="CADCFC"/>
                </a:solidFill>
                <a:latin typeface="Calibri" pitchFamily="34" charset="0"/>
                <a:ea typeface="Calibri" pitchFamily="34" charset="-122"/>
                <a:cs typeface="Calibri" pitchFamily="34" charset="-120"/>
              </a:rPr>
              <a:t>stays HARD — it decides direction. Without it there is no trade to make.</a:t>
            </a:r>
            <a:endParaRPr lang="en-US" sz="1150" dirty="0"/>
          </a:p>
        </p:txBody>
      </p:sp>
      <p:sp>
        <p:nvSpPr>
          <p:cNvPr id="15" name="Text 13"/>
          <p:cNvSpPr txBox="1"/>
          <p:nvPr/>
        </p:nvSpPr>
        <p:spPr>
          <a:xfrm>
            <a:off x="6263640" y="2926080"/>
            <a:ext cx="1691640" cy="45720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Spread gate</a:t>
            </a:r>
            <a:endParaRPr lang="en-US" sz="1200" dirty="0"/>
          </a:p>
        </p:txBody>
      </p:sp>
      <p:sp>
        <p:nvSpPr>
          <p:cNvPr id="16" name="Text 14"/>
          <p:cNvSpPr txBox="1"/>
          <p:nvPr/>
        </p:nvSpPr>
        <p:spPr>
          <a:xfrm>
            <a:off x="8001000" y="2926080"/>
            <a:ext cx="3291840" cy="502920"/>
          </a:xfrm>
          <a:prstGeom prst="rect">
            <a:avLst/>
          </a:prstGeom>
          <a:noFill/>
          <a:ln/>
        </p:spPr>
        <p:txBody>
          <a:bodyPr wrap="square" lIns="0" tIns="0" rIns="0" bIns="0" rtlCol="0" anchor="ctr"/>
          <a:lstStyle/>
          <a:p>
            <a:pPr indent="0" marL="0">
              <a:lnSpc>
                <a:spcPts val="1400"/>
              </a:lnSpc>
              <a:buNone/>
            </a:pPr>
            <a:r>
              <a:rPr lang="en-US" sz="1150" dirty="0">
                <a:solidFill>
                  <a:srgbClr val="CADCFC"/>
                </a:solidFill>
                <a:latin typeface="Calibri" pitchFamily="34" charset="0"/>
                <a:ea typeface="Calibri" pitchFamily="34" charset="-122"/>
                <a:cs typeface="Calibri" pitchFamily="34" charset="-120"/>
              </a:rPr>
              <a:t>stays HARD — it is economics, not evidence.</a:t>
            </a:r>
            <a:endParaRPr lang="en-US" sz="1150" dirty="0"/>
          </a:p>
        </p:txBody>
      </p:sp>
      <p:sp>
        <p:nvSpPr>
          <p:cNvPr id="17" name="Text 15"/>
          <p:cNvSpPr txBox="1"/>
          <p:nvPr/>
        </p:nvSpPr>
        <p:spPr>
          <a:xfrm>
            <a:off x="6263640" y="3474720"/>
            <a:ext cx="1691640" cy="45720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Everything else</a:t>
            </a:r>
            <a:endParaRPr lang="en-US" sz="1200" dirty="0"/>
          </a:p>
        </p:txBody>
      </p:sp>
      <p:sp>
        <p:nvSpPr>
          <p:cNvPr id="18" name="Text 16"/>
          <p:cNvSpPr txBox="1"/>
          <p:nvPr/>
        </p:nvSpPr>
        <p:spPr>
          <a:xfrm>
            <a:off x="8001000" y="3474720"/>
            <a:ext cx="3291840" cy="502920"/>
          </a:xfrm>
          <a:prstGeom prst="rect">
            <a:avLst/>
          </a:prstGeom>
          <a:noFill/>
          <a:ln/>
        </p:spPr>
        <p:txBody>
          <a:bodyPr wrap="square" lIns="0" tIns="0" rIns="0" bIns="0" rtlCol="0" anchor="ctr"/>
          <a:lstStyle/>
          <a:p>
            <a:pPr indent="0" marL="0">
              <a:lnSpc>
                <a:spcPts val="1400"/>
              </a:lnSpc>
              <a:buNone/>
            </a:pPr>
            <a:r>
              <a:rPr lang="en-US" sz="1150" dirty="0">
                <a:solidFill>
                  <a:srgbClr val="CADCFC"/>
                </a:solidFill>
                <a:latin typeface="Calibri" pitchFamily="34" charset="0"/>
                <a:ea typeface="Calibri" pitchFamily="34" charset="-122"/>
                <a:cs typeface="Calibri" pitchFamily="34" charset="-120"/>
              </a:rPr>
              <a:t>votes. Three of the available votes must agree.</a:t>
            </a:r>
            <a:endParaRPr lang="en-US" sz="1150" dirty="0"/>
          </a:p>
        </p:txBody>
      </p:sp>
      <p:sp>
        <p:nvSpPr>
          <p:cNvPr id="19" name="Text 17"/>
          <p:cNvSpPr txBox="1"/>
          <p:nvPr/>
        </p:nvSpPr>
        <p:spPr>
          <a:xfrm>
            <a:off x="640080" y="4297680"/>
            <a:ext cx="1088136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The seven voters — each asks a question the others cannot answer</a:t>
            </a:r>
            <a:endParaRPr lang="en-US" sz="1300" dirty="0"/>
          </a:p>
        </p:txBody>
      </p:sp>
      <p:sp>
        <p:nvSpPr>
          <p:cNvPr id="20" name="Shape 18"/>
          <p:cNvSpPr/>
          <p:nvPr/>
        </p:nvSpPr>
        <p:spPr>
          <a:xfrm>
            <a:off x="640080" y="4663440"/>
            <a:ext cx="2606040" cy="749808"/>
          </a:xfrm>
          <a:prstGeom prst="roundRect">
            <a:avLst>
              <a:gd name="adj" fmla="val 7317"/>
            </a:avLst>
          </a:prstGeom>
          <a:solidFill>
            <a:srgbClr val="1B2A45"/>
          </a:solidFill>
          <a:ln w="12700">
            <a:solidFill>
              <a:srgbClr val="1B2A45"/>
            </a:solidFill>
            <a:prstDash val="solid"/>
          </a:ln>
        </p:spPr>
      </p:sp>
      <p:sp>
        <p:nvSpPr>
          <p:cNvPr id="21" name="Text 19"/>
          <p:cNvSpPr txBox="1"/>
          <p:nvPr/>
        </p:nvSpPr>
        <p:spPr>
          <a:xfrm>
            <a:off x="822960" y="473659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Volume z ≥ 0.5</a:t>
            </a:r>
            <a:endParaRPr lang="en-US" sz="1200" dirty="0"/>
          </a:p>
        </p:txBody>
      </p:sp>
      <p:sp>
        <p:nvSpPr>
          <p:cNvPr id="22" name="Text 20"/>
          <p:cNvSpPr txBox="1"/>
          <p:nvPr/>
        </p:nvSpPr>
        <p:spPr>
          <a:xfrm>
            <a:off x="822960" y="501091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in the same time-of-day bucket</a:t>
            </a:r>
            <a:endParaRPr lang="en-US" sz="1050" dirty="0"/>
          </a:p>
        </p:txBody>
      </p:sp>
      <p:sp>
        <p:nvSpPr>
          <p:cNvPr id="23" name="Shape 21"/>
          <p:cNvSpPr/>
          <p:nvPr/>
        </p:nvSpPr>
        <p:spPr>
          <a:xfrm>
            <a:off x="3410712" y="4663440"/>
            <a:ext cx="2606040" cy="749808"/>
          </a:xfrm>
          <a:prstGeom prst="roundRect">
            <a:avLst>
              <a:gd name="adj" fmla="val 7317"/>
            </a:avLst>
          </a:prstGeom>
          <a:solidFill>
            <a:srgbClr val="1B2A45"/>
          </a:solidFill>
          <a:ln w="12700">
            <a:solidFill>
              <a:srgbClr val="1B2A45"/>
            </a:solidFill>
            <a:prstDash val="solid"/>
          </a:ln>
        </p:spPr>
      </p:sp>
      <p:sp>
        <p:nvSpPr>
          <p:cNvPr id="24" name="Text 22"/>
          <p:cNvSpPr txBox="1"/>
          <p:nvPr/>
        </p:nvSpPr>
        <p:spPr>
          <a:xfrm>
            <a:off x="3593592" y="473659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Persistence</a:t>
            </a:r>
            <a:endParaRPr lang="en-US" sz="1200" dirty="0"/>
          </a:p>
        </p:txBody>
      </p:sp>
      <p:sp>
        <p:nvSpPr>
          <p:cNvPr id="25" name="Text 23"/>
          <p:cNvSpPr txBox="1"/>
          <p:nvPr/>
        </p:nvSpPr>
        <p:spPr>
          <a:xfrm>
            <a:off x="3593592" y="501091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2 bars — not a single-bar spike</a:t>
            </a:r>
            <a:endParaRPr lang="en-US" sz="1050" dirty="0"/>
          </a:p>
        </p:txBody>
      </p:sp>
      <p:sp>
        <p:nvSpPr>
          <p:cNvPr id="26" name="Shape 24"/>
          <p:cNvSpPr/>
          <p:nvPr/>
        </p:nvSpPr>
        <p:spPr>
          <a:xfrm>
            <a:off x="6181344" y="4663440"/>
            <a:ext cx="2606040" cy="749808"/>
          </a:xfrm>
          <a:prstGeom prst="roundRect">
            <a:avLst>
              <a:gd name="adj" fmla="val 7317"/>
            </a:avLst>
          </a:prstGeom>
          <a:solidFill>
            <a:srgbClr val="1B2A45"/>
          </a:solidFill>
          <a:ln w="12700">
            <a:solidFill>
              <a:srgbClr val="1B2A45"/>
            </a:solidFill>
            <a:prstDash val="solid"/>
          </a:ln>
        </p:spPr>
      </p:sp>
      <p:sp>
        <p:nvSpPr>
          <p:cNvPr id="27" name="Text 25"/>
          <p:cNvSpPr txBox="1"/>
          <p:nvPr/>
        </p:nvSpPr>
        <p:spPr>
          <a:xfrm>
            <a:off x="6364224" y="473659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Band width rising</a:t>
            </a:r>
            <a:endParaRPr lang="en-US" sz="1200" dirty="0"/>
          </a:p>
        </p:txBody>
      </p:sp>
      <p:sp>
        <p:nvSpPr>
          <p:cNvPr id="28" name="Text 26"/>
          <p:cNvSpPr txBox="1"/>
          <p:nvPr/>
        </p:nvSpPr>
        <p:spPr>
          <a:xfrm>
            <a:off x="6364224" y="501091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is the regime expanding?</a:t>
            </a:r>
            <a:endParaRPr lang="en-US" sz="1050" dirty="0"/>
          </a:p>
        </p:txBody>
      </p:sp>
      <p:sp>
        <p:nvSpPr>
          <p:cNvPr id="29" name="Shape 27"/>
          <p:cNvSpPr/>
          <p:nvPr/>
        </p:nvSpPr>
        <p:spPr>
          <a:xfrm>
            <a:off x="8951976" y="4663440"/>
            <a:ext cx="2606040" cy="749808"/>
          </a:xfrm>
          <a:prstGeom prst="roundRect">
            <a:avLst>
              <a:gd name="adj" fmla="val 7317"/>
            </a:avLst>
          </a:prstGeom>
          <a:solidFill>
            <a:srgbClr val="1B2A45"/>
          </a:solidFill>
          <a:ln w="12700">
            <a:solidFill>
              <a:srgbClr val="1B2A45"/>
            </a:solidFill>
            <a:prstDash val="solid"/>
          </a:ln>
        </p:spPr>
      </p:sp>
      <p:sp>
        <p:nvSpPr>
          <p:cNvPr id="30" name="Text 28"/>
          <p:cNvSpPr txBox="1"/>
          <p:nvPr/>
        </p:nvSpPr>
        <p:spPr>
          <a:xfrm>
            <a:off x="9134856" y="473659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Higher timeframe</a:t>
            </a:r>
            <a:endParaRPr lang="en-US" sz="1200" dirty="0"/>
          </a:p>
        </p:txBody>
      </p:sp>
      <p:sp>
        <p:nvSpPr>
          <p:cNvPr id="31" name="Text 29"/>
          <p:cNvSpPr txBox="1"/>
          <p:nvPr/>
        </p:nvSpPr>
        <p:spPr>
          <a:xfrm>
            <a:off x="9134856" y="501091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is the hour with us or against?</a:t>
            </a:r>
            <a:endParaRPr lang="en-US" sz="1050" dirty="0"/>
          </a:p>
        </p:txBody>
      </p:sp>
      <p:sp>
        <p:nvSpPr>
          <p:cNvPr id="32" name="Shape 30"/>
          <p:cNvSpPr/>
          <p:nvPr/>
        </p:nvSpPr>
        <p:spPr>
          <a:xfrm>
            <a:off x="640080" y="5532120"/>
            <a:ext cx="2606040" cy="749808"/>
          </a:xfrm>
          <a:prstGeom prst="roundRect">
            <a:avLst>
              <a:gd name="adj" fmla="val 7317"/>
            </a:avLst>
          </a:prstGeom>
          <a:solidFill>
            <a:srgbClr val="1B2A45"/>
          </a:solidFill>
          <a:ln w="12700">
            <a:solidFill>
              <a:srgbClr val="1B2A45"/>
            </a:solidFill>
            <a:prstDash val="solid"/>
          </a:ln>
        </p:spPr>
      </p:sp>
      <p:sp>
        <p:nvSpPr>
          <p:cNvPr id="33" name="Text 31"/>
          <p:cNvSpPr txBox="1"/>
          <p:nvPr/>
        </p:nvSpPr>
        <p:spPr>
          <a:xfrm>
            <a:off x="822960" y="560527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Term structure</a:t>
            </a:r>
            <a:endParaRPr lang="en-US" sz="1200" dirty="0"/>
          </a:p>
        </p:txBody>
      </p:sp>
      <p:sp>
        <p:nvSpPr>
          <p:cNvPr id="34" name="Text 32"/>
          <p:cNvSpPr txBox="1"/>
          <p:nvPr/>
        </p:nvSpPr>
        <p:spPr>
          <a:xfrm>
            <a:off x="822960" y="587959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does the surface expect anything?</a:t>
            </a:r>
            <a:endParaRPr lang="en-US" sz="1050" dirty="0"/>
          </a:p>
        </p:txBody>
      </p:sp>
      <p:sp>
        <p:nvSpPr>
          <p:cNvPr id="35" name="Shape 33"/>
          <p:cNvSpPr/>
          <p:nvPr/>
        </p:nvSpPr>
        <p:spPr>
          <a:xfrm>
            <a:off x="3410712" y="5532120"/>
            <a:ext cx="2606040" cy="749808"/>
          </a:xfrm>
          <a:prstGeom prst="roundRect">
            <a:avLst>
              <a:gd name="adj" fmla="val 7317"/>
            </a:avLst>
          </a:prstGeom>
          <a:solidFill>
            <a:srgbClr val="1B2A45"/>
          </a:solidFill>
          <a:ln w="12700">
            <a:solidFill>
              <a:srgbClr val="1B2A45"/>
            </a:solidFill>
            <a:prstDash val="solid"/>
          </a:ln>
        </p:spPr>
      </p:sp>
      <p:sp>
        <p:nvSpPr>
          <p:cNvPr id="36" name="Text 34"/>
          <p:cNvSpPr txBox="1"/>
          <p:nvPr/>
        </p:nvSpPr>
        <p:spPr>
          <a:xfrm>
            <a:off x="3593592" y="560527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RSI</a:t>
            </a:r>
            <a:endParaRPr lang="en-US" sz="1200" dirty="0"/>
          </a:p>
        </p:txBody>
      </p:sp>
      <p:sp>
        <p:nvSpPr>
          <p:cNvPr id="37" name="Text 35"/>
          <p:cNvSpPr txBox="1"/>
          <p:nvPr/>
        </p:nvSpPr>
        <p:spPr>
          <a:xfrm>
            <a:off x="3593592" y="587959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are we buying exhaustion?</a:t>
            </a:r>
            <a:endParaRPr lang="en-US" sz="1050" dirty="0"/>
          </a:p>
        </p:txBody>
      </p:sp>
      <p:sp>
        <p:nvSpPr>
          <p:cNvPr id="38" name="Shape 36"/>
          <p:cNvSpPr/>
          <p:nvPr/>
        </p:nvSpPr>
        <p:spPr>
          <a:xfrm>
            <a:off x="6181344" y="5532120"/>
            <a:ext cx="2606040" cy="749808"/>
          </a:xfrm>
          <a:prstGeom prst="roundRect">
            <a:avLst>
              <a:gd name="adj" fmla="val 7317"/>
            </a:avLst>
          </a:prstGeom>
          <a:solidFill>
            <a:srgbClr val="1B2A45"/>
          </a:solidFill>
          <a:ln w="12700">
            <a:solidFill>
              <a:srgbClr val="1B2A45"/>
            </a:solidFill>
            <a:prstDash val="solid"/>
          </a:ln>
        </p:spPr>
      </p:sp>
      <p:sp>
        <p:nvSpPr>
          <p:cNvPr id="39" name="Text 37"/>
          <p:cNvSpPr txBox="1"/>
          <p:nvPr/>
        </p:nvSpPr>
        <p:spPr>
          <a:xfrm>
            <a:off x="6364224" y="5605272"/>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Catalyst</a:t>
            </a:r>
            <a:endParaRPr lang="en-US" sz="1200" dirty="0"/>
          </a:p>
        </p:txBody>
      </p:sp>
      <p:sp>
        <p:nvSpPr>
          <p:cNvPr id="40" name="Text 38"/>
          <p:cNvSpPr txBox="1"/>
          <p:nvPr/>
        </p:nvSpPr>
        <p:spPr>
          <a:xfrm>
            <a:off x="6364224" y="5879592"/>
            <a:ext cx="2286000" cy="34747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is there a mechanism?</a:t>
            </a:r>
            <a:endParaRPr lang="en-US" sz="1050" dirty="0"/>
          </a:p>
        </p:txBody>
      </p:sp>
      <p:sp>
        <p:nvSpPr>
          <p:cNvPr id="41" name="Text 39"/>
          <p:cNvSpPr txBox="1"/>
          <p:nvPr/>
        </p:nvSpPr>
        <p:spPr>
          <a:xfrm>
            <a:off x="8951976" y="5532120"/>
            <a:ext cx="2606040" cy="749808"/>
          </a:xfrm>
          <a:prstGeom prst="rect">
            <a:avLst/>
          </a:prstGeom>
          <a:noFill/>
          <a:ln/>
        </p:spPr>
        <p:txBody>
          <a:bodyPr wrap="square" lIns="0" tIns="0" rIns="0" bIns="0" rtlCol="0" anchor="ctr"/>
          <a:lstStyle/>
          <a:p>
            <a:pPr indent="0" marL="0">
              <a:lnSpc>
                <a:spcPts val="1300"/>
              </a:lnSpc>
              <a:buNone/>
            </a:pPr>
            <a:r>
              <a:rPr lang="en-US" sz="1050" i="1" dirty="0">
                <a:solidFill>
                  <a:srgbClr val="E8A33D"/>
                </a:solidFill>
                <a:latin typeface="Calibri" pitchFamily="34" charset="0"/>
                <a:ea typeface="Calibri" pitchFamily="34" charset="-122"/>
                <a:cs typeface="Calibri" pitchFamily="34" charset="-120"/>
              </a:rPr>
              <a:t>“Unmeasurable” is not “failed”: needed = min(3, possible), so a vote that cannot be evaluated raises neither side and costs a candidate nothing.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8B5CF6"/>
                </a:solidFill>
                <a:latin typeface="Calibri" pitchFamily="34" charset="0"/>
                <a:ea typeface="Calibri" pitchFamily="34" charset="-122"/>
                <a:cs typeface="Calibri" pitchFamily="34" charset="-120"/>
              </a:rPr>
              <a:t>EVENTS BOOK · EARNINGS_EVENT_DIRECTIONAL</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The only book whose gate opens on a date</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The other two wait for a market condition to cross a threshold, and the recurring failure is that it never crosses. Broadcom reports on 2 September whether or not any indicator agrees.</a:t>
            </a:r>
            <a:endParaRPr lang="en-US" sz="1450" dirty="0"/>
          </a:p>
        </p:txBody>
      </p:sp>
      <p:sp>
        <p:nvSpPr>
          <p:cNvPr id="5" name="Shape 3"/>
          <p:cNvSpPr/>
          <p:nvPr/>
        </p:nvSpPr>
        <p:spPr>
          <a:xfrm>
            <a:off x="640080" y="1783080"/>
            <a:ext cx="5212080" cy="1965960"/>
          </a:xfrm>
          <a:prstGeom prst="roundRect">
            <a:avLst>
              <a:gd name="adj" fmla="val 2791"/>
            </a:avLst>
          </a:prstGeom>
          <a:solidFill>
            <a:srgbClr val="0F1A2E"/>
          </a:solidFill>
          <a:ln w="12700">
            <a:solidFill>
              <a:srgbClr val="0F1A2E"/>
            </a:solidFill>
            <a:prstDash val="solid"/>
          </a:ln>
        </p:spPr>
      </p:sp>
      <p:sp>
        <p:nvSpPr>
          <p:cNvPr id="6" name="Text 4"/>
          <p:cNvSpPr txBox="1"/>
          <p:nvPr/>
        </p:nvSpPr>
        <p:spPr>
          <a:xfrm>
            <a:off x="960120" y="1938528"/>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is measured</a:t>
            </a:r>
            <a:endParaRPr lang="en-US" sz="1500" dirty="0"/>
          </a:p>
        </p:txBody>
      </p:sp>
      <p:sp>
        <p:nvSpPr>
          <p:cNvPr id="7" name="Text 5"/>
          <p:cNvSpPr txBox="1"/>
          <p:nvPr/>
        </p:nvSpPr>
        <p:spPr>
          <a:xfrm>
            <a:off x="960120" y="2304288"/>
            <a:ext cx="4572000" cy="292608"/>
          </a:xfrm>
          <a:prstGeom prst="rect">
            <a:avLst/>
          </a:prstGeom>
          <a:noFill/>
          <a:ln/>
        </p:spPr>
        <p:txBody>
          <a:bodyPr wrap="square" lIns="0" tIns="0" rIns="0" bIns="0" rtlCol="0" anchor="ctr"/>
          <a:lstStyle/>
          <a:p>
            <a:pPr indent="0" marL="0">
              <a:buNone/>
            </a:pPr>
            <a:r>
              <a:rPr lang="en-US" sz="1250" dirty="0">
                <a:solidFill>
                  <a:srgbClr val="E8A33D"/>
                </a:solidFill>
                <a:latin typeface="Courier New" pitchFamily="34" charset="0"/>
                <a:ea typeface="Courier New" pitchFamily="34" charset="-122"/>
                <a:cs typeface="Courier New" pitchFamily="34" charset="-120"/>
              </a:rPr>
              <a:t>implied move  ÷  median |reaction|, last 4 prints</a:t>
            </a:r>
            <a:endParaRPr lang="en-US" sz="1250" dirty="0"/>
          </a:p>
        </p:txBody>
      </p:sp>
      <p:sp>
        <p:nvSpPr>
          <p:cNvPr id="8" name="Text 6"/>
          <p:cNvSpPr txBox="1"/>
          <p:nvPr/>
        </p:nvSpPr>
        <p:spPr>
          <a:xfrm>
            <a:off x="960120" y="2697480"/>
            <a:ext cx="4572000" cy="91440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That is a volatility reading — how far the option market's priced move for this print sits from what the name actually does when it reports. It is a ranking device, not an edge estimate: four quarters per name is not a sample you can walk forward.</a:t>
            </a:r>
            <a:endParaRPr lang="en-US" sz="1150" dirty="0"/>
          </a:p>
        </p:txBody>
      </p:sp>
      <p:sp>
        <p:nvSpPr>
          <p:cNvPr id="9" name="Shape 7"/>
          <p:cNvSpPr/>
          <p:nvPr/>
        </p:nvSpPr>
        <p:spPr>
          <a:xfrm>
            <a:off x="6309360" y="1783080"/>
            <a:ext cx="5212080" cy="1965960"/>
          </a:xfrm>
          <a:prstGeom prst="roundRect">
            <a:avLst>
              <a:gd name="adj" fmla="val 2791"/>
            </a:avLst>
          </a:prstGeom>
          <a:solidFill>
            <a:srgbClr val="F1F4F9"/>
          </a:solidFill>
          <a:ln w="12700">
            <a:solidFill>
              <a:srgbClr val="F1F4F9"/>
            </a:solidFill>
            <a:prstDash val="solid"/>
          </a:ln>
        </p:spPr>
      </p:sp>
      <p:sp>
        <p:nvSpPr>
          <p:cNvPr id="10" name="Text 8"/>
          <p:cNvSpPr txBox="1"/>
          <p:nvPr/>
        </p:nvSpPr>
        <p:spPr>
          <a:xfrm>
            <a:off x="6629400" y="1938528"/>
            <a:ext cx="4572000" cy="292608"/>
          </a:xfrm>
          <a:prstGeom prst="rect">
            <a:avLst/>
          </a:prstGeom>
          <a:noFill/>
          <a:ln/>
        </p:spPr>
        <p:txBody>
          <a:bodyPr wrap="square" lIns="0" tIns="0" rIns="0" bIns="0" rtlCol="0" anchor="ctr"/>
          <a:lstStyle/>
          <a:p>
            <a:pPr indent="0" marL="0">
              <a:buNone/>
            </a:pPr>
            <a:r>
              <a:rPr lang="en-US" sz="1500" b="1" dirty="0">
                <a:solidFill>
                  <a:srgbClr val="16202F"/>
                </a:solidFill>
                <a:latin typeface="Cambria" pitchFamily="34" charset="0"/>
                <a:ea typeface="Cambria" pitchFamily="34" charset="-122"/>
                <a:cs typeface="Cambria" pitchFamily="34" charset="-120"/>
              </a:rPr>
              <a:t>Screen gates</a:t>
            </a:r>
            <a:endParaRPr lang="en-US" sz="1500" dirty="0"/>
          </a:p>
        </p:txBody>
      </p:sp>
      <p:sp>
        <p:nvSpPr>
          <p:cNvPr id="11" name="Text 9"/>
          <p:cNvSpPr txBox="1"/>
          <p:nvPr/>
        </p:nvSpPr>
        <p:spPr>
          <a:xfrm>
            <a:off x="6629400" y="2331720"/>
            <a:ext cx="2377440" cy="310896"/>
          </a:xfrm>
          <a:prstGeom prst="rect">
            <a:avLst/>
          </a:prstGeom>
          <a:noFill/>
          <a:ln/>
        </p:spPr>
        <p:txBody>
          <a:bodyPr wrap="square" lIns="0" tIns="0" rIns="0" bIns="0" rtlCol="0" anchor="t"/>
          <a:lstStyle/>
          <a:p>
            <a:pPr indent="0" marL="0">
              <a:buNone/>
            </a:pPr>
            <a:r>
              <a:rPr lang="en-US" sz="1150" b="1" dirty="0">
                <a:solidFill>
                  <a:srgbClr val="16202F"/>
                </a:solidFill>
                <a:latin typeface="Calibri" pitchFamily="34" charset="0"/>
                <a:ea typeface="Calibri" pitchFamily="34" charset="-122"/>
                <a:cs typeface="Calibri" pitchFamily="34" charset="-120"/>
              </a:rPr>
              <a:t>Implied move ≥ 3%</a:t>
            </a:r>
            <a:endParaRPr lang="en-US" sz="1150" dirty="0"/>
          </a:p>
        </p:txBody>
      </p:sp>
      <p:sp>
        <p:nvSpPr>
          <p:cNvPr id="12" name="Text 10"/>
          <p:cNvSpPr txBox="1"/>
          <p:nvPr/>
        </p:nvSpPr>
        <p:spPr>
          <a:xfrm>
            <a:off x="9052560" y="2350008"/>
            <a:ext cx="2286000" cy="292608"/>
          </a:xfrm>
          <a:prstGeom prst="rect">
            <a:avLst/>
          </a:prstGeom>
          <a:noFill/>
          <a:ln/>
        </p:spPr>
        <p:txBody>
          <a:bodyPr wrap="square" lIns="0" tIns="0" rIns="0" bIns="0" rtlCol="0" anchor="t"/>
          <a:lstStyle/>
          <a:p>
            <a:pPr indent="0" marL="0">
              <a:buNone/>
            </a:pPr>
            <a:r>
              <a:rPr lang="en-US" sz="1000" dirty="0">
                <a:solidFill>
                  <a:srgbClr val="5A6779"/>
                </a:solidFill>
                <a:latin typeface="Calibri" pitchFamily="34" charset="0"/>
                <a:ea typeface="Calibri" pitchFamily="34" charset="-122"/>
                <a:cs typeface="Calibri" pitchFamily="34" charset="-120"/>
              </a:rPr>
              <a:t>below that, no event is priced in</a:t>
            </a:r>
            <a:endParaRPr lang="en-US" sz="1000" dirty="0"/>
          </a:p>
        </p:txBody>
      </p:sp>
      <p:sp>
        <p:nvSpPr>
          <p:cNvPr id="13" name="Text 11"/>
          <p:cNvSpPr txBox="1"/>
          <p:nvPr/>
        </p:nvSpPr>
        <p:spPr>
          <a:xfrm>
            <a:off x="6629400" y="2679192"/>
            <a:ext cx="2377440" cy="310896"/>
          </a:xfrm>
          <a:prstGeom prst="rect">
            <a:avLst/>
          </a:prstGeom>
          <a:noFill/>
          <a:ln/>
        </p:spPr>
        <p:txBody>
          <a:bodyPr wrap="square" lIns="0" tIns="0" rIns="0" bIns="0" rtlCol="0" anchor="t"/>
          <a:lstStyle/>
          <a:p>
            <a:pPr indent="0" marL="0">
              <a:buNone/>
            </a:pPr>
            <a:r>
              <a:rPr lang="en-US" sz="1150" b="1" dirty="0">
                <a:solidFill>
                  <a:srgbClr val="16202F"/>
                </a:solidFill>
                <a:latin typeface="Calibri" pitchFamily="34" charset="0"/>
                <a:ea typeface="Calibri" pitchFamily="34" charset="-122"/>
                <a:cs typeface="Calibri" pitchFamily="34" charset="-120"/>
              </a:rPr>
              <a:t>Relative spread ≤ 25%</a:t>
            </a:r>
            <a:endParaRPr lang="en-US" sz="1150" dirty="0"/>
          </a:p>
        </p:txBody>
      </p:sp>
      <p:sp>
        <p:nvSpPr>
          <p:cNvPr id="14" name="Text 12"/>
          <p:cNvSpPr txBox="1"/>
          <p:nvPr/>
        </p:nvSpPr>
        <p:spPr>
          <a:xfrm>
            <a:off x="9052560" y="2697480"/>
            <a:ext cx="2286000" cy="292608"/>
          </a:xfrm>
          <a:prstGeom prst="rect">
            <a:avLst/>
          </a:prstGeom>
          <a:noFill/>
          <a:ln/>
        </p:spPr>
        <p:txBody>
          <a:bodyPr wrap="square" lIns="0" tIns="0" rIns="0" bIns="0" rtlCol="0" anchor="t"/>
          <a:lstStyle/>
          <a:p>
            <a:pPr indent="0" marL="0">
              <a:buNone/>
            </a:pPr>
            <a:r>
              <a:rPr lang="en-US" sz="1000" dirty="0">
                <a:solidFill>
                  <a:srgbClr val="5A6779"/>
                </a:solidFill>
                <a:latin typeface="Calibri" pitchFamily="34" charset="0"/>
                <a:ea typeface="Calibri" pitchFamily="34" charset="-122"/>
                <a:cs typeface="Calibri" pitchFamily="34" charset="-120"/>
              </a:rPr>
              <a:t>THE binding gate</a:t>
            </a:r>
            <a:endParaRPr lang="en-US" sz="1000" dirty="0"/>
          </a:p>
        </p:txBody>
      </p:sp>
      <p:sp>
        <p:nvSpPr>
          <p:cNvPr id="15" name="Text 13"/>
          <p:cNvSpPr txBox="1"/>
          <p:nvPr/>
        </p:nvSpPr>
        <p:spPr>
          <a:xfrm>
            <a:off x="6629400" y="3026664"/>
            <a:ext cx="2377440" cy="310896"/>
          </a:xfrm>
          <a:prstGeom prst="rect">
            <a:avLst/>
          </a:prstGeom>
          <a:noFill/>
          <a:ln/>
        </p:spPr>
        <p:txBody>
          <a:bodyPr wrap="square" lIns="0" tIns="0" rIns="0" bIns="0" rtlCol="0" anchor="t"/>
          <a:lstStyle/>
          <a:p>
            <a:pPr indent="0" marL="0">
              <a:buNone/>
            </a:pPr>
            <a:r>
              <a:rPr lang="en-US" sz="1150" b="1" dirty="0">
                <a:solidFill>
                  <a:srgbClr val="16202F"/>
                </a:solidFill>
                <a:latin typeface="Calibri" pitchFamily="34" charset="0"/>
                <a:ea typeface="Calibri" pitchFamily="34" charset="-122"/>
                <a:cs typeface="Calibri" pitchFamily="34" charset="-120"/>
              </a:rPr>
              <a:t>Expiry contains the print</a:t>
            </a:r>
            <a:endParaRPr lang="en-US" sz="1150" dirty="0"/>
          </a:p>
        </p:txBody>
      </p:sp>
      <p:sp>
        <p:nvSpPr>
          <p:cNvPr id="16" name="Text 14"/>
          <p:cNvSpPr txBox="1"/>
          <p:nvPr/>
        </p:nvSpPr>
        <p:spPr>
          <a:xfrm>
            <a:off x="9052560" y="3044952"/>
            <a:ext cx="2286000" cy="292608"/>
          </a:xfrm>
          <a:prstGeom prst="rect">
            <a:avLst/>
          </a:prstGeom>
          <a:noFill/>
          <a:ln/>
        </p:spPr>
        <p:txBody>
          <a:bodyPr wrap="square" lIns="0" tIns="0" rIns="0" bIns="0" rtlCol="0" anchor="t"/>
          <a:lstStyle/>
          <a:p>
            <a:pPr indent="0" marL="0">
              <a:buNone/>
            </a:pPr>
            <a:r>
              <a:rPr lang="en-US" sz="1000" dirty="0">
                <a:solidFill>
                  <a:srgbClr val="5A6779"/>
                </a:solidFill>
                <a:latin typeface="Calibri" pitchFamily="34" charset="0"/>
                <a:ea typeface="Calibri" pitchFamily="34" charset="-122"/>
                <a:cs typeface="Calibri" pitchFamily="34" charset="-120"/>
              </a:rPr>
              <a:t>the most expensive mistake available</a:t>
            </a:r>
            <a:endParaRPr lang="en-US" sz="1000" dirty="0"/>
          </a:p>
        </p:txBody>
      </p:sp>
      <p:sp>
        <p:nvSpPr>
          <p:cNvPr id="17" name="Text 15"/>
          <p:cNvSpPr txBox="1"/>
          <p:nvPr/>
        </p:nvSpPr>
        <p:spPr>
          <a:xfrm>
            <a:off x="6629400" y="3374136"/>
            <a:ext cx="2377440" cy="310896"/>
          </a:xfrm>
          <a:prstGeom prst="rect">
            <a:avLst/>
          </a:prstGeom>
          <a:noFill/>
          <a:ln/>
        </p:spPr>
        <p:txBody>
          <a:bodyPr wrap="square" lIns="0" tIns="0" rIns="0" bIns="0" rtlCol="0" anchor="t"/>
          <a:lstStyle/>
          <a:p>
            <a:pPr indent="0" marL="0">
              <a:buNone/>
            </a:pPr>
            <a:r>
              <a:rPr lang="en-US" sz="1150" b="1" dirty="0">
                <a:solidFill>
                  <a:srgbClr val="16202F"/>
                </a:solidFill>
                <a:latin typeface="Calibri" pitchFamily="34" charset="0"/>
                <a:ea typeface="Calibri" pitchFamily="34" charset="-122"/>
                <a:cs typeface="Calibri" pitchFamily="34" charset="-120"/>
              </a:rPr>
              <a:t>Top 10 names</a:t>
            </a:r>
            <a:endParaRPr lang="en-US" sz="1150" dirty="0"/>
          </a:p>
        </p:txBody>
      </p:sp>
      <p:sp>
        <p:nvSpPr>
          <p:cNvPr id="18" name="Text 16"/>
          <p:cNvSpPr txBox="1"/>
          <p:nvPr/>
        </p:nvSpPr>
        <p:spPr>
          <a:xfrm>
            <a:off x="9052560" y="3392424"/>
            <a:ext cx="2286000" cy="292608"/>
          </a:xfrm>
          <a:prstGeom prst="rect">
            <a:avLst/>
          </a:prstGeom>
          <a:noFill/>
          <a:ln/>
        </p:spPr>
        <p:txBody>
          <a:bodyPr wrap="square" lIns="0" tIns="0" rIns="0" bIns="0" rtlCol="0" anchor="t"/>
          <a:lstStyle/>
          <a:p>
            <a:pPr indent="0" marL="0">
              <a:buNone/>
            </a:pPr>
            <a:r>
              <a:rPr lang="en-US" sz="1000" dirty="0">
                <a:solidFill>
                  <a:srgbClr val="5A6779"/>
                </a:solidFill>
                <a:latin typeface="Calibri" pitchFamily="34" charset="0"/>
                <a:ea typeface="Calibri" pitchFamily="34" charset="-122"/>
                <a:cs typeface="Calibri" pitchFamily="34" charset="-120"/>
              </a:rPr>
              <a:t>one night's risk budget, shared</a:t>
            </a:r>
            <a:endParaRPr lang="en-US" sz="1000" dirty="0"/>
          </a:p>
        </p:txBody>
      </p:sp>
      <p:sp>
        <p:nvSpPr>
          <p:cNvPr id="19" name="Text 17"/>
          <p:cNvSpPr txBox="1"/>
          <p:nvPr/>
        </p:nvSpPr>
        <p:spPr>
          <a:xfrm>
            <a:off x="640080" y="3977640"/>
            <a:ext cx="7315200" cy="32004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The model proposes. A file confirms.</a:t>
            </a:r>
            <a:endParaRPr lang="en-US" sz="1700" dirty="0"/>
          </a:p>
        </p:txBody>
      </p:sp>
      <p:sp>
        <p:nvSpPr>
          <p:cNvPr id="20" name="Shape 18"/>
          <p:cNvSpPr/>
          <p:nvPr/>
        </p:nvSpPr>
        <p:spPr>
          <a:xfrm>
            <a:off x="640080" y="4389120"/>
            <a:ext cx="10881360" cy="1234440"/>
          </a:xfrm>
          <a:prstGeom prst="roundRect">
            <a:avLst>
              <a:gd name="adj" fmla="val 4444"/>
            </a:avLst>
          </a:prstGeom>
          <a:solidFill>
            <a:srgbClr val="F1F4F9"/>
          </a:solidFill>
          <a:ln w="12700">
            <a:solidFill>
              <a:srgbClr val="F1F4F9"/>
            </a:solidFill>
            <a:prstDash val="solid"/>
          </a:ln>
        </p:spPr>
      </p:sp>
      <p:sp>
        <p:nvSpPr>
          <p:cNvPr id="21" name="Text 19"/>
          <p:cNvSpPr txBox="1"/>
          <p:nvPr/>
        </p:nvSpPr>
        <p:spPr>
          <a:xfrm>
            <a:off x="914400" y="4526280"/>
            <a:ext cx="7680960" cy="1005840"/>
          </a:xfrm>
          <a:prstGeom prst="rect">
            <a:avLst/>
          </a:prstGeom>
          <a:noFill/>
          <a:ln/>
        </p:spPr>
        <p:txBody>
          <a:bodyPr wrap="square" lIns="0" tIns="0" rIns="0" bIns="0" rtlCol="0" anchor="ctr"/>
          <a:lstStyle/>
          <a:p>
            <a:pPr indent="0" marL="0">
              <a:lnSpc>
                <a:spcPts val="1700"/>
              </a:lnSpc>
              <a:buNone/>
            </a:pPr>
            <a:r>
              <a:rPr lang="en-US" sz="1250" dirty="0">
                <a:solidFill>
                  <a:srgbClr val="16202F"/>
                </a:solidFill>
                <a:latin typeface="Calibri" pitchFamily="34" charset="0"/>
                <a:ea typeface="Calibri" pitchFamily="34" charset="-122"/>
                <a:cs typeface="Calibri" pitchFamily="34" charset="-120"/>
              </a:rPr>
              <a:t>Featherless serves open-weight models whose weights were frozen months ago. Asked to list next week's reporters, one answers fluently and sometimes wrongly — and a wrong date is not a bad trade, it is a position opened against no event at all. So the model only proposes candidates; config/events/earnings_calendar.json confirms every one of them. Anything unverified is logged and never armed.</a:t>
            </a:r>
            <a:endParaRPr lang="en-US" sz="1250" dirty="0"/>
          </a:p>
        </p:txBody>
      </p:sp>
      <p:sp>
        <p:nvSpPr>
          <p:cNvPr id="22" name="Text 20"/>
          <p:cNvSpPr txBox="1"/>
          <p:nvPr/>
        </p:nvSpPr>
        <p:spPr>
          <a:xfrm>
            <a:off x="8869680" y="4572000"/>
            <a:ext cx="2377440" cy="320040"/>
          </a:xfrm>
          <a:prstGeom prst="rect">
            <a:avLst/>
          </a:prstGeom>
          <a:noFill/>
          <a:ln/>
        </p:spPr>
        <p:txBody>
          <a:bodyPr wrap="square" lIns="0" tIns="0" rIns="0" bIns="0" rtlCol="0" anchor="ctr"/>
          <a:lstStyle/>
          <a:p>
            <a:pPr indent="0" marL="0">
              <a:buNone/>
            </a:pPr>
            <a:r>
              <a:rPr lang="en-US" sz="1700" b="1" dirty="0">
                <a:solidFill>
                  <a:srgbClr val="E5484D"/>
                </a:solidFill>
                <a:latin typeface="Courier New" pitchFamily="34" charset="0"/>
                <a:ea typeface="Courier New" pitchFamily="34" charset="-122"/>
                <a:cs typeface="Courier New" pitchFamily="34" charset="-120"/>
              </a:rPr>
              <a:t>CPRT</a:t>
            </a:r>
            <a:endParaRPr lang="en-US" sz="1700" dirty="0"/>
          </a:p>
        </p:txBody>
      </p:sp>
      <p:sp>
        <p:nvSpPr>
          <p:cNvPr id="23" name="Text 21"/>
          <p:cNvSpPr txBox="1"/>
          <p:nvPr/>
        </p:nvSpPr>
        <p:spPr>
          <a:xfrm>
            <a:off x="8869680" y="4919472"/>
            <a:ext cx="2423160" cy="64008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ships with confirmed: false because Copart had not announced its date. It will not trade.</a:t>
            </a:r>
            <a:endParaRPr lang="en-US" sz="1050" dirty="0"/>
          </a:p>
        </p:txBody>
      </p:sp>
      <p:sp>
        <p:nvSpPr>
          <p:cNvPr id="24" name="Text 22"/>
          <p:cNvSpPr txBox="1"/>
          <p:nvPr/>
        </p:nvSpPr>
        <p:spPr>
          <a:xfrm>
            <a:off x="640080" y="6053328"/>
            <a:ext cx="10881360" cy="365760"/>
          </a:xfrm>
          <a:prstGeom prst="rect">
            <a:avLst/>
          </a:prstGeom>
          <a:noFill/>
          <a:ln/>
        </p:spPr>
        <p:txBody>
          <a:bodyPr wrap="square" lIns="0" tIns="0" rIns="0" bIns="0" rtlCol="0" anchor="ctr"/>
          <a:lstStyle/>
          <a:p>
            <a:pPr indent="0" marL="0">
              <a:buNone/>
            </a:pPr>
            <a:r>
              <a:rPr lang="en-US" sz="1150" i="1" dirty="0">
                <a:solidFill>
                  <a:srgbClr val="5A6779"/>
                </a:solidFill>
                <a:latin typeface="Calibri" pitchFamily="34" charset="0"/>
                <a:ea typeface="Calibri" pitchFamily="34" charset="-122"/>
                <a:cs typeface="Calibri" pitchFamily="34" charset="-120"/>
              </a:rPr>
              <a:t>Sizing is bounded three ways instead of by the firewall: 1.2% per name · 4% shared across everything opened that night · 10 contracts absolute, a ceiling that does not scale with equity.</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E"/>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A78BFA"/>
                </a:solidFill>
                <a:latin typeface="Calibri" pitchFamily="34" charset="0"/>
                <a:ea typeface="Calibri" pitchFamily="34" charset="-122"/>
                <a:cs typeface="Calibri" pitchFamily="34" charset="-120"/>
              </a:rPr>
              <a:t>EVENTS BOOK · WHERE THE MODEL EARNS ITS KEEP</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Read the name for days, not for one minute</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information that decides a print does not arrive in a single window. A snapshot sees the last item on the wire and calls it the picture.</a:t>
            </a:r>
            <a:endParaRPr lang="en-US" sz="1450" dirty="0"/>
          </a:p>
        </p:txBody>
      </p:sp>
      <p:sp>
        <p:nvSpPr>
          <p:cNvPr id="5" name="Shape 3"/>
          <p:cNvSpPr/>
          <p:nvPr/>
        </p:nvSpPr>
        <p:spPr>
          <a:xfrm>
            <a:off x="640080" y="1783080"/>
            <a:ext cx="2084832" cy="2148840"/>
          </a:xfrm>
          <a:prstGeom prst="roundRect">
            <a:avLst>
              <a:gd name="adj" fmla="val 2632"/>
            </a:avLst>
          </a:prstGeom>
          <a:solidFill>
            <a:srgbClr val="1B2A45"/>
          </a:solidFill>
          <a:ln w="12700">
            <a:solidFill>
              <a:srgbClr val="1B2A45"/>
            </a:solidFill>
            <a:prstDash val="solid"/>
          </a:ln>
        </p:spPr>
      </p:sp>
      <p:sp>
        <p:nvSpPr>
          <p:cNvPr id="6" name="Shape 4"/>
          <p:cNvSpPr/>
          <p:nvPr/>
        </p:nvSpPr>
        <p:spPr>
          <a:xfrm>
            <a:off x="822960" y="1965960"/>
            <a:ext cx="384048" cy="384048"/>
          </a:xfrm>
          <a:prstGeom prst="ellipse">
            <a:avLst/>
          </a:prstGeom>
          <a:solidFill>
            <a:srgbClr val="8B5CF6"/>
          </a:solidFill>
          <a:ln/>
        </p:spPr>
      </p:sp>
      <p:sp>
        <p:nvSpPr>
          <p:cNvPr id="7" name="Text 5"/>
          <p:cNvSpPr txBox="1"/>
          <p:nvPr/>
        </p:nvSpPr>
        <p:spPr>
          <a:xfrm>
            <a:off x="822960"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22960" y="2450592"/>
            <a:ext cx="1783080" cy="457200"/>
          </a:xfrm>
          <a:prstGeom prst="rect">
            <a:avLst/>
          </a:prstGeom>
          <a:noFill/>
          <a:ln/>
        </p:spPr>
        <p:txBody>
          <a:bodyPr wrap="square" lIns="0" tIns="0" rIns="0" bIns="0" rtlCol="0" anchor="b"/>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Poll</a:t>
            </a:r>
            <a:endParaRPr lang="en-US" sz="1250" dirty="0"/>
          </a:p>
        </p:txBody>
      </p:sp>
      <p:sp>
        <p:nvSpPr>
          <p:cNvPr id="9" name="Text 7"/>
          <p:cNvSpPr txBox="1"/>
          <p:nvPr/>
        </p:nvSpPr>
        <p:spPr>
          <a:xfrm>
            <a:off x="822960" y="2944368"/>
            <a:ext cx="1783080" cy="914400"/>
          </a:xfrm>
          <a:prstGeom prst="rect">
            <a:avLst/>
          </a:prstGeom>
          <a:noFill/>
          <a:ln/>
        </p:spPr>
        <p:txBody>
          <a:bodyPr wrap="square" lIns="0" tIns="0" rIns="0" bIns="0" rtlCol="0" anchor="ctr"/>
          <a:lstStyle/>
          <a:p>
            <a:pPr indent="0" marL="0">
              <a:lnSpc>
                <a:spcPts val="1250"/>
              </a:lnSpc>
              <a:buNone/>
            </a:pPr>
            <a:r>
              <a:rPr lang="en-US" sz="1000" dirty="0">
                <a:solidFill>
                  <a:srgbClr val="CADCFC"/>
                </a:solidFill>
                <a:latin typeface="Calibri" pitchFamily="34" charset="0"/>
                <a:ea typeface="Calibri" pitchFamily="34" charset="-122"/>
                <a:cs typeface="Calibri" pitchFamily="34" charset="-120"/>
              </a:rPr>
              <a:t>Hourly, 04:00–16:00 ET, from three days before a confirmed report. Alpaca news plus StockTwits.</a:t>
            </a:r>
            <a:endParaRPr lang="en-US" sz="1000" dirty="0"/>
          </a:p>
        </p:txBody>
      </p:sp>
      <p:sp>
        <p:nvSpPr>
          <p:cNvPr id="10" name="Shape 8"/>
          <p:cNvSpPr/>
          <p:nvPr/>
        </p:nvSpPr>
        <p:spPr>
          <a:xfrm>
            <a:off x="2852928" y="1783080"/>
            <a:ext cx="2084832" cy="2148840"/>
          </a:xfrm>
          <a:prstGeom prst="roundRect">
            <a:avLst>
              <a:gd name="adj" fmla="val 2632"/>
            </a:avLst>
          </a:prstGeom>
          <a:solidFill>
            <a:srgbClr val="1B2A45"/>
          </a:solidFill>
          <a:ln w="12700">
            <a:solidFill>
              <a:srgbClr val="1B2A45"/>
            </a:solidFill>
            <a:prstDash val="solid"/>
          </a:ln>
        </p:spPr>
      </p:sp>
      <p:sp>
        <p:nvSpPr>
          <p:cNvPr id="11" name="Shape 9"/>
          <p:cNvSpPr/>
          <p:nvPr/>
        </p:nvSpPr>
        <p:spPr>
          <a:xfrm>
            <a:off x="3035808" y="1965960"/>
            <a:ext cx="384048" cy="384048"/>
          </a:xfrm>
          <a:prstGeom prst="ellipse">
            <a:avLst/>
          </a:prstGeom>
          <a:solidFill>
            <a:srgbClr val="8B5CF6"/>
          </a:solidFill>
          <a:ln/>
        </p:spPr>
      </p:sp>
      <p:sp>
        <p:nvSpPr>
          <p:cNvPr id="12" name="Text 10"/>
          <p:cNvSpPr txBox="1"/>
          <p:nvPr/>
        </p:nvSpPr>
        <p:spPr>
          <a:xfrm>
            <a:off x="3035808"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035808" y="2450592"/>
            <a:ext cx="1783080" cy="457200"/>
          </a:xfrm>
          <a:prstGeom prst="rect">
            <a:avLst/>
          </a:prstGeom>
          <a:noFill/>
          <a:ln/>
        </p:spPr>
        <p:txBody>
          <a:bodyPr wrap="square" lIns="0" tIns="0" rIns="0" bIns="0" rtlCol="0" anchor="b"/>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Deduplicate</a:t>
            </a:r>
            <a:endParaRPr lang="en-US" sz="1250" dirty="0"/>
          </a:p>
        </p:txBody>
      </p:sp>
      <p:sp>
        <p:nvSpPr>
          <p:cNvPr id="14" name="Text 12"/>
          <p:cNvSpPr txBox="1"/>
          <p:nvPr/>
        </p:nvSpPr>
        <p:spPr>
          <a:xfrm>
            <a:off x="3035808" y="2944368"/>
            <a:ext cx="1783080" cy="914400"/>
          </a:xfrm>
          <a:prstGeom prst="rect">
            <a:avLst/>
          </a:prstGeom>
          <a:noFill/>
          <a:ln/>
        </p:spPr>
        <p:txBody>
          <a:bodyPr wrap="square" lIns="0" tIns="0" rIns="0" bIns="0" rtlCol="0" anchor="ctr"/>
          <a:lstStyle/>
          <a:p>
            <a:pPr indent="0" marL="0">
              <a:lnSpc>
                <a:spcPts val="1250"/>
              </a:lnSpc>
              <a:buNone/>
            </a:pPr>
            <a:r>
              <a:rPr lang="en-US" sz="1000" dirty="0">
                <a:solidFill>
                  <a:srgbClr val="CADCFC"/>
                </a:solidFill>
                <a:latin typeface="Calibri" pitchFamily="34" charset="0"/>
                <a:ea typeface="Calibri" pitchFamily="34" charset="-122"/>
                <a:cs typeface="Calibri" pitchFamily="34" charset="-120"/>
              </a:rPr>
              <a:t>Every item already read is discarded — keyed by a hash of its timestamp and text.</a:t>
            </a:r>
            <a:endParaRPr lang="en-US" sz="1000" dirty="0"/>
          </a:p>
        </p:txBody>
      </p:sp>
      <p:sp>
        <p:nvSpPr>
          <p:cNvPr id="15" name="Shape 13"/>
          <p:cNvSpPr/>
          <p:nvPr/>
        </p:nvSpPr>
        <p:spPr>
          <a:xfrm>
            <a:off x="5065776" y="1783080"/>
            <a:ext cx="2084832" cy="2148840"/>
          </a:xfrm>
          <a:prstGeom prst="roundRect">
            <a:avLst>
              <a:gd name="adj" fmla="val 2632"/>
            </a:avLst>
          </a:prstGeom>
          <a:solidFill>
            <a:srgbClr val="1B2A45"/>
          </a:solidFill>
          <a:ln w="12700">
            <a:solidFill>
              <a:srgbClr val="1B2A45"/>
            </a:solidFill>
            <a:prstDash val="solid"/>
          </a:ln>
        </p:spPr>
      </p:sp>
      <p:sp>
        <p:nvSpPr>
          <p:cNvPr id="16" name="Shape 14"/>
          <p:cNvSpPr/>
          <p:nvPr/>
        </p:nvSpPr>
        <p:spPr>
          <a:xfrm>
            <a:off x="5248656" y="1965960"/>
            <a:ext cx="384048" cy="384048"/>
          </a:xfrm>
          <a:prstGeom prst="ellipse">
            <a:avLst/>
          </a:prstGeom>
          <a:solidFill>
            <a:srgbClr val="8B5CF6"/>
          </a:solidFill>
          <a:ln/>
        </p:spPr>
      </p:sp>
      <p:sp>
        <p:nvSpPr>
          <p:cNvPr id="17" name="Text 15"/>
          <p:cNvSpPr txBox="1"/>
          <p:nvPr/>
        </p:nvSpPr>
        <p:spPr>
          <a:xfrm>
            <a:off x="5248656"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5248656" y="2450592"/>
            <a:ext cx="1783080" cy="457200"/>
          </a:xfrm>
          <a:prstGeom prst="rect">
            <a:avLst/>
          </a:prstGeom>
          <a:noFill/>
          <a:ln/>
        </p:spPr>
        <p:txBody>
          <a:bodyPr wrap="square" lIns="0" tIns="0" rIns="0" bIns="0" rtlCol="0" anchor="b"/>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Nothing new?</a:t>
            </a:r>
            <a:endParaRPr lang="en-US" sz="1250" dirty="0"/>
          </a:p>
        </p:txBody>
      </p:sp>
      <p:sp>
        <p:nvSpPr>
          <p:cNvPr id="19" name="Text 17"/>
          <p:cNvSpPr txBox="1"/>
          <p:nvPr/>
        </p:nvSpPr>
        <p:spPr>
          <a:xfrm>
            <a:off x="5248656" y="2944368"/>
            <a:ext cx="1783080" cy="914400"/>
          </a:xfrm>
          <a:prstGeom prst="rect">
            <a:avLst/>
          </a:prstGeom>
          <a:noFill/>
          <a:ln/>
        </p:spPr>
        <p:txBody>
          <a:bodyPr wrap="square" lIns="0" tIns="0" rIns="0" bIns="0" rtlCol="0" anchor="ctr"/>
          <a:lstStyle/>
          <a:p>
            <a:pPr indent="0" marL="0">
              <a:lnSpc>
                <a:spcPts val="1250"/>
              </a:lnSpc>
              <a:buNone/>
            </a:pPr>
            <a:r>
              <a:rPr lang="en-US" sz="1000" dirty="0">
                <a:solidFill>
                  <a:srgbClr val="CADCFC"/>
                </a:solidFill>
                <a:latin typeface="Calibri" pitchFamily="34" charset="0"/>
                <a:ea typeface="Calibri" pitchFamily="34" charset="-122"/>
                <a:cs typeface="Calibri" pitchFamily="34" charset="-120"/>
              </a:rPr>
              <a:t>Stop. No model call, no note, no tokens. A quiet name is a real state and is reported as one.</a:t>
            </a:r>
            <a:endParaRPr lang="en-US" sz="1000" dirty="0"/>
          </a:p>
        </p:txBody>
      </p:sp>
      <p:sp>
        <p:nvSpPr>
          <p:cNvPr id="20" name="Shape 18"/>
          <p:cNvSpPr/>
          <p:nvPr/>
        </p:nvSpPr>
        <p:spPr>
          <a:xfrm>
            <a:off x="7278624" y="1783080"/>
            <a:ext cx="2084832" cy="2148840"/>
          </a:xfrm>
          <a:prstGeom prst="roundRect">
            <a:avLst>
              <a:gd name="adj" fmla="val 2632"/>
            </a:avLst>
          </a:prstGeom>
          <a:solidFill>
            <a:srgbClr val="1B2A45"/>
          </a:solidFill>
          <a:ln w="12700">
            <a:solidFill>
              <a:srgbClr val="1B2A45"/>
            </a:solidFill>
            <a:prstDash val="solid"/>
          </a:ln>
        </p:spPr>
      </p:sp>
      <p:sp>
        <p:nvSpPr>
          <p:cNvPr id="21" name="Shape 19"/>
          <p:cNvSpPr/>
          <p:nvPr/>
        </p:nvSpPr>
        <p:spPr>
          <a:xfrm>
            <a:off x="7461504" y="1965960"/>
            <a:ext cx="384048" cy="384048"/>
          </a:xfrm>
          <a:prstGeom prst="ellipse">
            <a:avLst/>
          </a:prstGeom>
          <a:solidFill>
            <a:srgbClr val="8B5CF6"/>
          </a:solidFill>
          <a:ln/>
        </p:spPr>
      </p:sp>
      <p:sp>
        <p:nvSpPr>
          <p:cNvPr id="22" name="Text 20"/>
          <p:cNvSpPr txBox="1"/>
          <p:nvPr/>
        </p:nvSpPr>
        <p:spPr>
          <a:xfrm>
            <a:off x="7461504"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7461504" y="2450592"/>
            <a:ext cx="1783080" cy="457200"/>
          </a:xfrm>
          <a:prstGeom prst="rect">
            <a:avLst/>
          </a:prstGeom>
          <a:noFill/>
          <a:ln/>
        </p:spPr>
        <p:txBody>
          <a:bodyPr wrap="square" lIns="0" tIns="0" rIns="0" bIns="0" rtlCol="0" anchor="b"/>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Judge the new items only</a:t>
            </a:r>
            <a:endParaRPr lang="en-US" sz="1250" dirty="0"/>
          </a:p>
        </p:txBody>
      </p:sp>
      <p:sp>
        <p:nvSpPr>
          <p:cNvPr id="24" name="Text 22"/>
          <p:cNvSpPr txBox="1"/>
          <p:nvPr/>
        </p:nvSpPr>
        <p:spPr>
          <a:xfrm>
            <a:off x="7461504" y="2944368"/>
            <a:ext cx="1783080" cy="914400"/>
          </a:xfrm>
          <a:prstGeom prst="rect">
            <a:avLst/>
          </a:prstGeom>
          <a:noFill/>
          <a:ln/>
        </p:spPr>
        <p:txBody>
          <a:bodyPr wrap="square" lIns="0" tIns="0" rIns="0" bIns="0" rtlCol="0" anchor="ctr"/>
          <a:lstStyle/>
          <a:p>
            <a:pPr indent="0" marL="0">
              <a:lnSpc>
                <a:spcPts val="1250"/>
              </a:lnSpc>
              <a:buNone/>
            </a:pPr>
            <a:r>
              <a:rPr lang="en-US" sz="1000" dirty="0">
                <a:solidFill>
                  <a:srgbClr val="CADCFC"/>
                </a:solidFill>
                <a:latin typeface="Calibri" pitchFamily="34" charset="0"/>
                <a:ea typeface="Calibri" pitchFamily="34" charset="-122"/>
                <a:cs typeface="Calibri" pitchFamily="34" charset="-120"/>
              </a:rPr>
              <a:t>One narrow question: is this material to how the stock trades on the print, and which way does it point?</a:t>
            </a:r>
            <a:endParaRPr lang="en-US" sz="1000" dirty="0"/>
          </a:p>
        </p:txBody>
      </p:sp>
      <p:sp>
        <p:nvSpPr>
          <p:cNvPr id="25" name="Shape 23"/>
          <p:cNvSpPr/>
          <p:nvPr/>
        </p:nvSpPr>
        <p:spPr>
          <a:xfrm>
            <a:off x="9491472" y="1783080"/>
            <a:ext cx="2084832" cy="2148840"/>
          </a:xfrm>
          <a:prstGeom prst="roundRect">
            <a:avLst>
              <a:gd name="adj" fmla="val 2632"/>
            </a:avLst>
          </a:prstGeom>
          <a:solidFill>
            <a:srgbClr val="1B2A45"/>
          </a:solidFill>
          <a:ln w="12700">
            <a:solidFill>
              <a:srgbClr val="1B2A45"/>
            </a:solidFill>
            <a:prstDash val="solid"/>
          </a:ln>
        </p:spPr>
      </p:sp>
      <p:sp>
        <p:nvSpPr>
          <p:cNvPr id="26" name="Shape 24"/>
          <p:cNvSpPr/>
          <p:nvPr/>
        </p:nvSpPr>
        <p:spPr>
          <a:xfrm>
            <a:off x="9674352" y="1965960"/>
            <a:ext cx="384048" cy="384048"/>
          </a:xfrm>
          <a:prstGeom prst="ellipse">
            <a:avLst/>
          </a:prstGeom>
          <a:solidFill>
            <a:srgbClr val="8B5CF6"/>
          </a:solidFill>
          <a:ln/>
        </p:spPr>
      </p:sp>
      <p:sp>
        <p:nvSpPr>
          <p:cNvPr id="27" name="Text 25"/>
          <p:cNvSpPr txBox="1"/>
          <p:nvPr/>
        </p:nvSpPr>
        <p:spPr>
          <a:xfrm>
            <a:off x="9674352"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txBox="1"/>
          <p:nvPr/>
        </p:nvSpPr>
        <p:spPr>
          <a:xfrm>
            <a:off x="9674352" y="2450592"/>
            <a:ext cx="1783080" cy="457200"/>
          </a:xfrm>
          <a:prstGeom prst="rect">
            <a:avLst/>
          </a:prstGeom>
          <a:noFill/>
          <a:ln/>
        </p:spPr>
        <p:txBody>
          <a:bodyPr wrap="square" lIns="0" tIns="0" rIns="0" bIns="0" rtlCol="0" anchor="b"/>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Keep or drop</a:t>
            </a:r>
            <a:endParaRPr lang="en-US" sz="1250" dirty="0"/>
          </a:p>
        </p:txBody>
      </p:sp>
      <p:sp>
        <p:nvSpPr>
          <p:cNvPr id="29" name="Text 27"/>
          <p:cNvSpPr txBox="1"/>
          <p:nvPr/>
        </p:nvSpPr>
        <p:spPr>
          <a:xfrm>
            <a:off x="9674352" y="2944368"/>
            <a:ext cx="1783080" cy="914400"/>
          </a:xfrm>
          <a:prstGeom prst="rect">
            <a:avLst/>
          </a:prstGeom>
          <a:noFill/>
          <a:ln/>
        </p:spPr>
        <p:txBody>
          <a:bodyPr wrap="square" lIns="0" tIns="0" rIns="0" bIns="0" rtlCol="0" anchor="ctr"/>
          <a:lstStyle/>
          <a:p>
            <a:pPr indent="0" marL="0">
              <a:lnSpc>
                <a:spcPts val="1250"/>
              </a:lnSpc>
              <a:buNone/>
            </a:pPr>
            <a:r>
              <a:rPr lang="en-US" sz="1000" dirty="0">
                <a:solidFill>
                  <a:srgbClr val="CADCFC"/>
                </a:solidFill>
                <a:latin typeface="Calibri" pitchFamily="34" charset="0"/>
                <a:ea typeface="Calibri" pitchFamily="34" charset="-122"/>
                <a:cs typeface="Calibri" pitchFamily="34" charset="-120"/>
              </a:rPr>
              <a:t>Kept as a dated note if salience ≥ 0.35. Aged out at 10 days, capped at 40.</a:t>
            </a:r>
            <a:endParaRPr lang="en-US" sz="1000" dirty="0"/>
          </a:p>
        </p:txBody>
      </p:sp>
      <p:sp>
        <p:nvSpPr>
          <p:cNvPr id="30" name="Text 28"/>
          <p:cNvSpPr txBox="1"/>
          <p:nvPr/>
        </p:nvSpPr>
        <p:spPr>
          <a:xfrm>
            <a:off x="640080" y="4069080"/>
            <a:ext cx="10881360" cy="384048"/>
          </a:xfrm>
          <a:prstGeom prst="rect">
            <a:avLst/>
          </a:prstGeom>
          <a:noFill/>
          <a:ln/>
        </p:spPr>
        <p:txBody>
          <a:bodyPr wrap="square" lIns="0" tIns="0" rIns="0" bIns="0" rtlCol="0" anchor="ctr"/>
          <a:lstStyle/>
          <a:p>
            <a:pPr indent="0" marL="0">
              <a:buNone/>
            </a:pPr>
            <a:r>
              <a:rPr lang="en-US" sz="1150" i="1" dirty="0">
                <a:solidFill>
                  <a:srgbClr val="E8A33D"/>
                </a:solidFill>
                <a:latin typeface="Calibri" pitchFamily="34" charset="0"/>
                <a:ea typeface="Calibri" pitchFamily="34" charset="-122"/>
                <a:cs typeface="Calibri" pitchFamily="34" charset="-120"/>
              </a:rPr>
              <a:t>It stops at the print. The day after a name reports its dossier is retired — post-print commentary left in a live dossier would be read by a later cycle as pre-print evidence, which is the most expensive kind of quiet error this book can make.</a:t>
            </a:r>
            <a:endParaRPr lang="en-US" sz="1150" dirty="0"/>
          </a:p>
        </p:txBody>
      </p:sp>
      <p:sp>
        <p:nvSpPr>
          <p:cNvPr id="31" name="Shape 29"/>
          <p:cNvSpPr/>
          <p:nvPr/>
        </p:nvSpPr>
        <p:spPr>
          <a:xfrm>
            <a:off x="640080" y="4498848"/>
            <a:ext cx="5212080" cy="1920240"/>
          </a:xfrm>
          <a:prstGeom prst="roundRect">
            <a:avLst>
              <a:gd name="adj" fmla="val 2857"/>
            </a:avLst>
          </a:prstGeom>
          <a:solidFill>
            <a:srgbClr val="1B2A45"/>
          </a:solidFill>
          <a:ln w="12700">
            <a:solidFill>
              <a:srgbClr val="1B2A45"/>
            </a:solidFill>
            <a:prstDash val="solid"/>
          </a:ln>
        </p:spPr>
      </p:sp>
      <p:sp>
        <p:nvSpPr>
          <p:cNvPr id="32" name="Text 30"/>
          <p:cNvSpPr txBox="1"/>
          <p:nvPr/>
        </p:nvSpPr>
        <p:spPr>
          <a:xfrm>
            <a:off x="960120" y="4645152"/>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Two roles, two models</a:t>
            </a:r>
            <a:endParaRPr lang="en-US" sz="1500" dirty="0"/>
          </a:p>
        </p:txBody>
      </p:sp>
      <p:sp>
        <p:nvSpPr>
          <p:cNvPr id="33" name="Text 31"/>
          <p:cNvSpPr txBox="1"/>
          <p:nvPr/>
        </p:nvSpPr>
        <p:spPr>
          <a:xfrm>
            <a:off x="960120" y="5029200"/>
            <a:ext cx="16002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watch triage</a:t>
            </a:r>
            <a:endParaRPr lang="en-US" sz="1200" dirty="0"/>
          </a:p>
        </p:txBody>
      </p:sp>
      <p:sp>
        <p:nvSpPr>
          <p:cNvPr id="34" name="Text 32"/>
          <p:cNvSpPr txBox="1"/>
          <p:nvPr/>
        </p:nvSpPr>
        <p:spPr>
          <a:xfrm>
            <a:off x="2560320" y="5029200"/>
            <a:ext cx="137160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~40 calls/day</a:t>
            </a:r>
            <a:endParaRPr lang="en-US" sz="1100" dirty="0"/>
          </a:p>
        </p:txBody>
      </p:sp>
      <p:sp>
        <p:nvSpPr>
          <p:cNvPr id="35" name="Text 33"/>
          <p:cNvSpPr txBox="1"/>
          <p:nvPr/>
        </p:nvSpPr>
        <p:spPr>
          <a:xfrm>
            <a:off x="3931920" y="5029200"/>
            <a:ext cx="1691640" cy="365760"/>
          </a:xfrm>
          <a:prstGeom prst="rect">
            <a:avLst/>
          </a:prstGeom>
          <a:noFill/>
          <a:ln/>
        </p:spPr>
        <p:txBody>
          <a:bodyPr wrap="square" lIns="0" tIns="0" rIns="0" bIns="0" rtlCol="0" anchor="ctr"/>
          <a:lstStyle/>
          <a:p>
            <a:pPr algn="r" indent="0" marL="0">
              <a:buNone/>
            </a:pPr>
            <a:r>
              <a:rPr lang="en-US" sz="1150" dirty="0">
                <a:solidFill>
                  <a:srgbClr val="A78BFA"/>
                </a:solidFill>
                <a:latin typeface="Courier New" pitchFamily="34" charset="0"/>
                <a:ea typeface="Courier New" pitchFamily="34" charset="-122"/>
                <a:cs typeface="Courier New" pitchFamily="34" charset="-120"/>
              </a:rPr>
              <a:t>Qwen3-8B</a:t>
            </a:r>
            <a:endParaRPr lang="en-US" sz="1150" dirty="0"/>
          </a:p>
        </p:txBody>
      </p:sp>
      <p:sp>
        <p:nvSpPr>
          <p:cNvPr id="36" name="Text 34"/>
          <p:cNvSpPr txBox="1"/>
          <p:nvPr/>
        </p:nvSpPr>
        <p:spPr>
          <a:xfrm>
            <a:off x="960120" y="5486400"/>
            <a:ext cx="16002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direction call</a:t>
            </a:r>
            <a:endParaRPr lang="en-US" sz="1200" dirty="0"/>
          </a:p>
        </p:txBody>
      </p:sp>
      <p:sp>
        <p:nvSpPr>
          <p:cNvPr id="37" name="Text 35"/>
          <p:cNvSpPr txBox="1"/>
          <p:nvPr/>
        </p:nvSpPr>
        <p:spPr>
          <a:xfrm>
            <a:off x="2560320" y="5486400"/>
            <a:ext cx="137160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once per name</a:t>
            </a:r>
            <a:endParaRPr lang="en-US" sz="1100" dirty="0"/>
          </a:p>
        </p:txBody>
      </p:sp>
      <p:sp>
        <p:nvSpPr>
          <p:cNvPr id="38" name="Text 36"/>
          <p:cNvSpPr txBox="1"/>
          <p:nvPr/>
        </p:nvSpPr>
        <p:spPr>
          <a:xfrm>
            <a:off x="3931920" y="5486400"/>
            <a:ext cx="1691640" cy="365760"/>
          </a:xfrm>
          <a:prstGeom prst="rect">
            <a:avLst/>
          </a:prstGeom>
          <a:noFill/>
          <a:ln/>
        </p:spPr>
        <p:txBody>
          <a:bodyPr wrap="square" lIns="0" tIns="0" rIns="0" bIns="0" rtlCol="0" anchor="ctr"/>
          <a:lstStyle/>
          <a:p>
            <a:pPr algn="r" indent="0" marL="0">
              <a:buNone/>
            </a:pPr>
            <a:r>
              <a:rPr lang="en-US" sz="1150" dirty="0">
                <a:solidFill>
                  <a:srgbClr val="A78BFA"/>
                </a:solidFill>
                <a:latin typeface="Courier New" pitchFamily="34" charset="0"/>
                <a:ea typeface="Courier New" pitchFamily="34" charset="-122"/>
                <a:cs typeface="Courier New" pitchFamily="34" charset="-120"/>
              </a:rPr>
              <a:t>Qwen3-32B</a:t>
            </a:r>
            <a:endParaRPr lang="en-US" sz="1150" dirty="0"/>
          </a:p>
        </p:txBody>
      </p:sp>
      <p:sp>
        <p:nvSpPr>
          <p:cNvPr id="39" name="Text 37"/>
          <p:cNvSpPr txBox="1"/>
          <p:nvPr/>
        </p:nvSpPr>
        <p:spPr>
          <a:xfrm>
            <a:off x="960120" y="5943600"/>
            <a:ext cx="4572000" cy="41148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The triage is narrow, schema-bound and usually right to say “immaterial”. Running the big model on it spends the direction call's budget on noise.</a:t>
            </a:r>
            <a:endParaRPr lang="en-US" sz="1050" dirty="0"/>
          </a:p>
        </p:txBody>
      </p:sp>
      <p:sp>
        <p:nvSpPr>
          <p:cNvPr id="40" name="Shape 38"/>
          <p:cNvSpPr/>
          <p:nvPr/>
        </p:nvSpPr>
        <p:spPr>
          <a:xfrm>
            <a:off x="6309360" y="4498848"/>
            <a:ext cx="5120640" cy="1920240"/>
          </a:xfrm>
          <a:prstGeom prst="roundRect">
            <a:avLst>
              <a:gd name="adj" fmla="val 2857"/>
            </a:avLst>
          </a:prstGeom>
          <a:solidFill>
            <a:srgbClr val="1B2A45"/>
          </a:solidFill>
          <a:ln w="12700">
            <a:solidFill>
              <a:srgbClr val="1B2A45"/>
            </a:solidFill>
            <a:prstDash val="solid"/>
          </a:ln>
        </p:spPr>
      </p:sp>
      <p:sp>
        <p:nvSpPr>
          <p:cNvPr id="41" name="Text 39"/>
          <p:cNvSpPr txBox="1"/>
          <p:nvPr/>
        </p:nvSpPr>
        <p:spPr>
          <a:xfrm>
            <a:off x="6629400" y="4645152"/>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bounds the model</a:t>
            </a:r>
            <a:endParaRPr lang="en-US" sz="1500" dirty="0"/>
          </a:p>
        </p:txBody>
      </p:sp>
      <p:sp>
        <p:nvSpPr>
          <p:cNvPr id="42" name="Text 40"/>
          <p:cNvSpPr txBox="1"/>
          <p:nvPr/>
        </p:nvSpPr>
        <p:spPr>
          <a:xfrm>
            <a:off x="6629400" y="5010912"/>
            <a:ext cx="2286000" cy="329184"/>
          </a:xfrm>
          <a:prstGeom prst="rect">
            <a:avLst/>
          </a:prstGeom>
          <a:noFill/>
          <a:ln/>
        </p:spPr>
        <p:txBody>
          <a:bodyPr wrap="square" lIns="0" tIns="0" rIns="0" bIns="0" rtlCol="0" anchor="ctr"/>
          <a:lstStyle/>
          <a:p>
            <a:pPr indent="0" marL="0">
              <a:buNone/>
            </a:pPr>
            <a:r>
              <a:rPr lang="en-US" sz="1100" b="1" dirty="0">
                <a:solidFill>
                  <a:srgbClr val="A78BFA"/>
                </a:solidFill>
                <a:latin typeface="Calibri" pitchFamily="34" charset="0"/>
                <a:ea typeface="Calibri" pitchFamily="34" charset="-122"/>
                <a:cs typeface="Calibri" pitchFamily="34" charset="-120"/>
              </a:rPr>
              <a:t>Confidence floor 0.55</a:t>
            </a:r>
            <a:endParaRPr lang="en-US" sz="1100" dirty="0"/>
          </a:p>
        </p:txBody>
      </p:sp>
      <p:sp>
        <p:nvSpPr>
          <p:cNvPr id="43" name="Text 41"/>
          <p:cNvSpPr txBox="1"/>
          <p:nvPr/>
        </p:nvSpPr>
        <p:spPr>
          <a:xfrm>
            <a:off x="8915400" y="5010912"/>
            <a:ext cx="2286000" cy="365760"/>
          </a:xfrm>
          <a:prstGeom prst="rect">
            <a:avLst/>
          </a:prstGeom>
          <a:noFill/>
          <a:ln/>
        </p:spPr>
        <p:txBody>
          <a:bodyPr wrap="square" lIns="0" tIns="0" rIns="0" bIns="0" rtlCol="0" anchor="ctr"/>
          <a:lstStyle/>
          <a:p>
            <a:pPr indent="0" marL="0">
              <a:lnSpc>
                <a:spcPts val="1200"/>
              </a:lnSpc>
              <a:buNone/>
            </a:pPr>
            <a:r>
              <a:rPr lang="en-US" sz="1000" dirty="0">
                <a:solidFill>
                  <a:srgbClr val="CADCFC"/>
                </a:solidFill>
                <a:latin typeface="Calibri" pitchFamily="34" charset="0"/>
                <a:ea typeface="Calibri" pitchFamily="34" charset="-122"/>
                <a:cs typeface="Calibri" pitchFamily="34" charset="-120"/>
              </a:rPr>
              <a:t>and it sets the size, so a marginal call trades small</a:t>
            </a:r>
            <a:endParaRPr lang="en-US" sz="1000" dirty="0"/>
          </a:p>
        </p:txBody>
      </p:sp>
      <p:sp>
        <p:nvSpPr>
          <p:cNvPr id="44" name="Text 42"/>
          <p:cNvSpPr txBox="1"/>
          <p:nvPr/>
        </p:nvSpPr>
        <p:spPr>
          <a:xfrm>
            <a:off x="6629400" y="5358384"/>
            <a:ext cx="2286000" cy="329184"/>
          </a:xfrm>
          <a:prstGeom prst="rect">
            <a:avLst/>
          </a:prstGeom>
          <a:noFill/>
          <a:ln/>
        </p:spPr>
        <p:txBody>
          <a:bodyPr wrap="square" lIns="0" tIns="0" rIns="0" bIns="0" rtlCol="0" anchor="ctr"/>
          <a:lstStyle/>
          <a:p>
            <a:pPr indent="0" marL="0">
              <a:buNone/>
            </a:pPr>
            <a:r>
              <a:rPr lang="en-US" sz="1100" b="1" dirty="0">
                <a:solidFill>
                  <a:srgbClr val="A78BFA"/>
                </a:solidFill>
                <a:latin typeface="Calibri" pitchFamily="34" charset="0"/>
                <a:ea typeface="Calibri" pitchFamily="34" charset="-122"/>
                <a:cs typeface="Calibri" pitchFamily="34" charset="-120"/>
              </a:rPr>
              <a:t>Evidence required</a:t>
            </a:r>
            <a:endParaRPr lang="en-US" sz="1100" dirty="0"/>
          </a:p>
        </p:txBody>
      </p:sp>
      <p:sp>
        <p:nvSpPr>
          <p:cNvPr id="45" name="Text 43"/>
          <p:cNvSpPr txBox="1"/>
          <p:nvPr/>
        </p:nvSpPr>
        <p:spPr>
          <a:xfrm>
            <a:off x="8915400" y="5358384"/>
            <a:ext cx="2286000" cy="365760"/>
          </a:xfrm>
          <a:prstGeom prst="rect">
            <a:avLst/>
          </a:prstGeom>
          <a:noFill/>
          <a:ln/>
        </p:spPr>
        <p:txBody>
          <a:bodyPr wrap="square" lIns="0" tIns="0" rIns="0" bIns="0" rtlCol="0" anchor="ctr"/>
          <a:lstStyle/>
          <a:p>
            <a:pPr indent="0" marL="0">
              <a:lnSpc>
                <a:spcPts val="1200"/>
              </a:lnSpc>
              <a:buNone/>
            </a:pPr>
            <a:r>
              <a:rPr lang="en-US" sz="1000" dirty="0">
                <a:solidFill>
                  <a:srgbClr val="CADCFC"/>
                </a:solidFill>
                <a:latin typeface="Calibri" pitchFamily="34" charset="0"/>
                <a:ea typeface="Calibri" pitchFamily="34" charset="-122"/>
                <a:cs typeface="Calibri" pitchFamily="34" charset="-120"/>
              </a:rPr>
              <a:t>a confident call citing nothing is a guess with a number attached</a:t>
            </a:r>
            <a:endParaRPr lang="en-US" sz="1000" dirty="0"/>
          </a:p>
        </p:txBody>
      </p:sp>
      <p:sp>
        <p:nvSpPr>
          <p:cNvPr id="46" name="Text 44"/>
          <p:cNvSpPr txBox="1"/>
          <p:nvPr/>
        </p:nvSpPr>
        <p:spPr>
          <a:xfrm>
            <a:off x="6629400" y="5705856"/>
            <a:ext cx="2286000" cy="329184"/>
          </a:xfrm>
          <a:prstGeom prst="rect">
            <a:avLst/>
          </a:prstGeom>
          <a:noFill/>
          <a:ln/>
        </p:spPr>
        <p:txBody>
          <a:bodyPr wrap="square" lIns="0" tIns="0" rIns="0" bIns="0" rtlCol="0" anchor="ctr"/>
          <a:lstStyle/>
          <a:p>
            <a:pPr indent="0" marL="0">
              <a:buNone/>
            </a:pPr>
            <a:r>
              <a:rPr lang="en-US" sz="1100" b="1" dirty="0">
                <a:solidFill>
                  <a:srgbClr val="A78BFA"/>
                </a:solidFill>
                <a:latin typeface="Calibri" pitchFamily="34" charset="0"/>
                <a:ea typeface="Calibri" pitchFamily="34" charset="-122"/>
                <a:cs typeface="Calibri" pitchFamily="34" charset="-120"/>
              </a:rPr>
              <a:t>Abstention rate journalled</a:t>
            </a:r>
            <a:endParaRPr lang="en-US" sz="1100" dirty="0"/>
          </a:p>
        </p:txBody>
      </p:sp>
      <p:sp>
        <p:nvSpPr>
          <p:cNvPr id="47" name="Text 45"/>
          <p:cNvSpPr txBox="1"/>
          <p:nvPr/>
        </p:nvSpPr>
        <p:spPr>
          <a:xfrm>
            <a:off x="8915400" y="5705856"/>
            <a:ext cx="2286000" cy="365760"/>
          </a:xfrm>
          <a:prstGeom prst="rect">
            <a:avLst/>
          </a:prstGeom>
          <a:noFill/>
          <a:ln/>
        </p:spPr>
        <p:txBody>
          <a:bodyPr wrap="square" lIns="0" tIns="0" rIns="0" bIns="0" rtlCol="0" anchor="ctr"/>
          <a:lstStyle/>
          <a:p>
            <a:pPr indent="0" marL="0">
              <a:lnSpc>
                <a:spcPts val="1200"/>
              </a:lnSpc>
              <a:buNone/>
            </a:pPr>
            <a:r>
              <a:rPr lang="en-US" sz="1000" dirty="0">
                <a:solidFill>
                  <a:srgbClr val="CADCFC"/>
                </a:solidFill>
                <a:latin typeface="Calibri" pitchFamily="34" charset="0"/>
                <a:ea typeface="Calibri" pitchFamily="34" charset="-122"/>
                <a:cs typeface="Calibri" pitchFamily="34" charset="-120"/>
              </a:rPr>
              <a:t>zero abstentions logs a warning — a model that never declines is not filtering</a:t>
            </a:r>
            <a:endParaRPr lang="en-US" sz="1000" dirty="0"/>
          </a:p>
        </p:txBody>
      </p:sp>
      <p:sp>
        <p:nvSpPr>
          <p:cNvPr id="48" name="Text 46"/>
          <p:cNvSpPr txBox="1"/>
          <p:nvPr/>
        </p:nvSpPr>
        <p:spPr>
          <a:xfrm>
            <a:off x="6629400" y="6053328"/>
            <a:ext cx="2286000" cy="329184"/>
          </a:xfrm>
          <a:prstGeom prst="rect">
            <a:avLst/>
          </a:prstGeom>
          <a:noFill/>
          <a:ln/>
        </p:spPr>
        <p:txBody>
          <a:bodyPr wrap="square" lIns="0" tIns="0" rIns="0" bIns="0" rtlCol="0" anchor="ctr"/>
          <a:lstStyle/>
          <a:p>
            <a:pPr indent="0" marL="0">
              <a:buNone/>
            </a:pPr>
            <a:r>
              <a:rPr lang="en-US" sz="1100" b="1" dirty="0">
                <a:solidFill>
                  <a:srgbClr val="A78BFA"/>
                </a:solidFill>
                <a:latin typeface="Calibri" pitchFamily="34" charset="0"/>
                <a:ea typeface="Calibri" pitchFamily="34" charset="-122"/>
                <a:cs typeface="Calibri" pitchFamily="34" charset="-120"/>
              </a:rPr>
              <a:t>Evidence is untrusted text</a:t>
            </a:r>
            <a:endParaRPr lang="en-US" sz="1100" dirty="0"/>
          </a:p>
        </p:txBody>
      </p:sp>
      <p:sp>
        <p:nvSpPr>
          <p:cNvPr id="49" name="Text 47"/>
          <p:cNvSpPr txBox="1"/>
          <p:nvPr/>
        </p:nvSpPr>
        <p:spPr>
          <a:xfrm>
            <a:off x="8915400" y="6053328"/>
            <a:ext cx="2286000" cy="365760"/>
          </a:xfrm>
          <a:prstGeom prst="rect">
            <a:avLst/>
          </a:prstGeom>
          <a:noFill/>
          <a:ln/>
        </p:spPr>
        <p:txBody>
          <a:bodyPr wrap="square" lIns="0" tIns="0" rIns="0" bIns="0" rtlCol="0" anchor="ctr"/>
          <a:lstStyle/>
          <a:p>
            <a:pPr indent="0" marL="0">
              <a:lnSpc>
                <a:spcPts val="1200"/>
              </a:lnSpc>
              <a:buNone/>
            </a:pPr>
            <a:r>
              <a:rPr lang="en-US" sz="1000" dirty="0">
                <a:solidFill>
                  <a:srgbClr val="CADCFC"/>
                </a:solidFill>
                <a:latin typeface="Calibri" pitchFamily="34" charset="0"/>
                <a:ea typeface="Calibri" pitchFamily="34" charset="-122"/>
                <a:cs typeface="Calibri" pitchFamily="34" charset="-120"/>
              </a:rPr>
              <a:t>fenced, stripped, truncated, parsed to a fixed schema, every field clamped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8B5CF6"/>
                </a:solidFill>
                <a:latin typeface="Calibri" pitchFamily="34" charset="0"/>
                <a:ea typeface="Calibri" pitchFamily="34" charset="-122"/>
                <a:cs typeface="Calibri" pitchFamily="34" charset="-120"/>
              </a:rPr>
              <a:t>EVENTS BOOK · THE CORRECTION THAT MATTERED</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16202F"/>
                </a:solidFill>
                <a:latin typeface="Cambria" pitchFamily="34" charset="0"/>
                <a:ea typeface="Cambria" pitchFamily="34" charset="-122"/>
                <a:cs typeface="Cambria" pitchFamily="34" charset="-120"/>
              </a:rPr>
              <a:t>We measured volatility and traded direction</a:t>
            </a:r>
            <a:endParaRPr lang="en-US" sz="3400" dirty="0"/>
          </a:p>
        </p:txBody>
      </p:sp>
      <p:sp>
        <p:nvSpPr>
          <p:cNvPr id="4" name="Text 2"/>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450" dirty="0">
                <a:solidFill>
                  <a:srgbClr val="5A6779"/>
                </a:solidFill>
                <a:latin typeface="Calibri" pitchFamily="34" charset="0"/>
                <a:ea typeface="Calibri" pitchFamily="34" charset="-122"/>
                <a:cs typeface="Calibri" pitchFamily="34" charset="-120"/>
              </a:rPr>
              <a:t>A directional structure bought at a fair-to-rich implied move, on a direction call no better than a coin flip, returns minus the round trip in expectation. That is arithmetic, not a sample-size problem.</a:t>
            </a:r>
            <a:endParaRPr lang="en-US" sz="1450" dirty="0"/>
          </a:p>
        </p:txBody>
      </p:sp>
      <p:sp>
        <p:nvSpPr>
          <p:cNvPr id="5" name="Shape 3"/>
          <p:cNvSpPr/>
          <p:nvPr/>
        </p:nvSpPr>
        <p:spPr>
          <a:xfrm>
            <a:off x="640080" y="1783080"/>
            <a:ext cx="3474720" cy="1783080"/>
          </a:xfrm>
          <a:prstGeom prst="roundRect">
            <a:avLst>
              <a:gd name="adj" fmla="val 3077"/>
            </a:avLst>
          </a:prstGeom>
          <a:solidFill>
            <a:srgbClr val="F1F4F9"/>
          </a:solidFill>
          <a:ln w="12700">
            <a:solidFill>
              <a:srgbClr val="F1F4F9"/>
            </a:solidFill>
            <a:prstDash val="solid"/>
          </a:ln>
        </p:spPr>
      </p:sp>
      <p:sp>
        <p:nvSpPr>
          <p:cNvPr id="6" name="Text 4"/>
          <p:cNvSpPr txBox="1"/>
          <p:nvPr/>
        </p:nvSpPr>
        <p:spPr>
          <a:xfrm>
            <a:off x="868680" y="1965960"/>
            <a:ext cx="2103120" cy="411480"/>
          </a:xfrm>
          <a:prstGeom prst="rect">
            <a:avLst/>
          </a:prstGeom>
          <a:noFill/>
          <a:ln/>
        </p:spPr>
        <p:txBody>
          <a:bodyPr wrap="square" lIns="0" tIns="0" rIns="0" bIns="0" rtlCol="0" anchor="ctr"/>
          <a:lstStyle/>
          <a:p>
            <a:pPr indent="0" marL="0">
              <a:buNone/>
            </a:pPr>
            <a:r>
              <a:rPr lang="en-US" sz="2200" b="1" dirty="0">
                <a:solidFill>
                  <a:srgbClr val="2FBF71"/>
                </a:solidFill>
                <a:latin typeface="Cambria" pitchFamily="34" charset="0"/>
                <a:ea typeface="Cambria" pitchFamily="34" charset="-122"/>
                <a:cs typeface="Cambria" pitchFamily="34" charset="-120"/>
              </a:rPr>
              <a:t>≥ 1.35</a:t>
            </a:r>
            <a:endParaRPr lang="en-US" sz="2200" dirty="0"/>
          </a:p>
        </p:txBody>
      </p:sp>
      <p:sp>
        <p:nvSpPr>
          <p:cNvPr id="7" name="Text 5"/>
          <p:cNvSpPr txBox="1"/>
          <p:nvPr/>
        </p:nvSpPr>
        <p:spPr>
          <a:xfrm>
            <a:off x="2834640" y="2084832"/>
            <a:ext cx="1051560" cy="274320"/>
          </a:xfrm>
          <a:prstGeom prst="rect">
            <a:avLst/>
          </a:prstGeom>
          <a:noFill/>
          <a:ln/>
        </p:spPr>
        <p:txBody>
          <a:bodyPr wrap="square" lIns="0" tIns="0" rIns="0" bIns="0" rtlCol="0" anchor="ctr"/>
          <a:lstStyle/>
          <a:p>
            <a:pPr algn="r" indent="0" marL="0">
              <a:buNone/>
            </a:pPr>
            <a:r>
              <a:rPr lang="en-US" sz="1100" b="1" spc="150" kern="0" dirty="0">
                <a:solidFill>
                  <a:srgbClr val="2FBF71"/>
                </a:solidFill>
                <a:latin typeface="Calibri" pitchFamily="34" charset="0"/>
                <a:ea typeface="Calibri" pitchFamily="34" charset="-122"/>
                <a:cs typeface="Calibri" pitchFamily="34" charset="-120"/>
              </a:rPr>
              <a:t>rich</a:t>
            </a:r>
            <a:endParaRPr lang="en-US" sz="1100" dirty="0"/>
          </a:p>
        </p:txBody>
      </p:sp>
      <p:sp>
        <p:nvSpPr>
          <p:cNvPr id="8" name="Text 6"/>
          <p:cNvSpPr txBox="1"/>
          <p:nvPr/>
        </p:nvSpPr>
        <p:spPr>
          <a:xfrm>
            <a:off x="868680" y="2468880"/>
            <a:ext cx="3017520" cy="320040"/>
          </a:xfrm>
          <a:prstGeom prst="rect">
            <a:avLst/>
          </a:prstGeom>
          <a:noFill/>
          <a:ln/>
        </p:spPr>
        <p:txBody>
          <a:bodyPr wrap="square" lIns="0" tIns="0" rIns="0" bIns="0" rtlCol="0" anchor="ctr"/>
          <a:lstStyle/>
          <a:p>
            <a:pPr indent="0" marL="0">
              <a:buNone/>
            </a:pPr>
            <a:r>
              <a:rPr lang="en-US" sz="1500" b="1" dirty="0">
                <a:solidFill>
                  <a:srgbClr val="16202F"/>
                </a:solidFill>
                <a:latin typeface="Cambria" pitchFamily="34" charset="0"/>
                <a:ea typeface="Cambria" pitchFamily="34" charset="-122"/>
                <a:cs typeface="Cambria" pitchFamily="34" charset="-120"/>
              </a:rPr>
              <a:t>Iron condor</a:t>
            </a:r>
            <a:endParaRPr lang="en-US" sz="1500" dirty="0"/>
          </a:p>
        </p:txBody>
      </p:sp>
      <p:sp>
        <p:nvSpPr>
          <p:cNvPr id="9" name="Text 7"/>
          <p:cNvSpPr txBox="1"/>
          <p:nvPr/>
        </p:nvSpPr>
        <p:spPr>
          <a:xfrm>
            <a:off x="868680" y="2852928"/>
            <a:ext cx="3017520" cy="914400"/>
          </a:xfrm>
          <a:prstGeom prst="rect">
            <a:avLst/>
          </a:prstGeom>
          <a:noFill/>
          <a:ln/>
        </p:spPr>
        <p:txBody>
          <a:bodyPr wrap="square" lIns="0" tIns="0" rIns="0" bIns="0" rtlCol="0" anchor="t"/>
          <a:lstStyle/>
          <a:p>
            <a:pPr indent="0" marL="0">
              <a:lnSpc>
                <a:spcPts val="1400"/>
              </a:lnSpc>
              <a:buNone/>
            </a:pPr>
            <a:r>
              <a:rPr lang="en-US" sz="1100" dirty="0">
                <a:solidFill>
                  <a:srgbClr val="5A6779"/>
                </a:solidFill>
                <a:latin typeface="Calibri" pitchFamily="34" charset="0"/>
                <a:ea typeface="Calibri" pitchFamily="34" charset="-122"/>
                <a:cs typeface="Calibri" pitchFamily="34" charset="-120"/>
              </a:rPr>
              <a:t>Both shorts placed OUTSIDE the implied move. The edge is the overpricing itself.</a:t>
            </a:r>
            <a:endParaRPr lang="en-US" sz="1100" dirty="0"/>
          </a:p>
        </p:txBody>
      </p:sp>
      <p:sp>
        <p:nvSpPr>
          <p:cNvPr id="10" name="Shape 8"/>
          <p:cNvSpPr/>
          <p:nvPr/>
        </p:nvSpPr>
        <p:spPr>
          <a:xfrm>
            <a:off x="4297680" y="1783080"/>
            <a:ext cx="3474720" cy="1783080"/>
          </a:xfrm>
          <a:prstGeom prst="roundRect">
            <a:avLst>
              <a:gd name="adj" fmla="val 3077"/>
            </a:avLst>
          </a:prstGeom>
          <a:solidFill>
            <a:srgbClr val="EDF0F5"/>
          </a:solidFill>
          <a:ln w="12700">
            <a:solidFill>
              <a:srgbClr val="EDF0F5"/>
            </a:solidFill>
            <a:prstDash val="solid"/>
          </a:ln>
        </p:spPr>
      </p:sp>
      <p:sp>
        <p:nvSpPr>
          <p:cNvPr id="11" name="Text 9"/>
          <p:cNvSpPr txBox="1"/>
          <p:nvPr/>
        </p:nvSpPr>
        <p:spPr>
          <a:xfrm>
            <a:off x="4526280" y="1965960"/>
            <a:ext cx="2103120" cy="411480"/>
          </a:xfrm>
          <a:prstGeom prst="rect">
            <a:avLst/>
          </a:prstGeom>
          <a:noFill/>
          <a:ln/>
        </p:spPr>
        <p:txBody>
          <a:bodyPr wrap="square" lIns="0" tIns="0" rIns="0" bIns="0" rtlCol="0" anchor="ctr"/>
          <a:lstStyle/>
          <a:p>
            <a:pPr indent="0" marL="0">
              <a:buNone/>
            </a:pPr>
            <a:r>
              <a:rPr lang="en-US" sz="2200" b="1" dirty="0">
                <a:solidFill>
                  <a:srgbClr val="5A6779"/>
                </a:solidFill>
                <a:latin typeface="Cambria" pitchFamily="34" charset="0"/>
                <a:ea typeface="Cambria" pitchFamily="34" charset="-122"/>
                <a:cs typeface="Cambria" pitchFamily="34" charset="-120"/>
              </a:rPr>
              <a:t>0.80 – 1.35</a:t>
            </a:r>
            <a:endParaRPr lang="en-US" sz="2200" dirty="0"/>
          </a:p>
        </p:txBody>
      </p:sp>
      <p:sp>
        <p:nvSpPr>
          <p:cNvPr id="12" name="Text 10"/>
          <p:cNvSpPr txBox="1"/>
          <p:nvPr/>
        </p:nvSpPr>
        <p:spPr>
          <a:xfrm>
            <a:off x="6492240" y="2084832"/>
            <a:ext cx="1051560" cy="274320"/>
          </a:xfrm>
          <a:prstGeom prst="rect">
            <a:avLst/>
          </a:prstGeom>
          <a:noFill/>
          <a:ln/>
        </p:spPr>
        <p:txBody>
          <a:bodyPr wrap="square" lIns="0" tIns="0" rIns="0" bIns="0" rtlCol="0" anchor="ctr"/>
          <a:lstStyle/>
          <a:p>
            <a:pPr algn="r" indent="0" marL="0">
              <a:buNone/>
            </a:pPr>
            <a:r>
              <a:rPr lang="en-US" sz="1100" b="1" spc="150" kern="0" dirty="0">
                <a:solidFill>
                  <a:srgbClr val="5A6779"/>
                </a:solidFill>
                <a:latin typeface="Calibri" pitchFamily="34" charset="0"/>
                <a:ea typeface="Calibri" pitchFamily="34" charset="-122"/>
                <a:cs typeface="Calibri" pitchFamily="34" charset="-120"/>
              </a:rPr>
              <a:t>fair</a:t>
            </a:r>
            <a:endParaRPr lang="en-US" sz="1100" dirty="0"/>
          </a:p>
        </p:txBody>
      </p:sp>
      <p:sp>
        <p:nvSpPr>
          <p:cNvPr id="13" name="Text 11"/>
          <p:cNvSpPr txBox="1"/>
          <p:nvPr/>
        </p:nvSpPr>
        <p:spPr>
          <a:xfrm>
            <a:off x="4526280" y="2468880"/>
            <a:ext cx="3017520" cy="320040"/>
          </a:xfrm>
          <a:prstGeom prst="rect">
            <a:avLst/>
          </a:prstGeom>
          <a:noFill/>
          <a:ln/>
        </p:spPr>
        <p:txBody>
          <a:bodyPr wrap="square" lIns="0" tIns="0" rIns="0" bIns="0" rtlCol="0" anchor="ctr"/>
          <a:lstStyle/>
          <a:p>
            <a:pPr indent="0" marL="0">
              <a:buNone/>
            </a:pPr>
            <a:r>
              <a:rPr lang="en-US" sz="1500" b="1" dirty="0">
                <a:solidFill>
                  <a:srgbClr val="16202F"/>
                </a:solidFill>
                <a:latin typeface="Cambria" pitchFamily="34" charset="0"/>
                <a:ea typeface="Cambria" pitchFamily="34" charset="-122"/>
                <a:cs typeface="Cambria" pitchFamily="34" charset="-120"/>
              </a:rPr>
              <a:t>No trade</a:t>
            </a:r>
            <a:endParaRPr lang="en-US" sz="1500" dirty="0"/>
          </a:p>
        </p:txBody>
      </p:sp>
      <p:sp>
        <p:nvSpPr>
          <p:cNvPr id="14" name="Text 12"/>
          <p:cNvSpPr txBox="1"/>
          <p:nvPr/>
        </p:nvSpPr>
        <p:spPr>
          <a:xfrm>
            <a:off x="4526280" y="2852928"/>
            <a:ext cx="3017520" cy="914400"/>
          </a:xfrm>
          <a:prstGeom prst="rect">
            <a:avLst/>
          </a:prstGeom>
          <a:noFill/>
          <a:ln/>
        </p:spPr>
        <p:txBody>
          <a:bodyPr wrap="square" lIns="0" tIns="0" rIns="0" bIns="0" rtlCol="0" anchor="t"/>
          <a:lstStyle/>
          <a:p>
            <a:pPr indent="0" marL="0">
              <a:lnSpc>
                <a:spcPts val="1400"/>
              </a:lnSpc>
              <a:buNone/>
            </a:pPr>
            <a:r>
              <a:rPr lang="en-US" sz="1100" dirty="0">
                <a:solidFill>
                  <a:srgbClr val="5A6779"/>
                </a:solidFill>
                <a:latin typeface="Calibri" pitchFamily="34" charset="0"/>
                <a:ea typeface="Calibri" pitchFamily="34" charset="-122"/>
                <a:cs typeface="Calibri" pitchFamily="34" charset="-120"/>
              </a:rPr>
              <a:t>There is no measurable mispricing here. This band is where the book used to do ALL of its trading.</a:t>
            </a:r>
            <a:endParaRPr lang="en-US" sz="1100" dirty="0"/>
          </a:p>
        </p:txBody>
      </p:sp>
      <p:sp>
        <p:nvSpPr>
          <p:cNvPr id="15" name="Shape 13"/>
          <p:cNvSpPr/>
          <p:nvPr/>
        </p:nvSpPr>
        <p:spPr>
          <a:xfrm>
            <a:off x="7955280" y="1783080"/>
            <a:ext cx="3474720" cy="1783080"/>
          </a:xfrm>
          <a:prstGeom prst="roundRect">
            <a:avLst>
              <a:gd name="adj" fmla="val 3077"/>
            </a:avLst>
          </a:prstGeom>
          <a:solidFill>
            <a:srgbClr val="F1F4F9"/>
          </a:solidFill>
          <a:ln w="12700">
            <a:solidFill>
              <a:srgbClr val="F1F4F9"/>
            </a:solidFill>
            <a:prstDash val="solid"/>
          </a:ln>
        </p:spPr>
      </p:sp>
      <p:sp>
        <p:nvSpPr>
          <p:cNvPr id="16" name="Text 14"/>
          <p:cNvSpPr txBox="1"/>
          <p:nvPr/>
        </p:nvSpPr>
        <p:spPr>
          <a:xfrm>
            <a:off x="8183880" y="1965960"/>
            <a:ext cx="2103120" cy="411480"/>
          </a:xfrm>
          <a:prstGeom prst="rect">
            <a:avLst/>
          </a:prstGeom>
          <a:noFill/>
          <a:ln/>
        </p:spPr>
        <p:txBody>
          <a:bodyPr wrap="square" lIns="0" tIns="0" rIns="0" bIns="0" rtlCol="0" anchor="ctr"/>
          <a:lstStyle/>
          <a:p>
            <a:pPr indent="0" marL="0">
              <a:buNone/>
            </a:pPr>
            <a:r>
              <a:rPr lang="en-US" sz="2200" b="1" dirty="0">
                <a:solidFill>
                  <a:srgbClr val="E8A33D"/>
                </a:solidFill>
                <a:latin typeface="Cambria" pitchFamily="34" charset="0"/>
                <a:ea typeface="Cambria" pitchFamily="34" charset="-122"/>
                <a:cs typeface="Cambria" pitchFamily="34" charset="-120"/>
              </a:rPr>
              <a:t>≤ 0.80</a:t>
            </a:r>
            <a:endParaRPr lang="en-US" sz="2200" dirty="0"/>
          </a:p>
        </p:txBody>
      </p:sp>
      <p:sp>
        <p:nvSpPr>
          <p:cNvPr id="17" name="Text 15"/>
          <p:cNvSpPr txBox="1"/>
          <p:nvPr/>
        </p:nvSpPr>
        <p:spPr>
          <a:xfrm>
            <a:off x="10149840" y="2084832"/>
            <a:ext cx="1051560" cy="274320"/>
          </a:xfrm>
          <a:prstGeom prst="rect">
            <a:avLst/>
          </a:prstGeom>
          <a:noFill/>
          <a:ln/>
        </p:spPr>
        <p:txBody>
          <a:bodyPr wrap="square" lIns="0" tIns="0" rIns="0" bIns="0" rtlCol="0" anchor="ctr"/>
          <a:lstStyle/>
          <a:p>
            <a:pPr algn="r" indent="0" marL="0">
              <a:buNone/>
            </a:pPr>
            <a:r>
              <a:rPr lang="en-US" sz="1100" b="1" spc="150" kern="0" dirty="0">
                <a:solidFill>
                  <a:srgbClr val="E8A33D"/>
                </a:solidFill>
                <a:latin typeface="Calibri" pitchFamily="34" charset="0"/>
                <a:ea typeface="Calibri" pitchFamily="34" charset="-122"/>
                <a:cs typeface="Calibri" pitchFamily="34" charset="-120"/>
              </a:rPr>
              <a:t>cheap</a:t>
            </a:r>
            <a:endParaRPr lang="en-US" sz="1100" dirty="0"/>
          </a:p>
        </p:txBody>
      </p:sp>
      <p:sp>
        <p:nvSpPr>
          <p:cNvPr id="18" name="Text 16"/>
          <p:cNvSpPr txBox="1"/>
          <p:nvPr/>
        </p:nvSpPr>
        <p:spPr>
          <a:xfrm>
            <a:off x="8183880" y="2468880"/>
            <a:ext cx="3017520" cy="320040"/>
          </a:xfrm>
          <a:prstGeom prst="rect">
            <a:avLst/>
          </a:prstGeom>
          <a:noFill/>
          <a:ln/>
        </p:spPr>
        <p:txBody>
          <a:bodyPr wrap="square" lIns="0" tIns="0" rIns="0" bIns="0" rtlCol="0" anchor="ctr"/>
          <a:lstStyle/>
          <a:p>
            <a:pPr indent="0" marL="0">
              <a:buNone/>
            </a:pPr>
            <a:r>
              <a:rPr lang="en-US" sz="1500" b="1" dirty="0">
                <a:solidFill>
                  <a:srgbClr val="16202F"/>
                </a:solidFill>
                <a:latin typeface="Cambria" pitchFamily="34" charset="0"/>
                <a:ea typeface="Cambria" pitchFamily="34" charset="-122"/>
                <a:cs typeface="Cambria" pitchFamily="34" charset="-120"/>
              </a:rPr>
              <a:t>Debit vertical</a:t>
            </a:r>
            <a:endParaRPr lang="en-US" sz="1500" dirty="0"/>
          </a:p>
        </p:txBody>
      </p:sp>
      <p:sp>
        <p:nvSpPr>
          <p:cNvPr id="19" name="Text 17"/>
          <p:cNvSpPr txBox="1"/>
          <p:nvPr/>
        </p:nvSpPr>
        <p:spPr>
          <a:xfrm>
            <a:off x="8183880" y="2852928"/>
            <a:ext cx="3017520" cy="914400"/>
          </a:xfrm>
          <a:prstGeom prst="rect">
            <a:avLst/>
          </a:prstGeom>
          <a:noFill/>
          <a:ln/>
        </p:spPr>
        <p:txBody>
          <a:bodyPr wrap="square" lIns="0" tIns="0" rIns="0" bIns="0" rtlCol="0" anchor="t"/>
          <a:lstStyle/>
          <a:p>
            <a:pPr indent="0" marL="0">
              <a:lnSpc>
                <a:spcPts val="1400"/>
              </a:lnSpc>
              <a:buNone/>
            </a:pPr>
            <a:r>
              <a:rPr lang="en-US" sz="1100" dirty="0">
                <a:solidFill>
                  <a:srgbClr val="5A6779"/>
                </a:solidFill>
                <a:latin typeface="Calibri" pitchFamily="34" charset="0"/>
                <a:ea typeface="Calibri" pitchFamily="34" charset="-122"/>
                <a:cs typeface="Calibri" pitchFamily="34" charset="-120"/>
              </a:rPr>
              <a:t>In the called direction. The edge is the underpricing.</a:t>
            </a:r>
            <a:endParaRPr lang="en-US" sz="1100" dirty="0"/>
          </a:p>
        </p:txBody>
      </p:sp>
      <p:sp>
        <p:nvSpPr>
          <p:cNvPr id="20" name="Text 18"/>
          <p:cNvSpPr txBox="1"/>
          <p:nvPr/>
        </p:nvSpPr>
        <p:spPr>
          <a:xfrm>
            <a:off x="640080" y="3730752"/>
            <a:ext cx="10881360" cy="320040"/>
          </a:xfrm>
          <a:prstGeom prst="rect">
            <a:avLst/>
          </a:prstGeom>
          <a:noFill/>
          <a:ln/>
        </p:spPr>
        <p:txBody>
          <a:bodyPr wrap="square" lIns="0" tIns="0" rIns="0" bIns="0" rtlCol="0" anchor="ctr"/>
          <a:lstStyle/>
          <a:p>
            <a:pPr indent="0" marL="0">
              <a:buNone/>
            </a:pPr>
            <a:r>
              <a:rPr lang="en-US" sz="1100" i="1" dirty="0">
                <a:solidFill>
                  <a:srgbClr val="5A6779"/>
                </a:solidFill>
                <a:latin typeface="Calibri" pitchFamily="34" charset="0"/>
                <a:ea typeface="Calibri" pitchFamily="34" charset="-122"/>
                <a:cs typeface="Calibri" pitchFamily="34" charset="-120"/>
              </a:rPr>
              <a:t>implied move ÷ realised reaction  ·  thresholds sit well clear of 1.0 because the ratio is computed off four prints — a name at 1.10 is inside its own sampling error</a:t>
            </a:r>
            <a:endParaRPr lang="en-US" sz="1100" dirty="0"/>
          </a:p>
        </p:txBody>
      </p:sp>
      <p:sp>
        <p:nvSpPr>
          <p:cNvPr id="21" name="Shape 19"/>
          <p:cNvSpPr/>
          <p:nvPr/>
        </p:nvSpPr>
        <p:spPr>
          <a:xfrm>
            <a:off x="640080" y="4206240"/>
            <a:ext cx="5120640" cy="2103120"/>
          </a:xfrm>
          <a:prstGeom prst="roundRect">
            <a:avLst>
              <a:gd name="adj" fmla="val 2609"/>
            </a:avLst>
          </a:prstGeom>
          <a:solidFill>
            <a:srgbClr val="0F1A2E"/>
          </a:solidFill>
          <a:ln w="12700">
            <a:solidFill>
              <a:srgbClr val="0F1A2E"/>
            </a:solidFill>
            <a:prstDash val="solid"/>
          </a:ln>
        </p:spPr>
      </p:sp>
      <p:sp>
        <p:nvSpPr>
          <p:cNvPr id="22" name="Text 20"/>
          <p:cNvSpPr txBox="1"/>
          <p:nvPr/>
        </p:nvSpPr>
        <p:spPr>
          <a:xfrm>
            <a:off x="960120" y="4370832"/>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Strikes by distance, not delta</a:t>
            </a:r>
            <a:endParaRPr lang="en-US" sz="1500" dirty="0"/>
          </a:p>
        </p:txBody>
      </p:sp>
      <p:sp>
        <p:nvSpPr>
          <p:cNvPr id="23" name="Text 21"/>
          <p:cNvSpPr txBox="1"/>
          <p:nvPr/>
        </p:nvSpPr>
        <p:spPr>
          <a:xfrm>
            <a:off x="960120" y="4718304"/>
            <a:ext cx="4572000" cy="274320"/>
          </a:xfrm>
          <a:prstGeom prst="rect">
            <a:avLst/>
          </a:prstGeom>
          <a:noFill/>
          <a:ln/>
        </p:spPr>
        <p:txBody>
          <a:bodyPr wrap="square" lIns="0" tIns="0" rIns="0" bIns="0" rtlCol="0" anchor="ctr"/>
          <a:lstStyle/>
          <a:p>
            <a:pPr indent="0" marL="0">
              <a:buNone/>
            </a:pPr>
            <a:r>
              <a:rPr lang="en-US" sz="1200" dirty="0">
                <a:solidFill>
                  <a:srgbClr val="E8A33D"/>
                </a:solidFill>
                <a:latin typeface="Courier New" pitchFamily="34" charset="0"/>
                <a:ea typeface="Courier New" pitchFamily="34" charset="-122"/>
                <a:cs typeface="Courier New" pitchFamily="34" charset="-120"/>
              </a:rPr>
              <a:t>shorts at  spot ± 1.0 × implied move</a:t>
            </a:r>
            <a:endParaRPr lang="en-US" sz="1200" dirty="0"/>
          </a:p>
        </p:txBody>
      </p:sp>
      <p:sp>
        <p:nvSpPr>
          <p:cNvPr id="24" name="Text 22"/>
          <p:cNvSpPr txBox="1"/>
          <p:nvPr/>
        </p:nvSpPr>
        <p:spPr>
          <a:xfrm>
            <a:off x="960120" y="5074920"/>
            <a:ext cx="4480560" cy="1143000"/>
          </a:xfrm>
          <a:prstGeom prst="rect">
            <a:avLst/>
          </a:prstGeom>
          <a:noFill/>
          <a:ln/>
        </p:spPr>
        <p:txBody>
          <a:bodyPr wrap="square" lIns="0" tIns="0" rIns="0" bIns="0" rtlCol="0" anchor="ctr"/>
          <a:lstStyle/>
          <a:p>
            <a:pPr indent="0" marL="0">
              <a:lnSpc>
                <a:spcPts val="1400"/>
              </a:lnSpc>
              <a:buNone/>
            </a:pPr>
            <a:r>
              <a:rPr lang="en-US" sz="1050" dirty="0">
                <a:solidFill>
                  <a:srgbClr val="CADCFC"/>
                </a:solidFill>
                <a:latin typeface="Calibri" pitchFamily="34" charset="0"/>
                <a:ea typeface="Calibri" pitchFamily="34" charset="-122"/>
                <a:cs typeface="Calibri" pitchFamily="34" charset="-120"/>
              </a:rPr>
              <a:t>The front-weekly surface across a print is too deformed for delta to stand in for distance: a 16-delta strike lands inside or outside the priced move depending only on how the wings are skewed. Where the shorts sit relative to that move IS the thesis — so a coarse strike ladder that snaps one back inside is declined, not quietly downgraded.</a:t>
            </a:r>
            <a:endParaRPr lang="en-US" sz="1050" dirty="0"/>
          </a:p>
        </p:txBody>
      </p:sp>
      <p:sp>
        <p:nvSpPr>
          <p:cNvPr id="25" name="Shape 23"/>
          <p:cNvSpPr/>
          <p:nvPr/>
        </p:nvSpPr>
        <p:spPr>
          <a:xfrm>
            <a:off x="6309360" y="4206240"/>
            <a:ext cx="5120640" cy="2103120"/>
          </a:xfrm>
          <a:prstGeom prst="roundRect">
            <a:avLst>
              <a:gd name="adj" fmla="val 2609"/>
            </a:avLst>
          </a:prstGeom>
          <a:solidFill>
            <a:srgbClr val="F1F4F9"/>
          </a:solidFill>
          <a:ln w="12700">
            <a:solidFill>
              <a:srgbClr val="F1F4F9"/>
            </a:solidFill>
            <a:prstDash val="solid"/>
          </a:ln>
        </p:spPr>
      </p:sp>
      <p:sp>
        <p:nvSpPr>
          <p:cNvPr id="26" name="Text 24"/>
          <p:cNvSpPr txBox="1"/>
          <p:nvPr/>
        </p:nvSpPr>
        <p:spPr>
          <a:xfrm>
            <a:off x="6629400" y="4370832"/>
            <a:ext cx="4572000" cy="292608"/>
          </a:xfrm>
          <a:prstGeom prst="rect">
            <a:avLst/>
          </a:prstGeom>
          <a:noFill/>
          <a:ln/>
        </p:spPr>
        <p:txBody>
          <a:bodyPr wrap="square" lIns="0" tIns="0" rIns="0" bIns="0" rtlCol="0" anchor="ctr"/>
          <a:lstStyle/>
          <a:p>
            <a:pPr indent="0" marL="0">
              <a:buNone/>
            </a:pPr>
            <a:r>
              <a:rPr lang="en-US" sz="1500" b="1" dirty="0">
                <a:solidFill>
                  <a:srgbClr val="16202F"/>
                </a:solidFill>
                <a:latin typeface="Cambria" pitchFamily="34" charset="0"/>
                <a:ea typeface="Cambria" pitchFamily="34" charset="-122"/>
                <a:cs typeface="Cambria" pitchFamily="34" charset="-120"/>
              </a:rPr>
              <a:t>The direction call is now a tilt, not the thesis</a:t>
            </a:r>
            <a:endParaRPr lang="en-US" sz="1500" dirty="0"/>
          </a:p>
        </p:txBody>
      </p:sp>
      <p:sp>
        <p:nvSpPr>
          <p:cNvPr id="27" name="Text 25"/>
          <p:cNvSpPr txBox="1"/>
          <p:nvPr/>
        </p:nvSpPr>
        <p:spPr>
          <a:xfrm>
            <a:off x="6629400" y="4736592"/>
            <a:ext cx="4480560" cy="868680"/>
          </a:xfrm>
          <a:prstGeom prst="rect">
            <a:avLst/>
          </a:prstGeom>
          <a:noFill/>
          <a:ln/>
        </p:spPr>
        <p:txBody>
          <a:bodyPr wrap="square" lIns="0" tIns="0" rIns="0" bIns="0" rtlCol="0" anchor="ctr"/>
          <a:lstStyle/>
          <a:p>
            <a:pPr indent="0" marL="0">
              <a:lnSpc>
                <a:spcPts val="1500"/>
              </a:lnSpc>
              <a:buNone/>
            </a:pPr>
            <a:r>
              <a:rPr lang="en-US" sz="1100" dirty="0">
                <a:solidFill>
                  <a:srgbClr val="5A6779"/>
                </a:solidFill>
                <a:latin typeface="Calibri" pitchFamily="34" charset="0"/>
                <a:ea typeface="Calibri" pitchFamily="34" charset="-122"/>
                <a:cs typeface="Calibri" pitchFamily="34" charset="-120"/>
              </a:rPr>
              <a:t>It picks the side of the debit vertical, and on the condor it pushes the threatened short further out — never pulls the other one in, because collecting more premium by moving a short inside the implied move surrenders the one property the structure is built on.</a:t>
            </a:r>
            <a:endParaRPr lang="en-US" sz="1100" dirty="0"/>
          </a:p>
        </p:txBody>
      </p:sp>
      <p:sp>
        <p:nvSpPr>
          <p:cNvPr id="28" name="Text 26"/>
          <p:cNvSpPr txBox="1"/>
          <p:nvPr/>
        </p:nvSpPr>
        <p:spPr>
          <a:xfrm>
            <a:off x="6629400" y="5669280"/>
            <a:ext cx="4480560" cy="594360"/>
          </a:xfrm>
          <a:prstGeom prst="rect">
            <a:avLst/>
          </a:prstGeom>
          <a:noFill/>
          <a:ln/>
        </p:spPr>
        <p:txBody>
          <a:bodyPr wrap="square" lIns="0" tIns="0" rIns="0" bIns="0" rtlCol="0" anchor="ctr"/>
          <a:lstStyle/>
          <a:p>
            <a:pPr indent="0" marL="0">
              <a:lnSpc>
                <a:spcPts val="1400"/>
              </a:lnSpc>
              <a:buNone/>
            </a:pPr>
            <a:r>
              <a:rPr lang="en-US" sz="1100" b="1" i="1" dirty="0">
                <a:solidFill>
                  <a:srgbClr val="E5484D"/>
                </a:solidFill>
                <a:latin typeface="Calibri" pitchFamily="34" charset="0"/>
                <a:ea typeface="Calibri" pitchFamily="34" charset="-122"/>
                <a:cs typeface="Calibri" pitchFamily="34" charset="-120"/>
              </a:rPr>
              <a:t>The first honest backtest made the point in one trade: 22 ideas, 1 approved, full defined risk lost on DG. The structure was doing exactly what it was built to do.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5A6779"/>
                </a:solidFill>
                <a:latin typeface="Calibri" pitchFamily="34" charset="0"/>
                <a:ea typeface="Calibri" pitchFamily="34" charset="-122"/>
                <a:cs typeface="Calibri" pitchFamily="34" charset="-120"/>
              </a:rPr>
              <a:t>APPENDIX A</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vol_carry — every parameter</a:t>
            </a:r>
            <a:endParaRPr lang="en-US" sz="3000" dirty="0"/>
          </a:p>
        </p:txBody>
      </p:sp>
      <p:sp>
        <p:nvSpPr>
          <p:cNvPr id="4" name="Text 2"/>
          <p:cNvSpPr txBox="1"/>
          <p:nvPr/>
        </p:nvSpPr>
        <p:spPr>
          <a:xfrm>
            <a:off x="640080" y="1463040"/>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ENTRY GATES</a:t>
            </a:r>
            <a:endParaRPr lang="en-US" sz="1150" dirty="0"/>
          </a:p>
        </p:txBody>
      </p:sp>
      <p:sp>
        <p:nvSpPr>
          <p:cNvPr id="5" name="Shape 3"/>
          <p:cNvSpPr/>
          <p:nvPr/>
        </p:nvSpPr>
        <p:spPr>
          <a:xfrm>
            <a:off x="640080" y="1737360"/>
            <a:ext cx="10881360" cy="292608"/>
          </a:xfrm>
          <a:prstGeom prst="roundRect">
            <a:avLst>
              <a:gd name="adj" fmla="val 18750"/>
            </a:avLst>
          </a:prstGeom>
          <a:solidFill>
            <a:srgbClr val="F7F9FC"/>
          </a:solidFill>
          <a:ln w="12700">
            <a:solidFill>
              <a:srgbClr val="F7F9FC"/>
            </a:solidFill>
            <a:prstDash val="solid"/>
          </a:ln>
        </p:spPr>
      </p:sp>
      <p:sp>
        <p:nvSpPr>
          <p:cNvPr id="6" name="Text 4"/>
          <p:cNvSpPr txBox="1"/>
          <p:nvPr/>
        </p:nvSpPr>
        <p:spPr>
          <a:xfrm>
            <a:off x="822960" y="175564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iv_rank_min</a:t>
            </a:r>
            <a:endParaRPr lang="en-US" sz="1050" dirty="0"/>
          </a:p>
        </p:txBody>
      </p:sp>
      <p:sp>
        <p:nvSpPr>
          <p:cNvPr id="7" name="Text 5"/>
          <p:cNvSpPr txBox="1"/>
          <p:nvPr/>
        </p:nvSpPr>
        <p:spPr>
          <a:xfrm>
            <a:off x="3703320" y="175564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0.35</a:t>
            </a:r>
            <a:endParaRPr lang="en-US" sz="1050" dirty="0"/>
          </a:p>
        </p:txBody>
      </p:sp>
      <p:sp>
        <p:nvSpPr>
          <p:cNvPr id="8" name="Text 6"/>
          <p:cNvSpPr txBox="1"/>
          <p:nvPr/>
        </p:nvSpPr>
        <p:spPr>
          <a:xfrm>
            <a:off x="5303520" y="175564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Regime filter. Was 0.70, which rejected 304 of 304 replayed candidates.</a:t>
            </a:r>
            <a:endParaRPr lang="en-US" sz="1050" dirty="0"/>
          </a:p>
        </p:txBody>
      </p:sp>
      <p:sp>
        <p:nvSpPr>
          <p:cNvPr id="9" name="Text 7"/>
          <p:cNvSpPr txBox="1"/>
          <p:nvPr/>
        </p:nvSpPr>
        <p:spPr>
          <a:xfrm>
            <a:off x="822960" y="202996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iv_rv_spread_min</a:t>
            </a:r>
            <a:endParaRPr lang="en-US" sz="1050" dirty="0"/>
          </a:p>
        </p:txBody>
      </p:sp>
      <p:sp>
        <p:nvSpPr>
          <p:cNvPr id="10" name="Text 8"/>
          <p:cNvSpPr txBox="1"/>
          <p:nvPr/>
        </p:nvSpPr>
        <p:spPr>
          <a:xfrm>
            <a:off x="3703320" y="202996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0.03</a:t>
            </a:r>
            <a:endParaRPr lang="en-US" sz="1050" dirty="0"/>
          </a:p>
        </p:txBody>
      </p:sp>
      <p:sp>
        <p:nvSpPr>
          <p:cNvPr id="11" name="Text 9"/>
          <p:cNvSpPr txBox="1"/>
          <p:nvPr/>
        </p:nvSpPr>
        <p:spPr>
          <a:xfrm>
            <a:off x="5303520" y="202996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3 vol points. This is the gate carrying the actual edge.</a:t>
            </a:r>
            <a:endParaRPr lang="en-US" sz="1050" dirty="0"/>
          </a:p>
        </p:txBody>
      </p:sp>
      <p:sp>
        <p:nvSpPr>
          <p:cNvPr id="12" name="Shape 10"/>
          <p:cNvSpPr/>
          <p:nvPr/>
        </p:nvSpPr>
        <p:spPr>
          <a:xfrm>
            <a:off x="640080" y="2286000"/>
            <a:ext cx="10881360" cy="292608"/>
          </a:xfrm>
          <a:prstGeom prst="roundRect">
            <a:avLst>
              <a:gd name="adj" fmla="val 18750"/>
            </a:avLst>
          </a:prstGeom>
          <a:solidFill>
            <a:srgbClr val="F7F9FC"/>
          </a:solidFill>
          <a:ln w="12700">
            <a:solidFill>
              <a:srgbClr val="F7F9FC"/>
            </a:solidFill>
            <a:prstDash val="solid"/>
          </a:ln>
        </p:spPr>
      </p:sp>
      <p:sp>
        <p:nvSpPr>
          <p:cNvPr id="13" name="Text 11"/>
          <p:cNvSpPr txBox="1"/>
          <p:nvPr/>
        </p:nvSpPr>
        <p:spPr>
          <a:xfrm>
            <a:off x="822960" y="230428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adx_max / trend</a:t>
            </a:r>
            <a:endParaRPr lang="en-US" sz="1050" dirty="0"/>
          </a:p>
        </p:txBody>
      </p:sp>
      <p:sp>
        <p:nvSpPr>
          <p:cNvPr id="14" name="Text 12"/>
          <p:cNvSpPr txBox="1"/>
          <p:nvPr/>
        </p:nvSpPr>
        <p:spPr>
          <a:xfrm>
            <a:off x="3703320" y="230428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25 / 0.60</a:t>
            </a:r>
            <a:endParaRPr lang="en-US" sz="1050" dirty="0"/>
          </a:p>
        </p:txBody>
      </p:sp>
      <p:sp>
        <p:nvSpPr>
          <p:cNvPr id="15" name="Text 13"/>
          <p:cNvSpPr txBox="1"/>
          <p:nvPr/>
        </p:nvSpPr>
        <p:spPr>
          <a:xfrm>
            <a:off x="5303520" y="230428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Short premium is short movement.</a:t>
            </a:r>
            <a:endParaRPr lang="en-US" sz="1050" dirty="0"/>
          </a:p>
        </p:txBody>
      </p:sp>
      <p:sp>
        <p:nvSpPr>
          <p:cNvPr id="16" name="Text 14"/>
          <p:cNvSpPr txBox="1"/>
          <p:nvPr/>
        </p:nvSpPr>
        <p:spPr>
          <a:xfrm>
            <a:off x="822960" y="257860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exclude_earnings</a:t>
            </a:r>
            <a:endParaRPr lang="en-US" sz="1050" dirty="0"/>
          </a:p>
        </p:txBody>
      </p:sp>
      <p:sp>
        <p:nvSpPr>
          <p:cNvPr id="17" name="Text 15"/>
          <p:cNvSpPr txBox="1"/>
          <p:nvPr/>
        </p:nvSpPr>
        <p:spPr>
          <a:xfrm>
            <a:off x="3703320" y="257860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true</a:t>
            </a:r>
            <a:endParaRPr lang="en-US" sz="1050" dirty="0"/>
          </a:p>
        </p:txBody>
      </p:sp>
      <p:sp>
        <p:nvSpPr>
          <p:cNvPr id="18" name="Text 16"/>
          <p:cNvSpPr txBox="1"/>
          <p:nvPr/>
        </p:nvSpPr>
        <p:spPr>
          <a:xfrm>
            <a:off x="5303520" y="257860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IV is elevated because of the event.</a:t>
            </a:r>
            <a:endParaRPr lang="en-US" sz="1050" dirty="0"/>
          </a:p>
        </p:txBody>
      </p:sp>
      <p:sp>
        <p:nvSpPr>
          <p:cNvPr id="19" name="Text 17"/>
          <p:cNvSpPr txBox="1"/>
          <p:nvPr/>
        </p:nvSpPr>
        <p:spPr>
          <a:xfrm>
            <a:off x="640080" y="2962656"/>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STRUCTURE</a:t>
            </a:r>
            <a:endParaRPr lang="en-US" sz="1150" dirty="0"/>
          </a:p>
        </p:txBody>
      </p:sp>
      <p:sp>
        <p:nvSpPr>
          <p:cNvPr id="20" name="Shape 18"/>
          <p:cNvSpPr/>
          <p:nvPr/>
        </p:nvSpPr>
        <p:spPr>
          <a:xfrm>
            <a:off x="640080" y="3236976"/>
            <a:ext cx="10881360" cy="292608"/>
          </a:xfrm>
          <a:prstGeom prst="roundRect">
            <a:avLst>
              <a:gd name="adj" fmla="val 18750"/>
            </a:avLst>
          </a:prstGeom>
          <a:solidFill>
            <a:srgbClr val="F7F9FC"/>
          </a:solidFill>
          <a:ln w="12700">
            <a:solidFill>
              <a:srgbClr val="F7F9FC"/>
            </a:solidFill>
            <a:prstDash val="solid"/>
          </a:ln>
        </p:spPr>
      </p:sp>
      <p:sp>
        <p:nvSpPr>
          <p:cNvPr id="21" name="Text 19"/>
          <p:cNvSpPr txBox="1"/>
          <p:nvPr/>
        </p:nvSpPr>
        <p:spPr>
          <a:xfrm>
            <a:off x="822960" y="325526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short_delta_target</a:t>
            </a:r>
            <a:endParaRPr lang="en-US" sz="1050" dirty="0"/>
          </a:p>
        </p:txBody>
      </p:sp>
      <p:sp>
        <p:nvSpPr>
          <p:cNvPr id="22" name="Text 20"/>
          <p:cNvSpPr txBox="1"/>
          <p:nvPr/>
        </p:nvSpPr>
        <p:spPr>
          <a:xfrm>
            <a:off x="3703320" y="325526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0.25</a:t>
            </a:r>
            <a:endParaRPr lang="en-US" sz="1050" dirty="0"/>
          </a:p>
        </p:txBody>
      </p:sp>
      <p:sp>
        <p:nvSpPr>
          <p:cNvPr id="23" name="Text 21"/>
          <p:cNvSpPr txBox="1"/>
          <p:nvPr/>
        </p:nvSpPr>
        <p:spPr>
          <a:xfrm>
            <a:off x="5303520" y="325526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Credit-to-width ~30% vs 17% at 14Δ. Hypothesis under measurement.</a:t>
            </a:r>
            <a:endParaRPr lang="en-US" sz="1050" dirty="0"/>
          </a:p>
        </p:txBody>
      </p:sp>
      <p:sp>
        <p:nvSpPr>
          <p:cNvPr id="24" name="Text 22"/>
          <p:cNvSpPr txBox="1"/>
          <p:nvPr/>
        </p:nvSpPr>
        <p:spPr>
          <a:xfrm>
            <a:off x="822960" y="352958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wing_width_pct</a:t>
            </a:r>
            <a:endParaRPr lang="en-US" sz="1050" dirty="0"/>
          </a:p>
        </p:txBody>
      </p:sp>
      <p:sp>
        <p:nvSpPr>
          <p:cNvPr id="25" name="Text 23"/>
          <p:cNvSpPr txBox="1"/>
          <p:nvPr/>
        </p:nvSpPr>
        <p:spPr>
          <a:xfrm>
            <a:off x="3703320" y="352958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0.015</a:t>
            </a:r>
            <a:endParaRPr lang="en-US" sz="1050" dirty="0"/>
          </a:p>
        </p:txBody>
      </p:sp>
      <p:sp>
        <p:nvSpPr>
          <p:cNvPr id="26" name="Text 24"/>
          <p:cNvSpPr txBox="1"/>
          <p:nvPr/>
        </p:nvSpPr>
        <p:spPr>
          <a:xfrm>
            <a:off x="5303520" y="352958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Fraction of spot, so it means the same on TLT as on SPY.</a:t>
            </a:r>
            <a:endParaRPr lang="en-US" sz="1050" dirty="0"/>
          </a:p>
        </p:txBody>
      </p:sp>
      <p:sp>
        <p:nvSpPr>
          <p:cNvPr id="27" name="Shape 25"/>
          <p:cNvSpPr/>
          <p:nvPr/>
        </p:nvSpPr>
        <p:spPr>
          <a:xfrm>
            <a:off x="640080" y="3785616"/>
            <a:ext cx="10881360" cy="292608"/>
          </a:xfrm>
          <a:prstGeom prst="roundRect">
            <a:avLst>
              <a:gd name="adj" fmla="val 18750"/>
            </a:avLst>
          </a:prstGeom>
          <a:solidFill>
            <a:srgbClr val="F7F9FC"/>
          </a:solidFill>
          <a:ln w="12700">
            <a:solidFill>
              <a:srgbClr val="F7F9FC"/>
            </a:solidFill>
            <a:prstDash val="solid"/>
          </a:ln>
        </p:spPr>
      </p:sp>
      <p:sp>
        <p:nvSpPr>
          <p:cNvPr id="28" name="Text 26"/>
          <p:cNvSpPr txBox="1"/>
          <p:nvPr/>
        </p:nvSpPr>
        <p:spPr>
          <a:xfrm>
            <a:off x="822960" y="380390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dte_min / dte_max</a:t>
            </a:r>
            <a:endParaRPr lang="en-US" sz="1050" dirty="0"/>
          </a:p>
        </p:txBody>
      </p:sp>
      <p:sp>
        <p:nvSpPr>
          <p:cNvPr id="29" name="Text 27"/>
          <p:cNvSpPr txBox="1"/>
          <p:nvPr/>
        </p:nvSpPr>
        <p:spPr>
          <a:xfrm>
            <a:off x="3703320" y="380390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7 / 14</a:t>
            </a:r>
            <a:endParaRPr lang="en-US" sz="1050" dirty="0"/>
          </a:p>
        </p:txBody>
      </p:sp>
      <p:sp>
        <p:nvSpPr>
          <p:cNvPr id="30" name="Text 28"/>
          <p:cNvSpPr txBox="1"/>
          <p:nvPr/>
        </p:nvSpPr>
        <p:spPr>
          <a:xfrm>
            <a:off x="5303520" y="380390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At 10 DTE a five-session hold captures most of the remaining decay.</a:t>
            </a:r>
            <a:endParaRPr lang="en-US" sz="1050" dirty="0"/>
          </a:p>
        </p:txBody>
      </p:sp>
      <p:sp>
        <p:nvSpPr>
          <p:cNvPr id="31" name="Text 29"/>
          <p:cNvSpPr txBox="1"/>
          <p:nvPr/>
        </p:nvSpPr>
        <p:spPr>
          <a:xfrm>
            <a:off x="822960" y="407822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min_credit_to_width</a:t>
            </a:r>
            <a:endParaRPr lang="en-US" sz="1050" dirty="0"/>
          </a:p>
        </p:txBody>
      </p:sp>
      <p:sp>
        <p:nvSpPr>
          <p:cNvPr id="32" name="Text 30"/>
          <p:cNvSpPr txBox="1"/>
          <p:nvPr/>
        </p:nvSpPr>
        <p:spPr>
          <a:xfrm>
            <a:off x="3703320" y="407822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0.15</a:t>
            </a:r>
            <a:endParaRPr lang="en-US" sz="1050" dirty="0"/>
          </a:p>
        </p:txBody>
      </p:sp>
      <p:sp>
        <p:nvSpPr>
          <p:cNvPr id="33" name="Text 31"/>
          <p:cNvSpPr txBox="1"/>
          <p:nvPr/>
        </p:nvSpPr>
        <p:spPr>
          <a:xfrm>
            <a:off x="5303520" y="407822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Below this the credit is not paying for the tail.</a:t>
            </a:r>
            <a:endParaRPr lang="en-US" sz="1050" dirty="0"/>
          </a:p>
        </p:txBody>
      </p:sp>
      <p:sp>
        <p:nvSpPr>
          <p:cNvPr id="34" name="Text 32"/>
          <p:cNvSpPr txBox="1"/>
          <p:nvPr/>
        </p:nvSpPr>
        <p:spPr>
          <a:xfrm>
            <a:off x="640080" y="4462272"/>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EXITS AND COST</a:t>
            </a:r>
            <a:endParaRPr lang="en-US" sz="1150" dirty="0"/>
          </a:p>
        </p:txBody>
      </p:sp>
      <p:sp>
        <p:nvSpPr>
          <p:cNvPr id="35" name="Shape 33"/>
          <p:cNvSpPr/>
          <p:nvPr/>
        </p:nvSpPr>
        <p:spPr>
          <a:xfrm>
            <a:off x="640080" y="4736592"/>
            <a:ext cx="10881360" cy="292608"/>
          </a:xfrm>
          <a:prstGeom prst="roundRect">
            <a:avLst>
              <a:gd name="adj" fmla="val 18750"/>
            </a:avLst>
          </a:prstGeom>
          <a:solidFill>
            <a:srgbClr val="F7F9FC"/>
          </a:solidFill>
          <a:ln w="12700">
            <a:solidFill>
              <a:srgbClr val="F7F9FC"/>
            </a:solidFill>
            <a:prstDash val="solid"/>
          </a:ln>
        </p:spPr>
      </p:sp>
      <p:sp>
        <p:nvSpPr>
          <p:cNvPr id="36" name="Text 34"/>
          <p:cNvSpPr txBox="1"/>
          <p:nvPr/>
        </p:nvSpPr>
        <p:spPr>
          <a:xfrm>
            <a:off x="822960" y="475488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profit_target_pct</a:t>
            </a:r>
            <a:endParaRPr lang="en-US" sz="1050" dirty="0"/>
          </a:p>
        </p:txBody>
      </p:sp>
      <p:sp>
        <p:nvSpPr>
          <p:cNvPr id="37" name="Text 35"/>
          <p:cNvSpPr txBox="1"/>
          <p:nvPr/>
        </p:nvSpPr>
        <p:spPr>
          <a:xfrm>
            <a:off x="3703320" y="475488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0.50</a:t>
            </a:r>
            <a:endParaRPr lang="en-US" sz="1050" dirty="0"/>
          </a:p>
        </p:txBody>
      </p:sp>
      <p:sp>
        <p:nvSpPr>
          <p:cNvPr id="38" name="Text 36"/>
          <p:cNvSpPr txBox="1"/>
          <p:nvPr/>
        </p:nvSpPr>
        <p:spPr>
          <a:xfrm>
            <a:off x="5303520" y="475488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With the 1.5× stop this sets breakeven at 75%.</a:t>
            </a:r>
            <a:endParaRPr lang="en-US" sz="1050" dirty="0"/>
          </a:p>
        </p:txBody>
      </p:sp>
      <p:sp>
        <p:nvSpPr>
          <p:cNvPr id="39" name="Text 37"/>
          <p:cNvSpPr txBox="1"/>
          <p:nvPr/>
        </p:nvSpPr>
        <p:spPr>
          <a:xfrm>
            <a:off x="822960" y="502920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max_loss_usd</a:t>
            </a:r>
            <a:endParaRPr lang="en-US" sz="1050" dirty="0"/>
          </a:p>
        </p:txBody>
      </p:sp>
      <p:sp>
        <p:nvSpPr>
          <p:cNvPr id="40" name="Text 38"/>
          <p:cNvSpPr txBox="1"/>
          <p:nvPr/>
        </p:nvSpPr>
        <p:spPr>
          <a:xfrm>
            <a:off x="3703320" y="502920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450</a:t>
            </a:r>
            <a:endParaRPr lang="en-US" sz="1050" dirty="0"/>
          </a:p>
        </p:txBody>
      </p:sp>
      <p:sp>
        <p:nvSpPr>
          <p:cNvPr id="41" name="Text 39"/>
          <p:cNvSpPr txBox="1"/>
          <p:nvPr/>
        </p:nvSpPr>
        <p:spPr>
          <a:xfrm>
            <a:off x="5303520" y="502920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Was 900 and never fired — the six largest losses were $780–868.</a:t>
            </a:r>
            <a:endParaRPr lang="en-US" sz="1050" dirty="0"/>
          </a:p>
        </p:txBody>
      </p:sp>
      <p:sp>
        <p:nvSpPr>
          <p:cNvPr id="42" name="Shape 40"/>
          <p:cNvSpPr/>
          <p:nvPr/>
        </p:nvSpPr>
        <p:spPr>
          <a:xfrm>
            <a:off x="640080" y="5285232"/>
            <a:ext cx="10881360" cy="292608"/>
          </a:xfrm>
          <a:prstGeom prst="roundRect">
            <a:avLst>
              <a:gd name="adj" fmla="val 18750"/>
            </a:avLst>
          </a:prstGeom>
          <a:solidFill>
            <a:srgbClr val="F7F9FC"/>
          </a:solidFill>
          <a:ln w="12700">
            <a:solidFill>
              <a:srgbClr val="F7F9FC"/>
            </a:solidFill>
            <a:prstDash val="solid"/>
          </a:ln>
        </p:spPr>
      </p:sp>
      <p:sp>
        <p:nvSpPr>
          <p:cNvPr id="43" name="Text 41"/>
          <p:cNvSpPr txBox="1"/>
          <p:nvPr/>
        </p:nvSpPr>
        <p:spPr>
          <a:xfrm>
            <a:off x="822960" y="530352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reentry_cooldown</a:t>
            </a:r>
            <a:endParaRPr lang="en-US" sz="1050" dirty="0"/>
          </a:p>
        </p:txBody>
      </p:sp>
      <p:sp>
        <p:nvSpPr>
          <p:cNvPr id="44" name="Text 42"/>
          <p:cNvSpPr txBox="1"/>
          <p:nvPr/>
        </p:nvSpPr>
        <p:spPr>
          <a:xfrm>
            <a:off x="3703320" y="530352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1440 min</a:t>
            </a:r>
            <a:endParaRPr lang="en-US" sz="1050" dirty="0"/>
          </a:p>
        </p:txBody>
      </p:sp>
      <p:sp>
        <p:nvSpPr>
          <p:cNvPr id="45" name="Text 43"/>
          <p:cNvSpPr txBox="1"/>
          <p:nvPr/>
        </p:nvSpPr>
        <p:spPr>
          <a:xfrm>
            <a:off x="5303520" y="530352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One entry per underlying per session for this book.</a:t>
            </a:r>
            <a:endParaRPr lang="en-US" sz="1050" dirty="0"/>
          </a:p>
        </p:txBody>
      </p:sp>
      <p:sp>
        <p:nvSpPr>
          <p:cNvPr id="46" name="Text 44"/>
          <p:cNvSpPr txBox="1"/>
          <p:nvPr/>
        </p:nvSpPr>
        <p:spPr>
          <a:xfrm>
            <a:off x="822960" y="557784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max_spread_cost</a:t>
            </a:r>
            <a:endParaRPr lang="en-US" sz="1050" dirty="0"/>
          </a:p>
        </p:txBody>
      </p:sp>
      <p:sp>
        <p:nvSpPr>
          <p:cNvPr id="47" name="Text 45"/>
          <p:cNvSpPr txBox="1"/>
          <p:nvPr/>
        </p:nvSpPr>
        <p:spPr>
          <a:xfrm>
            <a:off x="3703320" y="557784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0.20</a:t>
            </a:r>
            <a:endParaRPr lang="en-US" sz="1050" dirty="0"/>
          </a:p>
        </p:txBody>
      </p:sp>
      <p:sp>
        <p:nvSpPr>
          <p:cNvPr id="48" name="Text 46"/>
          <p:cNvSpPr txBox="1"/>
          <p:nvPr/>
        </p:nvSpPr>
        <p:spPr>
          <a:xfrm>
            <a:off x="5303520" y="557784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Of credit received. A condor crosses eight half-spreads round trip.</a:t>
            </a:r>
            <a:endParaRPr lang="en-US" sz="1050" dirty="0"/>
          </a:p>
        </p:txBody>
      </p:sp>
      <p:sp>
        <p:nvSpPr>
          <p:cNvPr id="49" name="Text 47"/>
          <p:cNvSpPr txBox="1"/>
          <p:nvPr/>
        </p:nvSpPr>
        <p:spPr>
          <a:xfrm>
            <a:off x="640080" y="6199632"/>
            <a:ext cx="10881360" cy="365760"/>
          </a:xfrm>
          <a:prstGeom prst="rect">
            <a:avLst/>
          </a:prstGeom>
          <a:noFill/>
          <a:ln/>
        </p:spPr>
        <p:txBody>
          <a:bodyPr wrap="square" lIns="0" tIns="0" rIns="0" bIns="0" rtlCol="0" anchor="ctr"/>
          <a:lstStyle/>
          <a:p>
            <a:pPr indent="0" marL="0">
              <a:buNone/>
            </a:pPr>
            <a:r>
              <a:rPr lang="en-US" sz="1050" i="1" dirty="0">
                <a:solidFill>
                  <a:srgbClr val="5A6779"/>
                </a:solidFill>
                <a:latin typeface="Calibri" pitchFamily="34" charset="0"/>
                <a:ea typeface="Calibri" pitchFamily="34" charset="-122"/>
                <a:cs typeface="Calibri" pitchFamily="34" charset="-120"/>
              </a:rPr>
              <a:t>Universe: SPY QQQ IWM DIA XLF XLE TLT GLD XLV XLU EEM EFA FXI SLV — chosen on measured spread and independence, not on P&amp;L.</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5A6779"/>
                </a:solidFill>
                <a:latin typeface="Calibri" pitchFamily="34" charset="0"/>
                <a:ea typeface="Calibri" pitchFamily="34" charset="-122"/>
                <a:cs typeface="Calibri" pitchFamily="34" charset="-120"/>
              </a:rPr>
              <a:t>APPENDIX B</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intraday_momentum — every parameter</a:t>
            </a:r>
            <a:endParaRPr lang="en-US" sz="3000" dirty="0"/>
          </a:p>
        </p:txBody>
      </p:sp>
      <p:sp>
        <p:nvSpPr>
          <p:cNvPr id="4" name="Text 2"/>
          <p:cNvSpPr txBox="1"/>
          <p:nvPr/>
        </p:nvSpPr>
        <p:spPr>
          <a:xfrm>
            <a:off x="640080" y="1463040"/>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SIGNAL</a:t>
            </a:r>
            <a:endParaRPr lang="en-US" sz="1150" dirty="0"/>
          </a:p>
        </p:txBody>
      </p:sp>
      <p:sp>
        <p:nvSpPr>
          <p:cNvPr id="5" name="Shape 3"/>
          <p:cNvSpPr/>
          <p:nvPr/>
        </p:nvSpPr>
        <p:spPr>
          <a:xfrm>
            <a:off x="640080" y="1737360"/>
            <a:ext cx="10881360" cy="292608"/>
          </a:xfrm>
          <a:prstGeom prst="roundRect">
            <a:avLst>
              <a:gd name="adj" fmla="val 18750"/>
            </a:avLst>
          </a:prstGeom>
          <a:solidFill>
            <a:srgbClr val="F7F9FC"/>
          </a:solidFill>
          <a:ln w="12700">
            <a:solidFill>
              <a:srgbClr val="F7F9FC"/>
            </a:solidFill>
            <a:prstDash val="solid"/>
          </a:ln>
        </p:spPr>
      </p:sp>
      <p:sp>
        <p:nvSpPr>
          <p:cNvPr id="6" name="Text 4"/>
          <p:cNvSpPr txBox="1"/>
          <p:nvPr/>
        </p:nvSpPr>
        <p:spPr>
          <a:xfrm>
            <a:off x="822960" y="175564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band_dispersion_mult</a:t>
            </a:r>
            <a:endParaRPr lang="en-US" sz="1050" dirty="0"/>
          </a:p>
        </p:txBody>
      </p:sp>
      <p:sp>
        <p:nvSpPr>
          <p:cNvPr id="7" name="Text 5"/>
          <p:cNvSpPr txBox="1"/>
          <p:nvPr/>
        </p:nvSpPr>
        <p:spPr>
          <a:xfrm>
            <a:off x="3703320" y="175564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2.0</a:t>
            </a:r>
            <a:endParaRPr lang="en-US" sz="1050" dirty="0"/>
          </a:p>
        </p:txBody>
      </p:sp>
      <p:sp>
        <p:nvSpPr>
          <p:cNvPr id="8" name="Text 6"/>
          <p:cNvSpPr txBox="1"/>
          <p:nvPr/>
        </p:nvSpPr>
        <p:spPr>
          <a:xfrm>
            <a:off x="5303520" y="175564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Swept on real bars; below 1.5 the band was still the wall.</a:t>
            </a:r>
            <a:endParaRPr lang="en-US" sz="1050" dirty="0"/>
          </a:p>
        </p:txBody>
      </p:sp>
      <p:sp>
        <p:nvSpPr>
          <p:cNvPr id="9" name="Text 7"/>
          <p:cNvSpPr txBox="1"/>
          <p:nvPr/>
        </p:nvSpPr>
        <p:spPr>
          <a:xfrm>
            <a:off x="822960" y="202996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cross_lookback_bars</a:t>
            </a:r>
            <a:endParaRPr lang="en-US" sz="1050" dirty="0"/>
          </a:p>
        </p:txBody>
      </p:sp>
      <p:sp>
        <p:nvSpPr>
          <p:cNvPr id="10" name="Text 8"/>
          <p:cNvSpPr txBox="1"/>
          <p:nvPr/>
        </p:nvSpPr>
        <p:spPr>
          <a:xfrm>
            <a:off x="3703320" y="202996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15</a:t>
            </a:r>
            <a:endParaRPr lang="en-US" sz="1050" dirty="0"/>
          </a:p>
        </p:txBody>
      </p:sp>
      <p:sp>
        <p:nvSpPr>
          <p:cNvPr id="11" name="Text 9"/>
          <p:cNvSpPr txBox="1"/>
          <p:nvPr/>
        </p:nvSpPr>
        <p:spPr>
          <a:xfrm>
            <a:off x="5303520" y="202996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On 1-minute bars = exactly one polling gap.</a:t>
            </a:r>
            <a:endParaRPr lang="en-US" sz="1050" dirty="0"/>
          </a:p>
        </p:txBody>
      </p:sp>
      <p:sp>
        <p:nvSpPr>
          <p:cNvPr id="12" name="Shape 10"/>
          <p:cNvSpPr/>
          <p:nvPr/>
        </p:nvSpPr>
        <p:spPr>
          <a:xfrm>
            <a:off x="640080" y="2286000"/>
            <a:ext cx="10881360" cy="292608"/>
          </a:xfrm>
          <a:prstGeom prst="roundRect">
            <a:avLst>
              <a:gd name="adj" fmla="val 18750"/>
            </a:avLst>
          </a:prstGeom>
          <a:solidFill>
            <a:srgbClr val="F7F9FC"/>
          </a:solidFill>
          <a:ln w="12700">
            <a:solidFill>
              <a:srgbClr val="F7F9FC"/>
            </a:solidFill>
            <a:prstDash val="solid"/>
          </a:ln>
        </p:spPr>
      </p:sp>
      <p:sp>
        <p:nvSpPr>
          <p:cNvPr id="13" name="Text 11"/>
          <p:cNvSpPr txBox="1"/>
          <p:nvPr/>
        </p:nvSpPr>
        <p:spPr>
          <a:xfrm>
            <a:off x="822960" y="230428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volume_zscore_min</a:t>
            </a:r>
            <a:endParaRPr lang="en-US" sz="1050" dirty="0"/>
          </a:p>
        </p:txBody>
      </p:sp>
      <p:sp>
        <p:nvSpPr>
          <p:cNvPr id="14" name="Text 12"/>
          <p:cNvSpPr txBox="1"/>
          <p:nvPr/>
        </p:nvSpPr>
        <p:spPr>
          <a:xfrm>
            <a:off x="3703320" y="230428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0.5</a:t>
            </a:r>
            <a:endParaRPr lang="en-US" sz="1050" dirty="0"/>
          </a:p>
        </p:txBody>
      </p:sp>
      <p:sp>
        <p:nvSpPr>
          <p:cNvPr id="15" name="Text 13"/>
          <p:cNvSpPr txBox="1"/>
          <p:nvPr/>
        </p:nvSpPr>
        <p:spPr>
          <a:xfrm>
            <a:off x="5303520" y="230428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Top ~31% of that time-of-day bucket. Was 1.0.</a:t>
            </a:r>
            <a:endParaRPr lang="en-US" sz="1050" dirty="0"/>
          </a:p>
        </p:txBody>
      </p:sp>
      <p:sp>
        <p:nvSpPr>
          <p:cNvPr id="16" name="Text 14"/>
          <p:cNvSpPr txBox="1"/>
          <p:nvPr/>
        </p:nvSpPr>
        <p:spPr>
          <a:xfrm>
            <a:off x="822960" y="257860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confirmations_required</a:t>
            </a:r>
            <a:endParaRPr lang="en-US" sz="1050" dirty="0"/>
          </a:p>
        </p:txBody>
      </p:sp>
      <p:sp>
        <p:nvSpPr>
          <p:cNvPr id="17" name="Text 15"/>
          <p:cNvSpPr txBox="1"/>
          <p:nvPr/>
        </p:nvSpPr>
        <p:spPr>
          <a:xfrm>
            <a:off x="3703320" y="257860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3</a:t>
            </a:r>
            <a:endParaRPr lang="en-US" sz="1050" dirty="0"/>
          </a:p>
        </p:txBody>
      </p:sp>
      <p:sp>
        <p:nvSpPr>
          <p:cNvPr id="18" name="Text 16"/>
          <p:cNvSpPr txBox="1"/>
          <p:nvPr/>
        </p:nvSpPr>
        <p:spPr>
          <a:xfrm>
            <a:off x="5303520" y="257860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Of up to seven votes. needed = min(3, possible).</a:t>
            </a:r>
            <a:endParaRPr lang="en-US" sz="1050" dirty="0"/>
          </a:p>
        </p:txBody>
      </p:sp>
      <p:sp>
        <p:nvSpPr>
          <p:cNvPr id="19" name="Shape 17"/>
          <p:cNvSpPr/>
          <p:nvPr/>
        </p:nvSpPr>
        <p:spPr>
          <a:xfrm>
            <a:off x="640080" y="2834640"/>
            <a:ext cx="10881360" cy="292608"/>
          </a:xfrm>
          <a:prstGeom prst="roundRect">
            <a:avLst>
              <a:gd name="adj" fmla="val 18750"/>
            </a:avLst>
          </a:prstGeom>
          <a:solidFill>
            <a:srgbClr val="F7F9FC"/>
          </a:solidFill>
          <a:ln w="12700">
            <a:solidFill>
              <a:srgbClr val="F7F9FC"/>
            </a:solidFill>
            <a:prstDash val="solid"/>
          </a:ln>
        </p:spPr>
      </p:sp>
      <p:sp>
        <p:nvSpPr>
          <p:cNvPr id="20" name="Text 18"/>
          <p:cNvSpPr txBox="1"/>
          <p:nvPr/>
        </p:nvSpPr>
        <p:spPr>
          <a:xfrm>
            <a:off x="822960" y="285292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term_structure band</a:t>
            </a:r>
            <a:endParaRPr lang="en-US" sz="1050" dirty="0"/>
          </a:p>
        </p:txBody>
      </p:sp>
      <p:sp>
        <p:nvSpPr>
          <p:cNvPr id="21" name="Text 19"/>
          <p:cNvSpPr txBox="1"/>
          <p:nvPr/>
        </p:nvSpPr>
        <p:spPr>
          <a:xfrm>
            <a:off x="3703320" y="285292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−0.10 to 0.25</a:t>
            </a:r>
            <a:endParaRPr lang="en-US" sz="1050" dirty="0"/>
          </a:p>
        </p:txBody>
      </p:sp>
      <p:sp>
        <p:nvSpPr>
          <p:cNvPr id="22" name="Text 20"/>
          <p:cNvSpPr txBox="1"/>
          <p:nvPr/>
        </p:nvSpPr>
        <p:spPr>
          <a:xfrm>
            <a:off x="5303520" y="285292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Requires measured prints; the modelled chain's slope is a constant.</a:t>
            </a:r>
            <a:endParaRPr lang="en-US" sz="1050" dirty="0"/>
          </a:p>
        </p:txBody>
      </p:sp>
      <p:sp>
        <p:nvSpPr>
          <p:cNvPr id="23" name="Text 21"/>
          <p:cNvSpPr txBox="1"/>
          <p:nvPr/>
        </p:nvSpPr>
        <p:spPr>
          <a:xfrm>
            <a:off x="640080" y="3236976"/>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COST AND TIMING</a:t>
            </a:r>
            <a:endParaRPr lang="en-US" sz="1150" dirty="0"/>
          </a:p>
        </p:txBody>
      </p:sp>
      <p:sp>
        <p:nvSpPr>
          <p:cNvPr id="24" name="Shape 22"/>
          <p:cNvSpPr/>
          <p:nvPr/>
        </p:nvSpPr>
        <p:spPr>
          <a:xfrm>
            <a:off x="640080" y="3511296"/>
            <a:ext cx="10881360" cy="292608"/>
          </a:xfrm>
          <a:prstGeom prst="roundRect">
            <a:avLst>
              <a:gd name="adj" fmla="val 18750"/>
            </a:avLst>
          </a:prstGeom>
          <a:solidFill>
            <a:srgbClr val="F7F9FC"/>
          </a:solidFill>
          <a:ln w="12700">
            <a:solidFill>
              <a:srgbClr val="F7F9FC"/>
            </a:solidFill>
            <a:prstDash val="solid"/>
          </a:ln>
        </p:spPr>
      </p:sp>
      <p:sp>
        <p:nvSpPr>
          <p:cNvPr id="25" name="Text 23"/>
          <p:cNvSpPr txBox="1"/>
          <p:nvPr/>
        </p:nvSpPr>
        <p:spPr>
          <a:xfrm>
            <a:off x="822960" y="352958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max_relative_spread</a:t>
            </a:r>
            <a:endParaRPr lang="en-US" sz="1050" dirty="0"/>
          </a:p>
        </p:txBody>
      </p:sp>
      <p:sp>
        <p:nvSpPr>
          <p:cNvPr id="26" name="Text 24"/>
          <p:cNvSpPr txBox="1"/>
          <p:nvPr/>
        </p:nvSpPr>
        <p:spPr>
          <a:xfrm>
            <a:off x="3703320" y="352958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0.04</a:t>
            </a:r>
            <a:endParaRPr lang="en-US" sz="1050" dirty="0"/>
          </a:p>
        </p:txBody>
      </p:sp>
      <p:sp>
        <p:nvSpPr>
          <p:cNvPr id="27" name="Text 25"/>
          <p:cNvSpPr txBox="1"/>
          <p:nvPr/>
        </p:nvSpPr>
        <p:spPr>
          <a:xfrm>
            <a:off x="5303520" y="352958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2% was below the tightest quote in the universe — unpassable.</a:t>
            </a:r>
            <a:endParaRPr lang="en-US" sz="1050" dirty="0"/>
          </a:p>
        </p:txBody>
      </p:sp>
      <p:sp>
        <p:nvSpPr>
          <p:cNvPr id="28" name="Text 26"/>
          <p:cNvSpPr txBox="1"/>
          <p:nvPr/>
        </p:nvSpPr>
        <p:spPr>
          <a:xfrm>
            <a:off x="822960" y="380390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spread_cost / target</a:t>
            </a:r>
            <a:endParaRPr lang="en-US" sz="1050" dirty="0"/>
          </a:p>
        </p:txBody>
      </p:sp>
      <p:sp>
        <p:nvSpPr>
          <p:cNvPr id="29" name="Text 27"/>
          <p:cNvSpPr txBox="1"/>
          <p:nvPr/>
        </p:nvSpPr>
        <p:spPr>
          <a:xfrm>
            <a:off x="3703320" y="380390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0.30</a:t>
            </a:r>
            <a:endParaRPr lang="en-US" sz="1050" dirty="0"/>
          </a:p>
        </p:txBody>
      </p:sp>
      <p:sp>
        <p:nvSpPr>
          <p:cNvPr id="30" name="Text 28"/>
          <p:cNvSpPr txBox="1"/>
          <p:nvPr/>
        </p:nvSpPr>
        <p:spPr>
          <a:xfrm>
            <a:off x="5303520" y="380390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The binding, economically meaningful test.</a:t>
            </a:r>
            <a:endParaRPr lang="en-US" sz="1050" dirty="0"/>
          </a:p>
        </p:txBody>
      </p:sp>
      <p:sp>
        <p:nvSpPr>
          <p:cNvPr id="31" name="Shape 29"/>
          <p:cNvSpPr/>
          <p:nvPr/>
        </p:nvSpPr>
        <p:spPr>
          <a:xfrm>
            <a:off x="640080" y="4059936"/>
            <a:ext cx="10881360" cy="292608"/>
          </a:xfrm>
          <a:prstGeom prst="roundRect">
            <a:avLst>
              <a:gd name="adj" fmla="val 18750"/>
            </a:avLst>
          </a:prstGeom>
          <a:solidFill>
            <a:srgbClr val="F7F9FC"/>
          </a:solidFill>
          <a:ln w="12700">
            <a:solidFill>
              <a:srgbClr val="F7F9FC"/>
            </a:solidFill>
            <a:prstDash val="solid"/>
          </a:ln>
        </p:spPr>
      </p:sp>
      <p:sp>
        <p:nvSpPr>
          <p:cNvPr id="32" name="Text 30"/>
          <p:cNvSpPr txBox="1"/>
          <p:nvPr/>
        </p:nvSpPr>
        <p:spPr>
          <a:xfrm>
            <a:off x="822960" y="407822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entry window</a:t>
            </a:r>
            <a:endParaRPr lang="en-US" sz="1050" dirty="0"/>
          </a:p>
        </p:txBody>
      </p:sp>
      <p:sp>
        <p:nvSpPr>
          <p:cNvPr id="33" name="Text 31"/>
          <p:cNvSpPr txBox="1"/>
          <p:nvPr/>
        </p:nvSpPr>
        <p:spPr>
          <a:xfrm>
            <a:off x="3703320" y="407822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09:45–14:45</a:t>
            </a:r>
            <a:endParaRPr lang="en-US" sz="1050" dirty="0"/>
          </a:p>
        </p:txBody>
      </p:sp>
      <p:sp>
        <p:nvSpPr>
          <p:cNvPr id="34" name="Text 32"/>
          <p:cNvSpPr txBox="1"/>
          <p:nvPr/>
        </p:nvSpPr>
        <p:spPr>
          <a:xfrm>
            <a:off x="5303520" y="407822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Lunch 11:30–13:30 skipped.</a:t>
            </a:r>
            <a:endParaRPr lang="en-US" sz="1050" dirty="0"/>
          </a:p>
        </p:txBody>
      </p:sp>
      <p:sp>
        <p:nvSpPr>
          <p:cNvPr id="35" name="Text 33"/>
          <p:cNvSpPr txBox="1"/>
          <p:nvPr/>
        </p:nvSpPr>
        <p:spPr>
          <a:xfrm>
            <a:off x="822960" y="435254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dte_max</a:t>
            </a:r>
            <a:endParaRPr lang="en-US" sz="1050" dirty="0"/>
          </a:p>
        </p:txBody>
      </p:sp>
      <p:sp>
        <p:nvSpPr>
          <p:cNvPr id="36" name="Text 34"/>
          <p:cNvSpPr txBox="1"/>
          <p:nvPr/>
        </p:nvSpPr>
        <p:spPr>
          <a:xfrm>
            <a:off x="3703320" y="435254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2</a:t>
            </a:r>
            <a:endParaRPr lang="en-US" sz="1050" dirty="0"/>
          </a:p>
        </p:txBody>
      </p:sp>
      <p:sp>
        <p:nvSpPr>
          <p:cNvPr id="37" name="Text 35"/>
          <p:cNvSpPr txBox="1"/>
          <p:nvPr/>
        </p:nvSpPr>
        <p:spPr>
          <a:xfrm>
            <a:off x="5303520" y="435254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Front-expiry gamma is the point.</a:t>
            </a:r>
            <a:endParaRPr lang="en-US" sz="1050" dirty="0"/>
          </a:p>
        </p:txBody>
      </p:sp>
      <p:sp>
        <p:nvSpPr>
          <p:cNvPr id="38" name="Text 36"/>
          <p:cNvSpPr txBox="1"/>
          <p:nvPr/>
        </p:nvSpPr>
        <p:spPr>
          <a:xfrm>
            <a:off x="640080" y="4736592"/>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SELECTION AND EXITS</a:t>
            </a:r>
            <a:endParaRPr lang="en-US" sz="1150" dirty="0"/>
          </a:p>
        </p:txBody>
      </p:sp>
      <p:sp>
        <p:nvSpPr>
          <p:cNvPr id="39" name="Shape 37"/>
          <p:cNvSpPr/>
          <p:nvPr/>
        </p:nvSpPr>
        <p:spPr>
          <a:xfrm>
            <a:off x="640080" y="5010912"/>
            <a:ext cx="10881360" cy="292608"/>
          </a:xfrm>
          <a:prstGeom prst="roundRect">
            <a:avLst>
              <a:gd name="adj" fmla="val 18750"/>
            </a:avLst>
          </a:prstGeom>
          <a:solidFill>
            <a:srgbClr val="F7F9FC"/>
          </a:solidFill>
          <a:ln w="12700">
            <a:solidFill>
              <a:srgbClr val="F7F9FC"/>
            </a:solidFill>
            <a:prstDash val="solid"/>
          </a:ln>
        </p:spPr>
      </p:sp>
      <p:sp>
        <p:nvSpPr>
          <p:cNvPr id="40" name="Text 38"/>
          <p:cNvSpPr txBox="1"/>
          <p:nvPr/>
        </p:nvSpPr>
        <p:spPr>
          <a:xfrm>
            <a:off x="822960" y="502920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iv_rank_no_trade_above</a:t>
            </a:r>
            <a:endParaRPr lang="en-US" sz="1050" dirty="0"/>
          </a:p>
        </p:txBody>
      </p:sp>
      <p:sp>
        <p:nvSpPr>
          <p:cNvPr id="41" name="Text 39"/>
          <p:cNvSpPr txBox="1"/>
          <p:nvPr/>
        </p:nvSpPr>
        <p:spPr>
          <a:xfrm>
            <a:off x="3703320" y="502920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0.85</a:t>
            </a:r>
            <a:endParaRPr lang="en-US" sz="1050" dirty="0"/>
          </a:p>
        </p:txBody>
      </p:sp>
      <p:sp>
        <p:nvSpPr>
          <p:cNvPr id="42" name="Text 40"/>
          <p:cNvSpPr txBox="1"/>
          <p:nvPr/>
        </p:nvSpPr>
        <p:spPr>
          <a:xfrm>
            <a:off x="5303520" y="502920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Declining when the move is already priced in.</a:t>
            </a:r>
            <a:endParaRPr lang="en-US" sz="1050" dirty="0"/>
          </a:p>
        </p:txBody>
      </p:sp>
      <p:sp>
        <p:nvSpPr>
          <p:cNvPr id="43" name="Text 41"/>
          <p:cNvSpPr txBox="1"/>
          <p:nvPr/>
        </p:nvSpPr>
        <p:spPr>
          <a:xfrm>
            <a:off x="822960" y="530352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max_option_price</a:t>
            </a:r>
            <a:endParaRPr lang="en-US" sz="1050" dirty="0"/>
          </a:p>
        </p:txBody>
      </p:sp>
      <p:sp>
        <p:nvSpPr>
          <p:cNvPr id="44" name="Text 42"/>
          <p:cNvSpPr txBox="1"/>
          <p:nvPr/>
        </p:nvSpPr>
        <p:spPr>
          <a:xfrm>
            <a:off x="3703320" y="530352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$25.00</a:t>
            </a:r>
            <a:endParaRPr lang="en-US" sz="1050" dirty="0"/>
          </a:p>
        </p:txBody>
      </p:sp>
      <p:sp>
        <p:nvSpPr>
          <p:cNvPr id="45" name="Text 43"/>
          <p:cNvSpPr txBox="1"/>
          <p:nvPr/>
        </p:nvSpPr>
        <p:spPr>
          <a:xfrm>
            <a:off x="5303520" y="530352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Stops selection landing on a deep-ITM contract.</a:t>
            </a:r>
            <a:endParaRPr lang="en-US" sz="1050" dirty="0"/>
          </a:p>
        </p:txBody>
      </p:sp>
      <p:sp>
        <p:nvSpPr>
          <p:cNvPr id="46" name="Shape 44"/>
          <p:cNvSpPr/>
          <p:nvPr/>
        </p:nvSpPr>
        <p:spPr>
          <a:xfrm>
            <a:off x="640080" y="5559552"/>
            <a:ext cx="10881360" cy="292608"/>
          </a:xfrm>
          <a:prstGeom prst="roundRect">
            <a:avLst>
              <a:gd name="adj" fmla="val 18750"/>
            </a:avLst>
          </a:prstGeom>
          <a:solidFill>
            <a:srgbClr val="F7F9FC"/>
          </a:solidFill>
          <a:ln w="12700">
            <a:solidFill>
              <a:srgbClr val="F7F9FC"/>
            </a:solidFill>
            <a:prstDash val="solid"/>
          </a:ln>
        </p:spPr>
      </p:sp>
      <p:sp>
        <p:nvSpPr>
          <p:cNvPr id="47" name="Text 45"/>
          <p:cNvSpPr txBox="1"/>
          <p:nvPr/>
        </p:nvSpPr>
        <p:spPr>
          <a:xfrm>
            <a:off x="822960" y="557784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target / stop</a:t>
            </a:r>
            <a:endParaRPr lang="en-US" sz="1050" dirty="0"/>
          </a:p>
        </p:txBody>
      </p:sp>
      <p:sp>
        <p:nvSpPr>
          <p:cNvPr id="48" name="Text 46"/>
          <p:cNvSpPr txBox="1"/>
          <p:nvPr/>
        </p:nvSpPr>
        <p:spPr>
          <a:xfrm>
            <a:off x="3703320" y="557784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10% / 15%</a:t>
            </a:r>
            <a:endParaRPr lang="en-US" sz="1050" dirty="0"/>
          </a:p>
        </p:txBody>
      </p:sp>
      <p:sp>
        <p:nvSpPr>
          <p:cNvPr id="49" name="Text 47"/>
          <p:cNvSpPr txBox="1"/>
          <p:nvPr/>
        </p:nvSpPr>
        <p:spPr>
          <a:xfrm>
            <a:off x="5303520" y="557784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Stop wider on purpose; implies a ~60% breakeven hit rate.</a:t>
            </a:r>
            <a:endParaRPr lang="en-US" sz="1050" dirty="0"/>
          </a:p>
        </p:txBody>
      </p:sp>
      <p:sp>
        <p:nvSpPr>
          <p:cNvPr id="50" name="Text 48"/>
          <p:cNvSpPr txBox="1"/>
          <p:nvPr/>
        </p:nvSpPr>
        <p:spPr>
          <a:xfrm>
            <a:off x="822960" y="585216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time_stop / flat_by</a:t>
            </a:r>
            <a:endParaRPr lang="en-US" sz="1050" dirty="0"/>
          </a:p>
        </p:txBody>
      </p:sp>
      <p:sp>
        <p:nvSpPr>
          <p:cNvPr id="51" name="Text 49"/>
          <p:cNvSpPr txBox="1"/>
          <p:nvPr/>
        </p:nvSpPr>
        <p:spPr>
          <a:xfrm>
            <a:off x="3703320" y="585216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20 min / 15:10</a:t>
            </a:r>
            <a:endParaRPr lang="en-US" sz="1050" dirty="0"/>
          </a:p>
        </p:txBody>
      </p:sp>
      <p:sp>
        <p:nvSpPr>
          <p:cNvPr id="52" name="Text 50"/>
          <p:cNvSpPr txBox="1"/>
          <p:nvPr/>
        </p:nvSpPr>
        <p:spPr>
          <a:xfrm>
            <a:off x="5303520" y="585216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Flat five minutes ahead of the firewall cutoff.</a:t>
            </a:r>
            <a:endParaRPr lang="en-US" sz="1050" dirty="0"/>
          </a:p>
        </p:txBody>
      </p:sp>
      <p:sp>
        <p:nvSpPr>
          <p:cNvPr id="53" name="Text 51"/>
          <p:cNvSpPr txBox="1"/>
          <p:nvPr/>
        </p:nvSpPr>
        <p:spPr>
          <a:xfrm>
            <a:off x="640080" y="6199632"/>
            <a:ext cx="10881360" cy="365760"/>
          </a:xfrm>
          <a:prstGeom prst="rect">
            <a:avLst/>
          </a:prstGeom>
          <a:noFill/>
          <a:ln/>
        </p:spPr>
        <p:txBody>
          <a:bodyPr wrap="square" lIns="0" tIns="0" rIns="0" bIns="0" rtlCol="0" anchor="ctr"/>
          <a:lstStyle/>
          <a:p>
            <a:pPr indent="0" marL="0">
              <a:buNone/>
            </a:pPr>
            <a:r>
              <a:rPr lang="en-US" sz="1050" i="1" dirty="0">
                <a:solidFill>
                  <a:srgbClr val="5A6779"/>
                </a:solidFill>
                <a:latin typeface="Calibri" pitchFamily="34" charset="0"/>
                <a:ea typeface="Calibri" pitchFamily="34" charset="-122"/>
                <a:cs typeface="Calibri" pitchFamily="34" charset="-120"/>
              </a:rPr>
              <a:t>Universe: SPY QQQ IWM DIA XLF XLE TLT GLD — index products only; a $0.10-wide single-name quote costs $20 round trip against a $10–30 target.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5A6779"/>
                </a:solidFill>
                <a:latin typeface="Calibri" pitchFamily="34" charset="0"/>
                <a:ea typeface="Calibri" pitchFamily="34" charset="-122"/>
                <a:cs typeface="Calibri" pitchFamily="34" charset="-120"/>
              </a:rPr>
              <a:t>APPENDIX C</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earnings_event_directional — every parameter</a:t>
            </a:r>
            <a:endParaRPr lang="en-US" sz="3000" dirty="0"/>
          </a:p>
        </p:txBody>
      </p:sp>
      <p:sp>
        <p:nvSpPr>
          <p:cNvPr id="4" name="Text 2"/>
          <p:cNvSpPr txBox="1"/>
          <p:nvPr/>
        </p:nvSpPr>
        <p:spPr>
          <a:xfrm>
            <a:off x="640080" y="1463040"/>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SCREEN AND CALENDAR</a:t>
            </a:r>
            <a:endParaRPr lang="en-US" sz="1150" dirty="0"/>
          </a:p>
        </p:txBody>
      </p:sp>
      <p:sp>
        <p:nvSpPr>
          <p:cNvPr id="5" name="Shape 3"/>
          <p:cNvSpPr/>
          <p:nvPr/>
        </p:nvSpPr>
        <p:spPr>
          <a:xfrm>
            <a:off x="640080" y="1737360"/>
            <a:ext cx="10881360" cy="292608"/>
          </a:xfrm>
          <a:prstGeom prst="roundRect">
            <a:avLst>
              <a:gd name="adj" fmla="val 18750"/>
            </a:avLst>
          </a:prstGeom>
          <a:solidFill>
            <a:srgbClr val="F7F9FC"/>
          </a:solidFill>
          <a:ln w="12700">
            <a:solidFill>
              <a:srgbClr val="F7F9FC"/>
            </a:solidFill>
            <a:prstDash val="solid"/>
          </a:ln>
        </p:spPr>
      </p:sp>
      <p:sp>
        <p:nvSpPr>
          <p:cNvPr id="6" name="Text 4"/>
          <p:cNvSpPr txBox="1"/>
          <p:nvPr/>
        </p:nvSpPr>
        <p:spPr>
          <a:xfrm>
            <a:off x="822960" y="175564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min_implied_move_pct</a:t>
            </a:r>
            <a:endParaRPr lang="en-US" sz="1050" dirty="0"/>
          </a:p>
        </p:txBody>
      </p:sp>
      <p:sp>
        <p:nvSpPr>
          <p:cNvPr id="7" name="Text 5"/>
          <p:cNvSpPr txBox="1"/>
          <p:nvPr/>
        </p:nvSpPr>
        <p:spPr>
          <a:xfrm>
            <a:off x="3703320" y="175564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3.0</a:t>
            </a:r>
            <a:endParaRPr lang="en-US" sz="1050" dirty="0"/>
          </a:p>
        </p:txBody>
      </p:sp>
      <p:sp>
        <p:nvSpPr>
          <p:cNvPr id="8" name="Text 6"/>
          <p:cNvSpPr txBox="1"/>
          <p:nvPr/>
        </p:nvSpPr>
        <p:spPr>
          <a:xfrm>
            <a:off x="5303520" y="175564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Below this no event is priced in, and the round trip still costs four spreads.</a:t>
            </a:r>
            <a:endParaRPr lang="en-US" sz="1050" dirty="0"/>
          </a:p>
        </p:txBody>
      </p:sp>
      <p:sp>
        <p:nvSpPr>
          <p:cNvPr id="9" name="Text 7"/>
          <p:cNvSpPr txBox="1"/>
          <p:nvPr/>
        </p:nvSpPr>
        <p:spPr>
          <a:xfrm>
            <a:off x="822960" y="202996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max_relative_spread</a:t>
            </a:r>
            <a:endParaRPr lang="en-US" sz="1050" dirty="0"/>
          </a:p>
        </p:txBody>
      </p:sp>
      <p:sp>
        <p:nvSpPr>
          <p:cNvPr id="10" name="Text 8"/>
          <p:cNvSpPr txBox="1"/>
          <p:nvPr/>
        </p:nvSpPr>
        <p:spPr>
          <a:xfrm>
            <a:off x="3703320" y="202996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0.25</a:t>
            </a:r>
            <a:endParaRPr lang="en-US" sz="1050" dirty="0"/>
          </a:p>
        </p:txBody>
      </p:sp>
      <p:sp>
        <p:nvSpPr>
          <p:cNvPr id="11" name="Text 9"/>
          <p:cNvSpPr txBox="1"/>
          <p:nvPr/>
        </p:nvSpPr>
        <p:spPr>
          <a:xfrm>
            <a:off x="5303520" y="202996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The binding gate. GTLB at $45 pays ~$80 of a ~$120 credit to the market maker.</a:t>
            </a:r>
            <a:endParaRPr lang="en-US" sz="1050" dirty="0"/>
          </a:p>
        </p:txBody>
      </p:sp>
      <p:sp>
        <p:nvSpPr>
          <p:cNvPr id="12" name="Shape 10"/>
          <p:cNvSpPr/>
          <p:nvPr/>
        </p:nvSpPr>
        <p:spPr>
          <a:xfrm>
            <a:off x="640080" y="2286000"/>
            <a:ext cx="10881360" cy="292608"/>
          </a:xfrm>
          <a:prstGeom prst="roundRect">
            <a:avLst>
              <a:gd name="adj" fmla="val 18750"/>
            </a:avLst>
          </a:prstGeom>
          <a:solidFill>
            <a:srgbClr val="F7F9FC"/>
          </a:solidFill>
          <a:ln w="12700">
            <a:solidFill>
              <a:srgbClr val="F7F9FC"/>
            </a:solidFill>
            <a:prstDash val="solid"/>
          </a:ln>
        </p:spPr>
      </p:sp>
      <p:sp>
        <p:nvSpPr>
          <p:cNvPr id="13" name="Text 11"/>
          <p:cNvSpPr txBox="1"/>
          <p:nvPr/>
        </p:nvSpPr>
        <p:spPr>
          <a:xfrm>
            <a:off x="822960" y="230428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top_n</a:t>
            </a:r>
            <a:endParaRPr lang="en-US" sz="1050" dirty="0"/>
          </a:p>
        </p:txBody>
      </p:sp>
      <p:sp>
        <p:nvSpPr>
          <p:cNvPr id="14" name="Text 12"/>
          <p:cNvSpPr txBox="1"/>
          <p:nvPr/>
        </p:nvSpPr>
        <p:spPr>
          <a:xfrm>
            <a:off x="3703320" y="230428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10</a:t>
            </a:r>
            <a:endParaRPr lang="en-US" sz="1050" dirty="0"/>
          </a:p>
        </p:txBody>
      </p:sp>
      <p:sp>
        <p:nvSpPr>
          <p:cNvPr id="15" name="Text 13"/>
          <p:cNvSpPr txBox="1"/>
          <p:nvPr/>
        </p:nvSpPr>
        <p:spPr>
          <a:xfrm>
            <a:off x="5303520" y="230428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One LLM call each; ten positions sharing one night's risk budget.</a:t>
            </a:r>
            <a:endParaRPr lang="en-US" sz="1050" dirty="0"/>
          </a:p>
        </p:txBody>
      </p:sp>
      <p:sp>
        <p:nvSpPr>
          <p:cNvPr id="16" name="Text 14"/>
          <p:cNvSpPr txBox="1"/>
          <p:nvPr/>
        </p:nvSpPr>
        <p:spPr>
          <a:xfrm>
            <a:off x="822960" y="2578608"/>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calendar confirmation</a:t>
            </a:r>
            <a:endParaRPr lang="en-US" sz="1050" dirty="0"/>
          </a:p>
        </p:txBody>
      </p:sp>
      <p:sp>
        <p:nvSpPr>
          <p:cNvPr id="17" name="Text 15"/>
          <p:cNvSpPr txBox="1"/>
          <p:nvPr/>
        </p:nvSpPr>
        <p:spPr>
          <a:xfrm>
            <a:off x="3703320" y="2578608"/>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required</a:t>
            </a:r>
            <a:endParaRPr lang="en-US" sz="1050" dirty="0"/>
          </a:p>
        </p:txBody>
      </p:sp>
      <p:sp>
        <p:nvSpPr>
          <p:cNvPr id="18" name="Text 16"/>
          <p:cNvSpPr txBox="1"/>
          <p:nvPr/>
        </p:nvSpPr>
        <p:spPr>
          <a:xfrm>
            <a:off x="5303520" y="2578608"/>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The model proposes; the calendar file confirms. Unverified names never arm.</a:t>
            </a:r>
            <a:endParaRPr lang="en-US" sz="1050" dirty="0"/>
          </a:p>
        </p:txBody>
      </p:sp>
      <p:sp>
        <p:nvSpPr>
          <p:cNvPr id="19" name="Text 17"/>
          <p:cNvSpPr txBox="1"/>
          <p:nvPr/>
        </p:nvSpPr>
        <p:spPr>
          <a:xfrm>
            <a:off x="640080" y="2962656"/>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WATCH AND DIRECTION</a:t>
            </a:r>
            <a:endParaRPr lang="en-US" sz="1150" dirty="0"/>
          </a:p>
        </p:txBody>
      </p:sp>
      <p:sp>
        <p:nvSpPr>
          <p:cNvPr id="20" name="Shape 18"/>
          <p:cNvSpPr/>
          <p:nvPr/>
        </p:nvSpPr>
        <p:spPr>
          <a:xfrm>
            <a:off x="640080" y="3236976"/>
            <a:ext cx="10881360" cy="292608"/>
          </a:xfrm>
          <a:prstGeom prst="roundRect">
            <a:avLst>
              <a:gd name="adj" fmla="val 18750"/>
            </a:avLst>
          </a:prstGeom>
          <a:solidFill>
            <a:srgbClr val="F7F9FC"/>
          </a:solidFill>
          <a:ln w="12700">
            <a:solidFill>
              <a:srgbClr val="F7F9FC"/>
            </a:solidFill>
            <a:prstDash val="solid"/>
          </a:ln>
        </p:spPr>
      </p:sp>
      <p:sp>
        <p:nvSpPr>
          <p:cNvPr id="21" name="Text 19"/>
          <p:cNvSpPr txBox="1"/>
          <p:nvPr/>
        </p:nvSpPr>
        <p:spPr>
          <a:xfrm>
            <a:off x="822960" y="325526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lookahead_days</a:t>
            </a:r>
            <a:endParaRPr lang="en-US" sz="1050" dirty="0"/>
          </a:p>
        </p:txBody>
      </p:sp>
      <p:sp>
        <p:nvSpPr>
          <p:cNvPr id="22" name="Text 20"/>
          <p:cNvSpPr txBox="1"/>
          <p:nvPr/>
        </p:nvSpPr>
        <p:spPr>
          <a:xfrm>
            <a:off x="3703320" y="325526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3</a:t>
            </a:r>
            <a:endParaRPr lang="en-US" sz="1050" dirty="0"/>
          </a:p>
        </p:txBody>
      </p:sp>
      <p:sp>
        <p:nvSpPr>
          <p:cNvPr id="23" name="Text 21"/>
          <p:cNvSpPr txBox="1"/>
          <p:nvPr/>
        </p:nvSpPr>
        <p:spPr>
          <a:xfrm>
            <a:off x="5303520" y="325526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Hourly polls from three days out. No new items means no model call.</a:t>
            </a:r>
            <a:endParaRPr lang="en-US" sz="1050" dirty="0"/>
          </a:p>
        </p:txBody>
      </p:sp>
      <p:sp>
        <p:nvSpPr>
          <p:cNvPr id="24" name="Text 22"/>
          <p:cNvSpPr txBox="1"/>
          <p:nvPr/>
        </p:nvSpPr>
        <p:spPr>
          <a:xfrm>
            <a:off x="822960" y="352958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min_salience / max_notes</a:t>
            </a:r>
            <a:endParaRPr lang="en-US" sz="1050" dirty="0"/>
          </a:p>
        </p:txBody>
      </p:sp>
      <p:sp>
        <p:nvSpPr>
          <p:cNvPr id="25" name="Text 23"/>
          <p:cNvSpPr txBox="1"/>
          <p:nvPr/>
        </p:nvSpPr>
        <p:spPr>
          <a:xfrm>
            <a:off x="3703320" y="352958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0.35 / 40</a:t>
            </a:r>
            <a:endParaRPr lang="en-US" sz="1050" dirty="0"/>
          </a:p>
        </p:txBody>
      </p:sp>
      <p:sp>
        <p:nvSpPr>
          <p:cNvPr id="26" name="Text 24"/>
          <p:cNvSpPr txBox="1"/>
          <p:nvPr/>
        </p:nvSpPr>
        <p:spPr>
          <a:xfrm>
            <a:off x="5303520" y="352958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Ten low-salience notes dilute the two that matter.</a:t>
            </a:r>
            <a:endParaRPr lang="en-US" sz="1050" dirty="0"/>
          </a:p>
        </p:txBody>
      </p:sp>
      <p:sp>
        <p:nvSpPr>
          <p:cNvPr id="27" name="Shape 25"/>
          <p:cNvSpPr/>
          <p:nvPr/>
        </p:nvSpPr>
        <p:spPr>
          <a:xfrm>
            <a:off x="640080" y="3785616"/>
            <a:ext cx="10881360" cy="292608"/>
          </a:xfrm>
          <a:prstGeom prst="roundRect">
            <a:avLst>
              <a:gd name="adj" fmla="val 18750"/>
            </a:avLst>
          </a:prstGeom>
          <a:solidFill>
            <a:srgbClr val="F7F9FC"/>
          </a:solidFill>
          <a:ln w="12700">
            <a:solidFill>
              <a:srgbClr val="F7F9FC"/>
            </a:solidFill>
            <a:prstDash val="solid"/>
          </a:ln>
        </p:spPr>
      </p:sp>
      <p:sp>
        <p:nvSpPr>
          <p:cNvPr id="28" name="Text 26"/>
          <p:cNvSpPr txBox="1"/>
          <p:nvPr/>
        </p:nvSpPr>
        <p:spPr>
          <a:xfrm>
            <a:off x="822960" y="380390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min_confidence</a:t>
            </a:r>
            <a:endParaRPr lang="en-US" sz="1050" dirty="0"/>
          </a:p>
        </p:txBody>
      </p:sp>
      <p:sp>
        <p:nvSpPr>
          <p:cNvPr id="29" name="Text 27"/>
          <p:cNvSpPr txBox="1"/>
          <p:nvPr/>
        </p:nvSpPr>
        <p:spPr>
          <a:xfrm>
            <a:off x="3703320" y="380390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0.55</a:t>
            </a:r>
            <a:endParaRPr lang="en-US" sz="1050" dirty="0"/>
          </a:p>
        </p:txBody>
      </p:sp>
      <p:sp>
        <p:nvSpPr>
          <p:cNvPr id="30" name="Text 28"/>
          <p:cNvSpPr txBox="1"/>
          <p:nvPr/>
        </p:nvSpPr>
        <p:spPr>
          <a:xfrm>
            <a:off x="5303520" y="380390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The single most important number in the file — and it sets the size.</a:t>
            </a:r>
            <a:endParaRPr lang="en-US" sz="1050" dirty="0"/>
          </a:p>
        </p:txBody>
      </p:sp>
      <p:sp>
        <p:nvSpPr>
          <p:cNvPr id="31" name="Text 29"/>
          <p:cNvSpPr txBox="1"/>
          <p:nvPr/>
        </p:nvSpPr>
        <p:spPr>
          <a:xfrm>
            <a:off x="822960" y="4078224"/>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expected_abstention</a:t>
            </a:r>
            <a:endParaRPr lang="en-US" sz="1050" dirty="0"/>
          </a:p>
        </p:txBody>
      </p:sp>
      <p:sp>
        <p:nvSpPr>
          <p:cNvPr id="32" name="Text 30"/>
          <p:cNvSpPr txBox="1"/>
          <p:nvPr/>
        </p:nvSpPr>
        <p:spPr>
          <a:xfrm>
            <a:off x="3703320" y="4078224"/>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0.40</a:t>
            </a:r>
            <a:endParaRPr lang="en-US" sz="1050" dirty="0"/>
          </a:p>
        </p:txBody>
      </p:sp>
      <p:sp>
        <p:nvSpPr>
          <p:cNvPr id="33" name="Text 31"/>
          <p:cNvSpPr txBox="1"/>
          <p:nvPr/>
        </p:nvSpPr>
        <p:spPr>
          <a:xfrm>
            <a:off x="5303520" y="4078224"/>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A zero abstention rate logs a warning: that model is not filtering.</a:t>
            </a:r>
            <a:endParaRPr lang="en-US" sz="1050" dirty="0"/>
          </a:p>
        </p:txBody>
      </p:sp>
      <p:sp>
        <p:nvSpPr>
          <p:cNvPr id="34" name="Text 32"/>
          <p:cNvSpPr txBox="1"/>
          <p:nvPr/>
        </p:nvSpPr>
        <p:spPr>
          <a:xfrm>
            <a:off x="640080" y="4462272"/>
            <a:ext cx="10881360" cy="256032"/>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STRUCTURE AND SIZE</a:t>
            </a:r>
            <a:endParaRPr lang="en-US" sz="1150" dirty="0"/>
          </a:p>
        </p:txBody>
      </p:sp>
      <p:sp>
        <p:nvSpPr>
          <p:cNvPr id="35" name="Shape 33"/>
          <p:cNvSpPr/>
          <p:nvPr/>
        </p:nvSpPr>
        <p:spPr>
          <a:xfrm>
            <a:off x="640080" y="4736592"/>
            <a:ext cx="10881360" cy="292608"/>
          </a:xfrm>
          <a:prstGeom prst="roundRect">
            <a:avLst>
              <a:gd name="adj" fmla="val 18750"/>
            </a:avLst>
          </a:prstGeom>
          <a:solidFill>
            <a:srgbClr val="F7F9FC"/>
          </a:solidFill>
          <a:ln w="12700">
            <a:solidFill>
              <a:srgbClr val="F7F9FC"/>
            </a:solidFill>
            <a:prstDash val="solid"/>
          </a:ln>
        </p:spPr>
      </p:sp>
      <p:sp>
        <p:nvSpPr>
          <p:cNvPr id="36" name="Text 34"/>
          <p:cNvSpPr txBox="1"/>
          <p:nvPr/>
        </p:nvSpPr>
        <p:spPr>
          <a:xfrm>
            <a:off x="822960" y="475488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rich / cheap threshold</a:t>
            </a:r>
            <a:endParaRPr lang="en-US" sz="1050" dirty="0"/>
          </a:p>
        </p:txBody>
      </p:sp>
      <p:sp>
        <p:nvSpPr>
          <p:cNvPr id="37" name="Text 35"/>
          <p:cNvSpPr txBox="1"/>
          <p:nvPr/>
        </p:nvSpPr>
        <p:spPr>
          <a:xfrm>
            <a:off x="3703320" y="475488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1.35 / 0.80</a:t>
            </a:r>
            <a:endParaRPr lang="en-US" sz="1050" dirty="0"/>
          </a:p>
        </p:txBody>
      </p:sp>
      <p:sp>
        <p:nvSpPr>
          <p:cNvPr id="38" name="Text 36"/>
          <p:cNvSpPr txBox="1"/>
          <p:nvPr/>
        </p:nvSpPr>
        <p:spPr>
          <a:xfrm>
            <a:off x="5303520" y="475488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Outside these, the expression follows the sign. Between them, no trade.</a:t>
            </a:r>
            <a:endParaRPr lang="en-US" sz="1050" dirty="0"/>
          </a:p>
        </p:txBody>
      </p:sp>
      <p:sp>
        <p:nvSpPr>
          <p:cNvPr id="39" name="Text 37"/>
          <p:cNvSpPr txBox="1"/>
          <p:nvPr/>
        </p:nvSpPr>
        <p:spPr>
          <a:xfrm>
            <a:off x="822960" y="502920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shorts_at_implied_move</a:t>
            </a:r>
            <a:endParaRPr lang="en-US" sz="1050" dirty="0"/>
          </a:p>
        </p:txBody>
      </p:sp>
      <p:sp>
        <p:nvSpPr>
          <p:cNvPr id="40" name="Text 38"/>
          <p:cNvSpPr txBox="1"/>
          <p:nvPr/>
        </p:nvSpPr>
        <p:spPr>
          <a:xfrm>
            <a:off x="3703320" y="502920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1.0</a:t>
            </a:r>
            <a:endParaRPr lang="en-US" sz="1050" dirty="0"/>
          </a:p>
        </p:txBody>
      </p:sp>
      <p:sp>
        <p:nvSpPr>
          <p:cNvPr id="41" name="Text 39"/>
          <p:cNvSpPr txBox="1"/>
          <p:nvPr/>
        </p:nvSpPr>
        <p:spPr>
          <a:xfrm>
            <a:off x="5303520" y="502920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Distance, not delta. min_shorts_clearance 0.85 declines a coarse ladder.</a:t>
            </a:r>
            <a:endParaRPr lang="en-US" sz="1050" dirty="0"/>
          </a:p>
        </p:txBody>
      </p:sp>
      <p:sp>
        <p:nvSpPr>
          <p:cNvPr id="42" name="Shape 40"/>
          <p:cNvSpPr/>
          <p:nvPr/>
        </p:nvSpPr>
        <p:spPr>
          <a:xfrm>
            <a:off x="640080" y="5285232"/>
            <a:ext cx="10881360" cy="292608"/>
          </a:xfrm>
          <a:prstGeom prst="roundRect">
            <a:avLst>
              <a:gd name="adj" fmla="val 18750"/>
            </a:avLst>
          </a:prstGeom>
          <a:solidFill>
            <a:srgbClr val="F7F9FC"/>
          </a:solidFill>
          <a:ln w="12700">
            <a:solidFill>
              <a:srgbClr val="F7F9FC"/>
            </a:solidFill>
            <a:prstDash val="solid"/>
          </a:ln>
        </p:spPr>
      </p:sp>
      <p:sp>
        <p:nvSpPr>
          <p:cNvPr id="43" name="Text 41"/>
          <p:cNvSpPr txBox="1"/>
          <p:nvPr/>
        </p:nvSpPr>
        <p:spPr>
          <a:xfrm>
            <a:off x="822960" y="530352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nightly_risk_budget_pct</a:t>
            </a:r>
            <a:endParaRPr lang="en-US" sz="1050" dirty="0"/>
          </a:p>
        </p:txBody>
      </p:sp>
      <p:sp>
        <p:nvSpPr>
          <p:cNvPr id="44" name="Text 42"/>
          <p:cNvSpPr txBox="1"/>
          <p:nvPr/>
        </p:nvSpPr>
        <p:spPr>
          <a:xfrm>
            <a:off x="3703320" y="530352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0.04</a:t>
            </a:r>
            <a:endParaRPr lang="en-US" sz="1050" dirty="0"/>
          </a:p>
        </p:txBody>
      </p:sp>
      <p:sp>
        <p:nvSpPr>
          <p:cNvPr id="45" name="Text 43"/>
          <p:cNvSpPr txBox="1"/>
          <p:nvPr/>
        </p:nvSpPr>
        <p:spPr>
          <a:xfrm>
            <a:off x="5303520" y="530352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Shared across every name opened that night; 1.2% per name.</a:t>
            </a:r>
            <a:endParaRPr lang="en-US" sz="1050" dirty="0"/>
          </a:p>
        </p:txBody>
      </p:sp>
      <p:sp>
        <p:nvSpPr>
          <p:cNvPr id="46" name="Text 44"/>
          <p:cNvSpPr txBox="1"/>
          <p:nvPr/>
        </p:nvSpPr>
        <p:spPr>
          <a:xfrm>
            <a:off x="822960" y="5577840"/>
            <a:ext cx="2834640" cy="256032"/>
          </a:xfrm>
          <a:prstGeom prst="rect">
            <a:avLst/>
          </a:prstGeom>
          <a:noFill/>
          <a:ln/>
        </p:spPr>
        <p:txBody>
          <a:bodyPr wrap="square" lIns="0" tIns="0" rIns="0" bIns="0" rtlCol="0" anchor="ctr"/>
          <a:lstStyle/>
          <a:p>
            <a:pPr indent="0" marL="0">
              <a:buNone/>
            </a:pPr>
            <a:r>
              <a:rPr lang="en-US" sz="1050" dirty="0">
                <a:solidFill>
                  <a:srgbClr val="16202F"/>
                </a:solidFill>
                <a:latin typeface="Courier New" pitchFamily="34" charset="0"/>
                <a:ea typeface="Courier New" pitchFamily="34" charset="-122"/>
                <a:cs typeface="Courier New" pitchFamily="34" charset="-120"/>
              </a:rPr>
              <a:t>arm / flatten</a:t>
            </a:r>
            <a:endParaRPr lang="en-US" sz="1050" dirty="0"/>
          </a:p>
        </p:txBody>
      </p:sp>
      <p:sp>
        <p:nvSpPr>
          <p:cNvPr id="47" name="Text 45"/>
          <p:cNvSpPr txBox="1"/>
          <p:nvPr/>
        </p:nvSpPr>
        <p:spPr>
          <a:xfrm>
            <a:off x="3703320" y="5577840"/>
            <a:ext cx="1554480" cy="256032"/>
          </a:xfrm>
          <a:prstGeom prst="rect">
            <a:avLst/>
          </a:prstGeom>
          <a:noFill/>
          <a:ln/>
        </p:spPr>
        <p:txBody>
          <a:bodyPr wrap="square" lIns="0" tIns="0" rIns="0" bIns="0" rtlCol="0" anchor="ctr"/>
          <a:lstStyle/>
          <a:p>
            <a:pPr indent="0" marL="0">
              <a:buNone/>
            </a:pPr>
            <a:r>
              <a:rPr lang="en-US" sz="1050" b="1" dirty="0">
                <a:solidFill>
                  <a:srgbClr val="2FBF71"/>
                </a:solidFill>
                <a:latin typeface="Calibri" pitchFamily="34" charset="0"/>
                <a:ea typeface="Calibri" pitchFamily="34" charset="-122"/>
                <a:cs typeface="Calibri" pitchFamily="34" charset="-120"/>
              </a:rPr>
              <a:t>15:45 / 09:45</a:t>
            </a:r>
            <a:endParaRPr lang="en-US" sz="1050" dirty="0"/>
          </a:p>
        </p:txBody>
      </p:sp>
      <p:sp>
        <p:nvSpPr>
          <p:cNvPr id="48" name="Text 46"/>
          <p:cNvSpPr txBox="1"/>
          <p:nvPr/>
        </p:nvSpPr>
        <p:spPr>
          <a:xfrm>
            <a:off x="5303520" y="5577840"/>
            <a:ext cx="6035040" cy="256032"/>
          </a:xfrm>
          <a:prstGeom prst="rect">
            <a:avLst/>
          </a:prstGeom>
          <a:noFill/>
          <a:ln/>
        </p:spPr>
        <p:txBody>
          <a:bodyPr wrap="square" lIns="0" tIns="0" rIns="0" bIns="0" rtlCol="0" anchor="ctr"/>
          <a:lstStyle/>
          <a:p>
            <a:pPr indent="0" marL="0">
              <a:buNone/>
            </a:pPr>
            <a:r>
              <a:rPr lang="en-US" sz="1050" dirty="0">
                <a:solidFill>
                  <a:srgbClr val="5A6779"/>
                </a:solidFill>
                <a:latin typeface="Calibri" pitchFamily="34" charset="0"/>
                <a:ea typeface="Calibri" pitchFamily="34" charset="-122"/>
                <a:cs typeface="Calibri" pitchFamily="34" charset="-120"/>
              </a:rPr>
              <a:t>One overnight hold. No intraday management, by design.</a:t>
            </a:r>
            <a:endParaRPr lang="en-US" sz="1050" dirty="0"/>
          </a:p>
        </p:txBody>
      </p:sp>
      <p:sp>
        <p:nvSpPr>
          <p:cNvPr id="49" name="Text 47"/>
          <p:cNvSpPr txBox="1"/>
          <p:nvPr/>
        </p:nvSpPr>
        <p:spPr>
          <a:xfrm>
            <a:off x="640080" y="6199632"/>
            <a:ext cx="10881360" cy="365760"/>
          </a:xfrm>
          <a:prstGeom prst="rect">
            <a:avLst/>
          </a:prstGeom>
          <a:noFill/>
          <a:ln/>
        </p:spPr>
        <p:txBody>
          <a:bodyPr wrap="square" lIns="0" tIns="0" rIns="0" bIns="0" rtlCol="0" anchor="ctr"/>
          <a:lstStyle/>
          <a:p>
            <a:pPr indent="0" marL="0">
              <a:buNone/>
            </a:pPr>
            <a:r>
              <a:rPr lang="en-US" sz="1050" i="1" dirty="0">
                <a:solidFill>
                  <a:srgbClr val="5A6779"/>
                </a:solidFill>
                <a:latin typeface="Calibri" pitchFamily="34" charset="0"/>
                <a:ea typeface="Calibri" pitchFamily="34" charset="-122"/>
                <a:cs typeface="Calibri" pitchFamily="34" charset="-120"/>
              </a:rPr>
              <a:t>Not a firewall tenant: a book whose entire life is one overnight hold does not fit the intraday/carry tenancy model, so it is bounded by size instead.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5A6779"/>
                </a:solidFill>
                <a:latin typeface="Calibri" pitchFamily="34" charset="0"/>
                <a:ea typeface="Calibri" pitchFamily="34" charset="-122"/>
                <a:cs typeface="Calibri" pitchFamily="34" charset="-120"/>
              </a:rPr>
              <a:t>APPENDIX D</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rejection funnel</a:t>
            </a:r>
            <a:endParaRPr lang="en-US" sz="3000" dirty="0"/>
          </a:p>
        </p:txBody>
      </p:sp>
      <p:sp>
        <p:nvSpPr>
          <p:cNvPr id="4" name="Text 2"/>
          <p:cNvSpPr txBox="1"/>
          <p:nvPr/>
        </p:nvSpPr>
        <p:spPr>
          <a:xfrm>
            <a:off x="640080" y="1170432"/>
            <a:ext cx="10881360" cy="411480"/>
          </a:xfrm>
          <a:prstGeom prst="rect">
            <a:avLst/>
          </a:prstGeom>
          <a:noFill/>
          <a:ln/>
        </p:spPr>
        <p:txBody>
          <a:bodyPr wrap="square" lIns="0" tIns="0" rIns="0" bIns="0" rtlCol="0" anchor="ctr"/>
          <a:lstStyle/>
          <a:p>
            <a:pPr indent="0" marL="0">
              <a:buNone/>
            </a:pPr>
            <a:r>
              <a:rPr lang="en-US" sz="1350" dirty="0">
                <a:solidFill>
                  <a:srgbClr val="5A6779"/>
                </a:solidFill>
                <a:latin typeface="Calibri" pitchFamily="34" charset="0"/>
                <a:ea typeface="Calibri" pitchFamily="34" charset="-122"/>
                <a:cs typeface="Calibri" pitchFamily="34" charset="-120"/>
              </a:rPr>
              <a:t>72,753 rejections across the Feb–Aug run, by the gate that stopped the candidate. This log — not the equity curve — is the artefact that shows an agent declining trades with the number that caused it.</a:t>
            </a:r>
            <a:endParaRPr lang="en-US" sz="1350" dirty="0"/>
          </a:p>
        </p:txBody>
      </p:sp>
      <p:graphicFrame>
        <p:nvGraphicFramePr>
          <p:cNvPr id="5" name="Chart 0" descr=""/>
          <p:cNvGraphicFramePr/>
          <p:nvPr/>
        </p:nvGraphicFramePr>
        <p:xfrm>
          <a:off x="640080" y="169164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38160" y="1691640"/>
            <a:ext cx="3383280" cy="1371600"/>
          </a:xfrm>
          <a:prstGeom prst="roundRect">
            <a:avLst>
              <a:gd name="adj" fmla="val 4000"/>
            </a:avLst>
          </a:prstGeom>
          <a:solidFill>
            <a:srgbClr val="F1F4F9"/>
          </a:solidFill>
          <a:ln w="12700">
            <a:solidFill>
              <a:srgbClr val="F1F4F9"/>
            </a:solidFill>
            <a:prstDash val="solid"/>
          </a:ln>
        </p:spPr>
      </p:sp>
      <p:sp>
        <p:nvSpPr>
          <p:cNvPr id="7" name="Text 4"/>
          <p:cNvSpPr txBox="1"/>
          <p:nvPr/>
        </p:nvSpPr>
        <p:spPr>
          <a:xfrm>
            <a:off x="8321040" y="1801368"/>
            <a:ext cx="3017520" cy="457200"/>
          </a:xfrm>
          <a:prstGeom prst="rect">
            <a:avLst/>
          </a:prstGeom>
          <a:noFill/>
          <a:ln/>
        </p:spPr>
        <p:txBody>
          <a:bodyPr wrap="square" lIns="0" tIns="0" rIns="0" bIns="0" rtlCol="0" anchor="ctr"/>
          <a:lstStyle/>
          <a:p>
            <a:pPr indent="0" marL="0">
              <a:lnSpc>
                <a:spcPts val="1400"/>
              </a:lnSpc>
              <a:buNone/>
            </a:pPr>
            <a:r>
              <a:rPr lang="en-US" sz="1150" b="1" dirty="0">
                <a:solidFill>
                  <a:srgbClr val="16202F"/>
                </a:solidFill>
                <a:latin typeface="Courier New" pitchFamily="34" charset="0"/>
                <a:ea typeface="Courier New" pitchFamily="34" charset="-122"/>
                <a:cs typeface="Courier New" pitchFamily="34" charset="-120"/>
              </a:rPr>
              <a:t>premium</a:t>
            </a:r>
            <a:endParaRPr lang="en-US" sz="1150" dirty="0"/>
          </a:p>
        </p:txBody>
      </p:sp>
      <p:sp>
        <p:nvSpPr>
          <p:cNvPr id="8" name="Text 5"/>
          <p:cNvSpPr txBox="1"/>
          <p:nvPr/>
        </p:nvSpPr>
        <p:spPr>
          <a:xfrm>
            <a:off x="8321040" y="2258568"/>
            <a:ext cx="3017520" cy="73152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The carry book's regime filter, and the largest single rejector. It is a filter working, not a block: entries occurred on 43% of sessions.</a:t>
            </a:r>
            <a:endParaRPr lang="en-US" sz="1050" dirty="0"/>
          </a:p>
        </p:txBody>
      </p:sp>
      <p:sp>
        <p:nvSpPr>
          <p:cNvPr id="9" name="Shape 6"/>
          <p:cNvSpPr/>
          <p:nvPr/>
        </p:nvSpPr>
        <p:spPr>
          <a:xfrm>
            <a:off x="8138160" y="3200400"/>
            <a:ext cx="3383280" cy="1371600"/>
          </a:xfrm>
          <a:prstGeom prst="roundRect">
            <a:avLst>
              <a:gd name="adj" fmla="val 4000"/>
            </a:avLst>
          </a:prstGeom>
          <a:solidFill>
            <a:srgbClr val="F1F4F9"/>
          </a:solidFill>
          <a:ln w="12700">
            <a:solidFill>
              <a:srgbClr val="F1F4F9"/>
            </a:solidFill>
            <a:prstDash val="solid"/>
          </a:ln>
        </p:spPr>
      </p:sp>
      <p:sp>
        <p:nvSpPr>
          <p:cNvPr id="10" name="Text 7"/>
          <p:cNvSpPr txBox="1"/>
          <p:nvPr/>
        </p:nvSpPr>
        <p:spPr>
          <a:xfrm>
            <a:off x="8321040" y="3310128"/>
            <a:ext cx="3017520" cy="457200"/>
          </a:xfrm>
          <a:prstGeom prst="rect">
            <a:avLst/>
          </a:prstGeom>
          <a:noFill/>
          <a:ln/>
        </p:spPr>
        <p:txBody>
          <a:bodyPr wrap="square" lIns="0" tIns="0" rIns="0" bIns="0" rtlCol="0" anchor="ctr"/>
          <a:lstStyle/>
          <a:p>
            <a:pPr indent="0" marL="0">
              <a:lnSpc>
                <a:spcPts val="1400"/>
              </a:lnSpc>
              <a:buNone/>
            </a:pPr>
            <a:r>
              <a:rPr lang="en-US" sz="1150" b="1" dirty="0">
                <a:solidFill>
                  <a:srgbClr val="16202F"/>
                </a:solidFill>
                <a:latin typeface="Courier New" pitchFamily="34" charset="0"/>
                <a:ea typeface="Courier New" pitchFamily="34" charset="-122"/>
                <a:cs typeface="Courier New" pitchFamily="34" charset="-120"/>
              </a:rPr>
              <a:t>spread</a:t>
            </a:r>
            <a:endParaRPr lang="en-US" sz="1150" dirty="0"/>
          </a:p>
        </p:txBody>
      </p:sp>
      <p:sp>
        <p:nvSpPr>
          <p:cNvPr id="11" name="Text 8"/>
          <p:cNvSpPr txBox="1"/>
          <p:nvPr/>
        </p:nvSpPr>
        <p:spPr>
          <a:xfrm>
            <a:off x="8321040" y="3767328"/>
            <a:ext cx="3017520" cy="73152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Third largest, and the one that should be large. Execution cost is the binding constraint on both books.</a:t>
            </a:r>
            <a:endParaRPr lang="en-US" sz="1050" dirty="0"/>
          </a:p>
        </p:txBody>
      </p:sp>
      <p:sp>
        <p:nvSpPr>
          <p:cNvPr id="12" name="Shape 9"/>
          <p:cNvSpPr/>
          <p:nvPr/>
        </p:nvSpPr>
        <p:spPr>
          <a:xfrm>
            <a:off x="8138160" y="4709160"/>
            <a:ext cx="3383280" cy="1371600"/>
          </a:xfrm>
          <a:prstGeom prst="roundRect">
            <a:avLst>
              <a:gd name="adj" fmla="val 4000"/>
            </a:avLst>
          </a:prstGeom>
          <a:solidFill>
            <a:srgbClr val="F1F4F9"/>
          </a:solidFill>
          <a:ln w="12700">
            <a:solidFill>
              <a:srgbClr val="F1F4F9"/>
            </a:solidFill>
            <a:prstDash val="solid"/>
          </a:ln>
        </p:spPr>
      </p:sp>
      <p:sp>
        <p:nvSpPr>
          <p:cNvPr id="13" name="Text 10"/>
          <p:cNvSpPr txBox="1"/>
          <p:nvPr/>
        </p:nvSpPr>
        <p:spPr>
          <a:xfrm>
            <a:off x="8321040" y="4818888"/>
            <a:ext cx="3017520" cy="457200"/>
          </a:xfrm>
          <a:prstGeom prst="rect">
            <a:avLst/>
          </a:prstGeom>
          <a:noFill/>
          <a:ln/>
        </p:spPr>
        <p:txBody>
          <a:bodyPr wrap="square" lIns="0" tIns="0" rIns="0" bIns="0" rtlCol="0" anchor="ctr"/>
          <a:lstStyle/>
          <a:p>
            <a:pPr indent="0" marL="0">
              <a:lnSpc>
                <a:spcPts val="1400"/>
              </a:lnSpc>
              <a:buNone/>
            </a:pPr>
            <a:r>
              <a:rPr lang="en-US" sz="1150" b="1" dirty="0">
                <a:solidFill>
                  <a:srgbClr val="16202F"/>
                </a:solidFill>
                <a:latin typeface="Courier New" pitchFamily="34" charset="0"/>
                <a:ea typeface="Courier New" pitchFamily="34" charset="-122"/>
                <a:cs typeface="Courier New" pitchFamily="34" charset="-120"/>
              </a:rPr>
              <a:t>duplicate_structure + reentry_cooldown</a:t>
            </a:r>
            <a:endParaRPr lang="en-US" sz="1150" dirty="0"/>
          </a:p>
        </p:txBody>
      </p:sp>
      <p:sp>
        <p:nvSpPr>
          <p:cNvPr id="14" name="Text 11"/>
          <p:cNvSpPr txBox="1"/>
          <p:nvPr/>
        </p:nvSpPr>
        <p:spPr>
          <a:xfrm>
            <a:off x="8321040" y="5276088"/>
            <a:ext cx="3017520" cy="73152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3,493 rejections that did not exist before 27 Aug, when the book was silently doubling positions instead of opening new ones.</a:t>
            </a:r>
            <a:endParaRPr lang="en-US" sz="1050" dirty="0"/>
          </a:p>
        </p:txBody>
      </p:sp>
      <p:sp>
        <p:nvSpPr>
          <p:cNvPr id="15" name="Text 12"/>
          <p:cNvSpPr txBox="1"/>
          <p:nvPr/>
        </p:nvSpPr>
        <p:spPr>
          <a:xfrm>
            <a:off x="640080" y="6263640"/>
            <a:ext cx="7315200" cy="320040"/>
          </a:xfrm>
          <a:prstGeom prst="rect">
            <a:avLst/>
          </a:prstGeom>
          <a:noFill/>
          <a:ln/>
        </p:spPr>
        <p:txBody>
          <a:bodyPr wrap="square" lIns="0" tIns="0" rIns="0" bIns="0" rtlCol="0" anchor="ctr"/>
          <a:lstStyle/>
          <a:p>
            <a:pPr indent="0" marL="0">
              <a:buNone/>
            </a:pPr>
            <a:r>
              <a:rPr lang="en-US" sz="1050" i="1" dirty="0">
                <a:solidFill>
                  <a:srgbClr val="5A6779"/>
                </a:solidFill>
                <a:latin typeface="Calibri" pitchFamily="34" charset="0"/>
                <a:ea typeface="Calibri" pitchFamily="34" charset="-122"/>
                <a:cs typeface="Calibri" pitchFamily="34" charset="-120"/>
              </a:rPr>
              <a:t>Read it with `oaa backtest --why 15`, which groups by reason and normalises the numbers inside each one.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146304"/>
            <a:ext cx="10881360" cy="274320"/>
          </a:xfrm>
          <a:prstGeom prst="rect">
            <a:avLst/>
          </a:prstGeom>
          <a:noFill/>
          <a:ln/>
        </p:spPr>
        <p:txBody>
          <a:bodyPr wrap="square" lIns="0" tIns="0" rIns="0" bIns="0" rtlCol="0" anchor="ctr"/>
          <a:lstStyle/>
          <a:p>
            <a:pPr indent="0" marL="0">
              <a:buNone/>
            </a:pPr>
            <a:r>
              <a:rPr lang="en-US" sz="1150" b="1" spc="200" kern="0" dirty="0">
                <a:solidFill>
                  <a:srgbClr val="5A6779"/>
                </a:solidFill>
                <a:latin typeface="Calibri" pitchFamily="34" charset="0"/>
                <a:ea typeface="Calibri" pitchFamily="34" charset="-122"/>
                <a:cs typeface="Calibri" pitchFamily="34" charset="-120"/>
              </a:rPr>
              <a:t>APPENDIX E</a:t>
            </a:r>
            <a:endParaRPr lang="en-US" sz="1150" dirty="0"/>
          </a:p>
        </p:txBody>
      </p:sp>
      <p:sp>
        <p:nvSpPr>
          <p:cNvPr id="3" name="Text 1"/>
          <p:cNvSpPr txBox="1"/>
          <p:nvPr/>
        </p:nvSpPr>
        <p:spPr>
          <a:xfrm>
            <a:off x="640080" y="411480"/>
            <a:ext cx="10881360" cy="777240"/>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universe is a rule, not a list</a:t>
            </a:r>
            <a:endParaRPr lang="en-US" sz="3000" dirty="0"/>
          </a:p>
        </p:txBody>
      </p:sp>
      <p:sp>
        <p:nvSpPr>
          <p:cNvPr id="4" name="Text 2"/>
          <p:cNvSpPr txBox="1"/>
          <p:nvPr/>
        </p:nvSpPr>
        <p:spPr>
          <a:xfrm>
            <a:off x="640080" y="1170432"/>
            <a:ext cx="10881360" cy="365760"/>
          </a:xfrm>
          <a:prstGeom prst="rect">
            <a:avLst/>
          </a:prstGeom>
          <a:noFill/>
          <a:ln/>
        </p:spPr>
        <p:txBody>
          <a:bodyPr wrap="square" lIns="0" tIns="0" rIns="0" bIns="0" rtlCol="0" anchor="ctr"/>
          <a:lstStyle/>
          <a:p>
            <a:pPr indent="0" marL="0">
              <a:buNone/>
            </a:pPr>
            <a:r>
              <a:rPr lang="en-US" sz="1350" dirty="0">
                <a:solidFill>
                  <a:srgbClr val="5A6779"/>
                </a:solidFill>
                <a:latin typeface="Calibri" pitchFamily="34" charset="0"/>
                <a:ea typeface="Calibri" pitchFamily="34" charset="-122"/>
                <a:cs typeface="Calibri" pitchFamily="34" charset="-120"/>
              </a:rPr>
              <a:t>Three conditions, applied mechanically, so the list follows the measurement rather than the last backtest.</a:t>
            </a:r>
            <a:endParaRPr lang="en-US" sz="1350" dirty="0"/>
          </a:p>
        </p:txBody>
      </p:sp>
      <p:sp>
        <p:nvSpPr>
          <p:cNvPr id="5" name="Shape 3"/>
          <p:cNvSpPr/>
          <p:nvPr/>
        </p:nvSpPr>
        <p:spPr>
          <a:xfrm>
            <a:off x="640080" y="1691640"/>
            <a:ext cx="3474720" cy="1691640"/>
          </a:xfrm>
          <a:prstGeom prst="roundRect">
            <a:avLst>
              <a:gd name="adj" fmla="val 3243"/>
            </a:avLst>
          </a:prstGeom>
          <a:solidFill>
            <a:srgbClr val="F1F4F9"/>
          </a:solidFill>
          <a:ln w="12700">
            <a:solidFill>
              <a:srgbClr val="F1F4F9"/>
            </a:solidFill>
            <a:prstDash val="solid"/>
          </a:ln>
        </p:spPr>
      </p:sp>
      <p:sp>
        <p:nvSpPr>
          <p:cNvPr id="6" name="Shape 4"/>
          <p:cNvSpPr/>
          <p:nvPr/>
        </p:nvSpPr>
        <p:spPr>
          <a:xfrm>
            <a:off x="868680" y="1847088"/>
            <a:ext cx="384048" cy="384048"/>
          </a:xfrm>
          <a:prstGeom prst="ellipse">
            <a:avLst/>
          </a:prstGeom>
          <a:solidFill>
            <a:srgbClr val="0F1A2E"/>
          </a:solidFill>
          <a:ln/>
        </p:spPr>
      </p:sp>
      <p:sp>
        <p:nvSpPr>
          <p:cNvPr id="7" name="Text 5"/>
          <p:cNvSpPr txBox="1"/>
          <p:nvPr/>
        </p:nvSpPr>
        <p:spPr>
          <a:xfrm>
            <a:off x="868680" y="1847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68680" y="2304288"/>
            <a:ext cx="3017520" cy="512064"/>
          </a:xfrm>
          <a:prstGeom prst="rect">
            <a:avLst/>
          </a:prstGeom>
          <a:noFill/>
          <a:ln/>
        </p:spPr>
        <p:txBody>
          <a:bodyPr wrap="square" lIns="0" tIns="0" rIns="0" bIns="0" rtlCol="0" anchor="b"/>
          <a:lstStyle/>
          <a:p>
            <a:pPr indent="0" marL="0">
              <a:lnSpc>
                <a:spcPts val="1500"/>
              </a:lnSpc>
              <a:buNone/>
            </a:pPr>
            <a:r>
              <a:rPr lang="en-US" sz="1250" b="1" dirty="0">
                <a:solidFill>
                  <a:srgbClr val="16202F"/>
                </a:solidFill>
                <a:latin typeface="Calibri" pitchFamily="34" charset="0"/>
                <a:ea typeface="Calibri" pitchFamily="34" charset="-122"/>
                <a:cs typeface="Calibri" pitchFamily="34" charset="-120"/>
              </a:rPr>
              <a:t>Median option spread ≤ 2% of mid</a:t>
            </a:r>
            <a:endParaRPr lang="en-US" sz="1250" dirty="0"/>
          </a:p>
        </p:txBody>
      </p:sp>
      <p:sp>
        <p:nvSpPr>
          <p:cNvPr id="9" name="Text 7"/>
          <p:cNvSpPr txBox="1"/>
          <p:nvPr/>
        </p:nvSpPr>
        <p:spPr>
          <a:xfrm>
            <a:off x="868680" y="2852928"/>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Execution cost decides whether an edge survives at all.</a:t>
            </a:r>
            <a:endParaRPr lang="en-US" sz="1050" dirty="0"/>
          </a:p>
        </p:txBody>
      </p:sp>
      <p:sp>
        <p:nvSpPr>
          <p:cNvPr id="10" name="Shape 8"/>
          <p:cNvSpPr/>
          <p:nvPr/>
        </p:nvSpPr>
        <p:spPr>
          <a:xfrm>
            <a:off x="4297680" y="1691640"/>
            <a:ext cx="3474720" cy="1691640"/>
          </a:xfrm>
          <a:prstGeom prst="roundRect">
            <a:avLst>
              <a:gd name="adj" fmla="val 3243"/>
            </a:avLst>
          </a:prstGeom>
          <a:solidFill>
            <a:srgbClr val="F1F4F9"/>
          </a:solidFill>
          <a:ln w="12700">
            <a:solidFill>
              <a:srgbClr val="F1F4F9"/>
            </a:solidFill>
            <a:prstDash val="solid"/>
          </a:ln>
        </p:spPr>
      </p:sp>
      <p:sp>
        <p:nvSpPr>
          <p:cNvPr id="11" name="Shape 9"/>
          <p:cNvSpPr/>
          <p:nvPr/>
        </p:nvSpPr>
        <p:spPr>
          <a:xfrm>
            <a:off x="4526280" y="1847088"/>
            <a:ext cx="384048" cy="384048"/>
          </a:xfrm>
          <a:prstGeom prst="ellipse">
            <a:avLst/>
          </a:prstGeom>
          <a:solidFill>
            <a:srgbClr val="0F1A2E"/>
          </a:solidFill>
          <a:ln/>
        </p:spPr>
      </p:sp>
      <p:sp>
        <p:nvSpPr>
          <p:cNvPr id="12" name="Text 10"/>
          <p:cNvSpPr txBox="1"/>
          <p:nvPr/>
        </p:nvSpPr>
        <p:spPr>
          <a:xfrm>
            <a:off x="4526280" y="1847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526280" y="2304288"/>
            <a:ext cx="3017520" cy="512064"/>
          </a:xfrm>
          <a:prstGeom prst="rect">
            <a:avLst/>
          </a:prstGeom>
          <a:noFill/>
          <a:ln/>
        </p:spPr>
        <p:txBody>
          <a:bodyPr wrap="square" lIns="0" tIns="0" rIns="0" bIns="0" rtlCol="0" anchor="b"/>
          <a:lstStyle/>
          <a:p>
            <a:pPr indent="0" marL="0">
              <a:lnSpc>
                <a:spcPts val="1500"/>
              </a:lnSpc>
              <a:buNone/>
            </a:pPr>
            <a:r>
              <a:rPr lang="en-US" sz="1250" b="1" dirty="0">
                <a:solidFill>
                  <a:srgbClr val="16202F"/>
                </a:solidFill>
                <a:latin typeface="Calibri" pitchFamily="34" charset="0"/>
                <a:ea typeface="Calibri" pitchFamily="34" charset="-122"/>
                <a:cs typeface="Calibri" pitchFamily="34" charset="-120"/>
              </a:rPr>
              <a:t>It must raise the number of effective independent bets</a:t>
            </a:r>
            <a:endParaRPr lang="en-US" sz="1250" dirty="0"/>
          </a:p>
        </p:txBody>
      </p:sp>
      <p:sp>
        <p:nvSpPr>
          <p:cNvPr id="14" name="Text 12"/>
          <p:cNvSpPr txBox="1"/>
          <p:nvPr/>
        </p:nvSpPr>
        <p:spPr>
          <a:xfrm>
            <a:off x="4526280" y="2852928"/>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Not the ticker count. Ten symbols measured as ~2.4 independent bets.</a:t>
            </a:r>
            <a:endParaRPr lang="en-US" sz="1050" dirty="0"/>
          </a:p>
        </p:txBody>
      </p:sp>
      <p:sp>
        <p:nvSpPr>
          <p:cNvPr id="15" name="Shape 13"/>
          <p:cNvSpPr/>
          <p:nvPr/>
        </p:nvSpPr>
        <p:spPr>
          <a:xfrm>
            <a:off x="7955280" y="1691640"/>
            <a:ext cx="3474720" cy="1691640"/>
          </a:xfrm>
          <a:prstGeom prst="roundRect">
            <a:avLst>
              <a:gd name="adj" fmla="val 3243"/>
            </a:avLst>
          </a:prstGeom>
          <a:solidFill>
            <a:srgbClr val="F1F4F9"/>
          </a:solidFill>
          <a:ln w="12700">
            <a:solidFill>
              <a:srgbClr val="F1F4F9"/>
            </a:solidFill>
            <a:prstDash val="solid"/>
          </a:ln>
        </p:spPr>
      </p:sp>
      <p:sp>
        <p:nvSpPr>
          <p:cNvPr id="16" name="Shape 14"/>
          <p:cNvSpPr/>
          <p:nvPr/>
        </p:nvSpPr>
        <p:spPr>
          <a:xfrm>
            <a:off x="8183880" y="1847088"/>
            <a:ext cx="384048" cy="384048"/>
          </a:xfrm>
          <a:prstGeom prst="ellipse">
            <a:avLst/>
          </a:prstGeom>
          <a:solidFill>
            <a:srgbClr val="0F1A2E"/>
          </a:solidFill>
          <a:ln/>
        </p:spPr>
      </p:sp>
      <p:sp>
        <p:nvSpPr>
          <p:cNvPr id="17" name="Text 15"/>
          <p:cNvSpPr txBox="1"/>
          <p:nvPr/>
        </p:nvSpPr>
        <p:spPr>
          <a:xfrm>
            <a:off x="8183880" y="1847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8183880" y="2304288"/>
            <a:ext cx="3017520" cy="512064"/>
          </a:xfrm>
          <a:prstGeom prst="rect">
            <a:avLst/>
          </a:prstGeom>
          <a:noFill/>
          <a:ln/>
        </p:spPr>
        <p:txBody>
          <a:bodyPr wrap="square" lIns="0" tIns="0" rIns="0" bIns="0" rtlCol="0" anchor="b"/>
          <a:lstStyle/>
          <a:p>
            <a:pPr indent="0" marL="0">
              <a:lnSpc>
                <a:spcPts val="1500"/>
              </a:lnSpc>
              <a:buNone/>
            </a:pPr>
            <a:r>
              <a:rPr lang="en-US" sz="1250" b="1" dirty="0">
                <a:solidFill>
                  <a:srgbClr val="16202F"/>
                </a:solidFill>
                <a:latin typeface="Calibri" pitchFamily="34" charset="0"/>
                <a:ea typeface="Calibri" pitchFamily="34" charset="-122"/>
                <a:cs typeface="Calibri" pitchFamily="34" charset="-120"/>
              </a:rPr>
              <a:t>No idiosyncratic event risk in a short-vol book</a:t>
            </a:r>
            <a:endParaRPr lang="en-US" sz="1250" dirty="0"/>
          </a:p>
        </p:txBody>
      </p:sp>
      <p:sp>
        <p:nvSpPr>
          <p:cNvPr id="19" name="Text 17"/>
          <p:cNvSpPr txBox="1"/>
          <p:nvPr/>
        </p:nvSpPr>
        <p:spPr>
          <a:xfrm>
            <a:off x="8183880" y="2852928"/>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779"/>
                </a:solidFill>
                <a:latin typeface="Calibri" pitchFamily="34" charset="0"/>
                <a:ea typeface="Calibri" pitchFamily="34" charset="-122"/>
                <a:cs typeface="Calibri" pitchFamily="34" charset="-120"/>
              </a:rPr>
              <a:t>The event gate excludes scheduled earnings. Nothing protects a short condor from a surprise product headline.</a:t>
            </a:r>
            <a:endParaRPr lang="en-US" sz="1050" dirty="0"/>
          </a:p>
        </p:txBody>
      </p:sp>
      <p:sp>
        <p:nvSpPr>
          <p:cNvPr id="20" name="Text 18"/>
          <p:cNvSpPr txBox="1"/>
          <p:nvPr/>
        </p:nvSpPr>
        <p:spPr>
          <a:xfrm>
            <a:off x="640080" y="3520440"/>
            <a:ext cx="7315200" cy="320040"/>
          </a:xfrm>
          <a:prstGeom prst="rect">
            <a:avLst/>
          </a:prstGeom>
          <a:noFill/>
          <a:ln/>
        </p:spPr>
        <p:txBody>
          <a:bodyPr wrap="square" lIns="0" tIns="0" rIns="0" bIns="0" rtlCol="0" anchor="ctr"/>
          <a:lstStyle/>
          <a:p>
            <a:pPr indent="0" marL="0">
              <a:buNone/>
            </a:pPr>
            <a:r>
              <a:rPr lang="en-US" sz="1500" b="1" dirty="0">
                <a:solidFill>
                  <a:srgbClr val="16202F"/>
                </a:solidFill>
                <a:latin typeface="Cambria" pitchFamily="34" charset="0"/>
                <a:ea typeface="Cambria" pitchFamily="34" charset="-122"/>
                <a:cs typeface="Cambria" pitchFamily="34" charset="-120"/>
              </a:rPr>
              <a:t>What the rule removed, and what it kept</a:t>
            </a:r>
            <a:endParaRPr lang="en-US" sz="1500" dirty="0"/>
          </a:p>
        </p:txBody>
      </p:sp>
      <p:sp>
        <p:nvSpPr>
          <p:cNvPr id="21" name="Text 19"/>
          <p:cNvSpPr txBox="1"/>
          <p:nvPr/>
        </p:nvSpPr>
        <p:spPr>
          <a:xfrm>
            <a:off x="822960" y="3931920"/>
            <a:ext cx="1463040" cy="274320"/>
          </a:xfrm>
          <a:prstGeom prst="rect">
            <a:avLst/>
          </a:prstGeom>
          <a:noFill/>
          <a:ln/>
        </p:spPr>
        <p:txBody>
          <a:bodyPr wrap="square" lIns="0" tIns="0" rIns="0" bIns="0" rtlCol="0" anchor="ctr"/>
          <a:lstStyle/>
          <a:p>
            <a:pPr indent="0" marL="0">
              <a:buNone/>
            </a:pPr>
            <a:endParaRPr lang="en-US" sz="1050" dirty="0"/>
          </a:p>
        </p:txBody>
      </p:sp>
      <p:sp>
        <p:nvSpPr>
          <p:cNvPr id="22" name="Text 20"/>
          <p:cNvSpPr txBox="1"/>
          <p:nvPr/>
        </p:nvSpPr>
        <p:spPr>
          <a:xfrm>
            <a:off x="2103120" y="3931920"/>
            <a:ext cx="1463040" cy="274320"/>
          </a:xfrm>
          <a:prstGeom prst="rect">
            <a:avLst/>
          </a:prstGeom>
          <a:noFill/>
          <a:ln/>
        </p:spPr>
        <p:txBody>
          <a:bodyPr wrap="square" lIns="0" tIns="0" rIns="0" bIns="0" rtlCol="0" anchor="ctr"/>
          <a:lstStyle/>
          <a:p>
            <a:pPr indent="0" marL="0">
              <a:buNone/>
            </a:pPr>
            <a:r>
              <a:rPr lang="en-US" sz="1050" b="1" spc="100" kern="0" dirty="0">
                <a:solidFill>
                  <a:srgbClr val="5A6779"/>
                </a:solidFill>
                <a:latin typeface="Calibri" pitchFamily="34" charset="0"/>
                <a:ea typeface="Calibri" pitchFamily="34" charset="-122"/>
                <a:cs typeface="Calibri" pitchFamily="34" charset="-120"/>
              </a:rPr>
              <a:t>Chain spread</a:t>
            </a:r>
            <a:endParaRPr lang="en-US" sz="1050" dirty="0"/>
          </a:p>
        </p:txBody>
      </p:sp>
      <p:sp>
        <p:nvSpPr>
          <p:cNvPr id="23" name="Text 21"/>
          <p:cNvSpPr txBox="1"/>
          <p:nvPr/>
        </p:nvSpPr>
        <p:spPr>
          <a:xfrm>
            <a:off x="3657600" y="3931920"/>
            <a:ext cx="1463040" cy="274320"/>
          </a:xfrm>
          <a:prstGeom prst="rect">
            <a:avLst/>
          </a:prstGeom>
          <a:noFill/>
          <a:ln/>
        </p:spPr>
        <p:txBody>
          <a:bodyPr wrap="square" lIns="0" tIns="0" rIns="0" bIns="0" rtlCol="0" anchor="ctr"/>
          <a:lstStyle/>
          <a:p>
            <a:pPr indent="0" marL="0">
              <a:buNone/>
            </a:pPr>
            <a:r>
              <a:rPr lang="en-US" sz="1050" b="1" spc="100" kern="0" dirty="0">
                <a:solidFill>
                  <a:srgbClr val="5A6779"/>
                </a:solidFill>
                <a:latin typeface="Calibri" pitchFamily="34" charset="0"/>
                <a:ea typeface="Calibri" pitchFamily="34" charset="-122"/>
                <a:cs typeface="Calibri" pitchFamily="34" charset="-120"/>
              </a:rPr>
              <a:t>Corr vs QQQ</a:t>
            </a:r>
            <a:endParaRPr lang="en-US" sz="1050" dirty="0"/>
          </a:p>
        </p:txBody>
      </p:sp>
      <p:sp>
        <p:nvSpPr>
          <p:cNvPr id="24" name="Text 22"/>
          <p:cNvSpPr txBox="1"/>
          <p:nvPr/>
        </p:nvSpPr>
        <p:spPr>
          <a:xfrm>
            <a:off x="5669280" y="3931920"/>
            <a:ext cx="1463040" cy="274320"/>
          </a:xfrm>
          <a:prstGeom prst="rect">
            <a:avLst/>
          </a:prstGeom>
          <a:noFill/>
          <a:ln/>
        </p:spPr>
        <p:txBody>
          <a:bodyPr wrap="square" lIns="0" tIns="0" rIns="0" bIns="0" rtlCol="0" anchor="ctr"/>
          <a:lstStyle/>
          <a:p>
            <a:pPr indent="0" marL="0">
              <a:buNone/>
            </a:pPr>
            <a:r>
              <a:rPr lang="en-US" sz="1050" b="1" spc="100" kern="0" dirty="0">
                <a:solidFill>
                  <a:srgbClr val="5A6779"/>
                </a:solidFill>
                <a:latin typeface="Calibri" pitchFamily="34" charset="0"/>
                <a:ea typeface="Calibri" pitchFamily="34" charset="-122"/>
                <a:cs typeface="Calibri" pitchFamily="34" charset="-120"/>
              </a:rPr>
              <a:t>Decision</a:t>
            </a:r>
            <a:endParaRPr lang="en-US" sz="1050" dirty="0"/>
          </a:p>
        </p:txBody>
      </p:sp>
      <p:sp>
        <p:nvSpPr>
          <p:cNvPr id="25" name="Shape 23"/>
          <p:cNvSpPr/>
          <p:nvPr/>
        </p:nvSpPr>
        <p:spPr>
          <a:xfrm>
            <a:off x="640080" y="4215384"/>
            <a:ext cx="10881360" cy="420624"/>
          </a:xfrm>
          <a:prstGeom prst="roundRect">
            <a:avLst>
              <a:gd name="adj" fmla="val 13043"/>
            </a:avLst>
          </a:prstGeom>
          <a:solidFill>
            <a:srgbClr val="F7F9FC"/>
          </a:solidFill>
          <a:ln w="12700">
            <a:solidFill>
              <a:srgbClr val="F7F9FC"/>
            </a:solidFill>
            <a:prstDash val="solid"/>
          </a:ln>
        </p:spPr>
      </p:sp>
      <p:sp>
        <p:nvSpPr>
          <p:cNvPr id="26" name="Text 24"/>
          <p:cNvSpPr txBox="1"/>
          <p:nvPr/>
        </p:nvSpPr>
        <p:spPr>
          <a:xfrm>
            <a:off x="822960" y="4251960"/>
            <a:ext cx="1188720" cy="347472"/>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XLK</a:t>
            </a:r>
            <a:endParaRPr lang="en-US" sz="1250" dirty="0"/>
          </a:p>
        </p:txBody>
      </p:sp>
      <p:sp>
        <p:nvSpPr>
          <p:cNvPr id="27" name="Text 25"/>
          <p:cNvSpPr txBox="1"/>
          <p:nvPr/>
        </p:nvSpPr>
        <p:spPr>
          <a:xfrm>
            <a:off x="2103120" y="4251960"/>
            <a:ext cx="14630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27.94%</a:t>
            </a:r>
            <a:endParaRPr lang="en-US" sz="1200" dirty="0"/>
          </a:p>
        </p:txBody>
      </p:sp>
      <p:sp>
        <p:nvSpPr>
          <p:cNvPr id="28" name="Text 26"/>
          <p:cNvSpPr txBox="1"/>
          <p:nvPr/>
        </p:nvSpPr>
        <p:spPr>
          <a:xfrm>
            <a:off x="3657600" y="4251960"/>
            <a:ext cx="19202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0.96</a:t>
            </a:r>
            <a:endParaRPr lang="en-US" sz="1200" dirty="0"/>
          </a:p>
        </p:txBody>
      </p:sp>
      <p:sp>
        <p:nvSpPr>
          <p:cNvPr id="29" name="Text 27"/>
          <p:cNvSpPr txBox="1"/>
          <p:nvPr/>
        </p:nvSpPr>
        <p:spPr>
          <a:xfrm>
            <a:off x="5669280" y="4251960"/>
            <a:ext cx="5669280" cy="347472"/>
          </a:xfrm>
          <a:prstGeom prst="rect">
            <a:avLst/>
          </a:prstGeom>
          <a:noFill/>
          <a:ln/>
        </p:spPr>
        <p:txBody>
          <a:bodyPr wrap="square" lIns="0" tIns="0" rIns="0" bIns="0" rtlCol="0" anchor="ctr"/>
          <a:lstStyle/>
          <a:p>
            <a:pPr indent="0" marL="0">
              <a:buNone/>
            </a:pPr>
            <a:r>
              <a:rPr lang="en-US" sz="1200" dirty="0">
                <a:solidFill>
                  <a:srgbClr val="E5484D"/>
                </a:solidFill>
                <a:latin typeface="Calibri" pitchFamily="34" charset="0"/>
                <a:ea typeface="Calibri" pitchFamily="34" charset="-122"/>
                <a:cs typeface="Calibri" pitchFamily="34" charset="-120"/>
              </a:rPr>
              <a:t>REMOVED — worst on both criteria at once</a:t>
            </a:r>
            <a:endParaRPr lang="en-US" sz="1200" dirty="0"/>
          </a:p>
        </p:txBody>
      </p:sp>
      <p:sp>
        <p:nvSpPr>
          <p:cNvPr id="30" name="Text 28"/>
          <p:cNvSpPr txBox="1"/>
          <p:nvPr/>
        </p:nvSpPr>
        <p:spPr>
          <a:xfrm>
            <a:off x="822960" y="4690872"/>
            <a:ext cx="1188720" cy="347472"/>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SMH</a:t>
            </a:r>
            <a:endParaRPr lang="en-US" sz="1250" dirty="0"/>
          </a:p>
        </p:txBody>
      </p:sp>
      <p:sp>
        <p:nvSpPr>
          <p:cNvPr id="31" name="Text 29"/>
          <p:cNvSpPr txBox="1"/>
          <p:nvPr/>
        </p:nvSpPr>
        <p:spPr>
          <a:xfrm>
            <a:off x="2103120" y="4690872"/>
            <a:ext cx="14630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12.49%</a:t>
            </a:r>
            <a:endParaRPr lang="en-US" sz="1200" dirty="0"/>
          </a:p>
        </p:txBody>
      </p:sp>
      <p:sp>
        <p:nvSpPr>
          <p:cNvPr id="32" name="Text 30"/>
          <p:cNvSpPr txBox="1"/>
          <p:nvPr/>
        </p:nvSpPr>
        <p:spPr>
          <a:xfrm>
            <a:off x="3657600" y="4690872"/>
            <a:ext cx="19202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0.91</a:t>
            </a:r>
            <a:endParaRPr lang="en-US" sz="1200" dirty="0"/>
          </a:p>
        </p:txBody>
      </p:sp>
      <p:sp>
        <p:nvSpPr>
          <p:cNvPr id="33" name="Text 31"/>
          <p:cNvSpPr txBox="1"/>
          <p:nvPr/>
        </p:nvSpPr>
        <p:spPr>
          <a:xfrm>
            <a:off x="5669280" y="4690872"/>
            <a:ext cx="5669280" cy="347472"/>
          </a:xfrm>
          <a:prstGeom prst="rect">
            <a:avLst/>
          </a:prstGeom>
          <a:noFill/>
          <a:ln/>
        </p:spPr>
        <p:txBody>
          <a:bodyPr wrap="square" lIns="0" tIns="0" rIns="0" bIns="0" rtlCol="0" anchor="ctr"/>
          <a:lstStyle/>
          <a:p>
            <a:pPr indent="0" marL="0">
              <a:buNone/>
            </a:pPr>
            <a:r>
              <a:rPr lang="en-US" sz="1200" dirty="0">
                <a:solidFill>
                  <a:srgbClr val="E5484D"/>
                </a:solidFill>
                <a:latin typeface="Calibri" pitchFamily="34" charset="0"/>
                <a:ea typeface="Calibri" pitchFamily="34" charset="-122"/>
                <a:cs typeface="Calibri" pitchFamily="34" charset="-120"/>
              </a:rPr>
              <a:t>REMOVED — same argument</a:t>
            </a:r>
            <a:endParaRPr lang="en-US" sz="1200" dirty="0"/>
          </a:p>
        </p:txBody>
      </p:sp>
      <p:sp>
        <p:nvSpPr>
          <p:cNvPr id="34" name="Shape 32"/>
          <p:cNvSpPr/>
          <p:nvPr/>
        </p:nvSpPr>
        <p:spPr>
          <a:xfrm>
            <a:off x="640080" y="5093208"/>
            <a:ext cx="10881360" cy="420624"/>
          </a:xfrm>
          <a:prstGeom prst="roundRect">
            <a:avLst>
              <a:gd name="adj" fmla="val 13043"/>
            </a:avLst>
          </a:prstGeom>
          <a:solidFill>
            <a:srgbClr val="F7F9FC"/>
          </a:solidFill>
          <a:ln w="12700">
            <a:solidFill>
              <a:srgbClr val="F7F9FC"/>
            </a:solidFill>
            <a:prstDash val="solid"/>
          </a:ln>
        </p:spPr>
      </p:sp>
      <p:sp>
        <p:nvSpPr>
          <p:cNvPr id="35" name="Text 33"/>
          <p:cNvSpPr txBox="1"/>
          <p:nvPr/>
        </p:nvSpPr>
        <p:spPr>
          <a:xfrm>
            <a:off x="822960" y="5129784"/>
            <a:ext cx="1188720" cy="347472"/>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QQQ</a:t>
            </a:r>
            <a:endParaRPr lang="en-US" sz="1250" dirty="0"/>
          </a:p>
        </p:txBody>
      </p:sp>
      <p:sp>
        <p:nvSpPr>
          <p:cNvPr id="36" name="Text 34"/>
          <p:cNvSpPr txBox="1"/>
          <p:nvPr/>
        </p:nvSpPr>
        <p:spPr>
          <a:xfrm>
            <a:off x="2103120" y="5129784"/>
            <a:ext cx="14630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2.85%</a:t>
            </a:r>
            <a:endParaRPr lang="en-US" sz="1200" dirty="0"/>
          </a:p>
        </p:txBody>
      </p:sp>
      <p:sp>
        <p:nvSpPr>
          <p:cNvPr id="37" name="Text 35"/>
          <p:cNvSpPr txBox="1"/>
          <p:nvPr/>
        </p:nvSpPr>
        <p:spPr>
          <a:xfrm>
            <a:off x="3657600" y="5129784"/>
            <a:ext cx="19202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a:t>
            </a:r>
            <a:endParaRPr lang="en-US" sz="1200" dirty="0"/>
          </a:p>
        </p:txBody>
      </p:sp>
      <p:sp>
        <p:nvSpPr>
          <p:cNvPr id="38" name="Text 36"/>
          <p:cNvSpPr txBox="1"/>
          <p:nvPr/>
        </p:nvSpPr>
        <p:spPr>
          <a:xfrm>
            <a:off x="5669280" y="5129784"/>
            <a:ext cx="5669280" cy="347472"/>
          </a:xfrm>
          <a:prstGeom prst="rect">
            <a:avLst/>
          </a:prstGeom>
          <a:noFill/>
          <a:ln/>
        </p:spPr>
        <p:txBody>
          <a:bodyPr wrap="square" lIns="0" tIns="0" rIns="0" bIns="0" rtlCol="0" anchor="ctr"/>
          <a:lstStyle/>
          <a:p>
            <a:pPr indent="0" marL="0">
              <a:buNone/>
            </a:pPr>
            <a:r>
              <a:rPr lang="en-US" sz="1200" dirty="0">
                <a:solidFill>
                  <a:srgbClr val="2FBF71"/>
                </a:solidFill>
                <a:latin typeface="Calibri" pitchFamily="34" charset="0"/>
                <a:ea typeface="Calibri" pitchFamily="34" charset="-122"/>
                <a:cs typeface="Calibri" pitchFamily="34" charset="-120"/>
              </a:rPr>
              <a:t>KEPT — it is what XLK was duplicating</a:t>
            </a:r>
            <a:endParaRPr lang="en-US" sz="1200" dirty="0"/>
          </a:p>
        </p:txBody>
      </p:sp>
      <p:sp>
        <p:nvSpPr>
          <p:cNvPr id="39" name="Text 37"/>
          <p:cNvSpPr txBox="1"/>
          <p:nvPr/>
        </p:nvSpPr>
        <p:spPr>
          <a:xfrm>
            <a:off x="822960" y="5568696"/>
            <a:ext cx="1188720" cy="347472"/>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XLE</a:t>
            </a:r>
            <a:endParaRPr lang="en-US" sz="1250" dirty="0"/>
          </a:p>
        </p:txBody>
      </p:sp>
      <p:sp>
        <p:nvSpPr>
          <p:cNvPr id="40" name="Text 38"/>
          <p:cNvSpPr txBox="1"/>
          <p:nvPr/>
        </p:nvSpPr>
        <p:spPr>
          <a:xfrm>
            <a:off x="2103120" y="5568696"/>
            <a:ext cx="14630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11.79%</a:t>
            </a:r>
            <a:endParaRPr lang="en-US" sz="1200" dirty="0"/>
          </a:p>
        </p:txBody>
      </p:sp>
      <p:sp>
        <p:nvSpPr>
          <p:cNvPr id="41" name="Text 39"/>
          <p:cNvSpPr txBox="1"/>
          <p:nvPr/>
        </p:nvSpPr>
        <p:spPr>
          <a:xfrm>
            <a:off x="3657600" y="5568696"/>
            <a:ext cx="1920240" cy="347472"/>
          </a:xfrm>
          <a:prstGeom prst="rect">
            <a:avLst/>
          </a:prstGeom>
          <a:noFill/>
          <a:ln/>
        </p:spPr>
        <p:txBody>
          <a:bodyPr wrap="square" lIns="0" tIns="0" rIns="0" bIns="0" rtlCol="0" anchor="ctr"/>
          <a:lstStyle/>
          <a:p>
            <a:pPr indent="0" marL="0">
              <a:buNone/>
            </a:pPr>
            <a:r>
              <a:rPr lang="en-US" sz="1200" dirty="0">
                <a:solidFill>
                  <a:srgbClr val="16202F"/>
                </a:solidFill>
                <a:latin typeface="Courier New" pitchFamily="34" charset="0"/>
                <a:ea typeface="Courier New" pitchFamily="34" charset="-122"/>
                <a:cs typeface="Courier New" pitchFamily="34" charset="-120"/>
              </a:rPr>
              <a:t>−0.18 to −0.36</a:t>
            </a:r>
            <a:endParaRPr lang="en-US" sz="1200" dirty="0"/>
          </a:p>
        </p:txBody>
      </p:sp>
      <p:sp>
        <p:nvSpPr>
          <p:cNvPr id="42" name="Text 40"/>
          <p:cNvSpPr txBox="1"/>
          <p:nvPr/>
        </p:nvSpPr>
        <p:spPr>
          <a:xfrm>
            <a:off x="5669280" y="5568696"/>
            <a:ext cx="5669280" cy="347472"/>
          </a:xfrm>
          <a:prstGeom prst="rect">
            <a:avLst/>
          </a:prstGeom>
          <a:noFill/>
          <a:ln/>
        </p:spPr>
        <p:txBody>
          <a:bodyPr wrap="square" lIns="0" tIns="0" rIns="0" bIns="0" rtlCol="0" anchor="ctr"/>
          <a:lstStyle/>
          <a:p>
            <a:pPr indent="0" marL="0">
              <a:buNone/>
            </a:pPr>
            <a:r>
              <a:rPr lang="en-US" sz="1200" dirty="0">
                <a:solidFill>
                  <a:srgbClr val="2FBF71"/>
                </a:solidFill>
                <a:latin typeface="Calibri" pitchFamily="34" charset="0"/>
                <a:ea typeface="Calibri" pitchFamily="34" charset="-122"/>
                <a:cs typeface="Calibri" pitchFamily="34" charset="-120"/>
              </a:rPr>
              <a:t>KEPT despite the spread — the only negative correlation</a:t>
            </a:r>
            <a:endParaRPr lang="en-US" sz="1200" dirty="0"/>
          </a:p>
        </p:txBody>
      </p:sp>
      <p:sp>
        <p:nvSpPr>
          <p:cNvPr id="43" name="Text 41"/>
          <p:cNvSpPr txBox="1"/>
          <p:nvPr/>
        </p:nvSpPr>
        <p:spPr>
          <a:xfrm>
            <a:off x="640080" y="6172200"/>
            <a:ext cx="10881360" cy="411480"/>
          </a:xfrm>
          <a:prstGeom prst="rect">
            <a:avLst/>
          </a:prstGeom>
          <a:noFill/>
          <a:ln/>
        </p:spPr>
        <p:txBody>
          <a:bodyPr wrap="square" lIns="0" tIns="0" rIns="0" bIns="0" rtlCol="0" anchor="ctr"/>
          <a:lstStyle/>
          <a:p>
            <a:pPr indent="0" marL="0">
              <a:buNone/>
            </a:pPr>
            <a:r>
              <a:rPr lang="en-US" sz="1150" i="1" dirty="0">
                <a:solidFill>
                  <a:srgbClr val="5A6779"/>
                </a:solidFill>
                <a:latin typeface="Calibri" pitchFamily="34" charset="0"/>
                <a:ea typeface="Calibri" pitchFamily="34" charset="-122"/>
                <a:cs typeface="Calibri" pitchFamily="34" charset="-120"/>
              </a:rPr>
              <a:t>A short-premium book's entire failure mode is every position losing at once, so a negatively correlated name is worth more than three more equity ETFs — even an expensive one.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2026-09-01T17:23:01Z</dcterms:created>
  <dcterms:modified xsi:type="dcterms:W3CDTF">2026-09-01T17:23:01Z</dcterms:modified>
</cp:coreProperties>
</file>